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메이플스토리M</c:v>
                </c:pt>
              </c:strCache>
            </c:strRef>
          </c:tx>
          <c:spPr>
            <a:solidFill>
              <a:srgbClr val="F0692B"/>
            </a:solidFill>
            <a:ln w="28575"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8575"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ser>
          <c:idx val="2"/>
          <c:order val="2"/>
          <c:tx>
            <c:strRef>
              <c:f>Sheet1!$D$1</c:f>
              <c:strCache>
                <c:ptCount val="1"/>
                <c:pt idx="0">
                  <c:v>아이온2</c:v>
                </c:pt>
              </c:strCache>
            </c:strRef>
          </c:tx>
          <c:spPr>
            <a:solidFill>
              <a:srgbClr val="6B4FA0"/>
            </a:solidFill>
            <a:ln w="28575"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ser>
          <c:idx val="3"/>
          <c:order val="3"/>
          <c:tx>
            <c:strRef>
              <c:f>Sheet1!$E$1</c:f>
              <c:strCache>
                <c:ptCount val="1"/>
                <c:pt idx="0">
                  <c:v>검은사막모바일(200위 클램프)</c:v>
                </c:pt>
              </c:strCache>
            </c:strRef>
          </c:tx>
          <c:spPr>
            <a:solidFill>
              <a:srgbClr val="8B2635"/>
            </a:solidFill>
            <a:ln w="28575"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9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순위(낮을수록 상위, 200=상한)</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메이플스토리M</c:v>
                </c:pt>
              </c:strCache>
            </c:strRef>
          </c:tx>
          <c:spPr>
            <a:solidFill>
              <a:srgbClr val="F0692B"/>
            </a:solidFill>
            <a:ln w="28575"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8575"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ser>
          <c:idx val="2"/>
          <c:order val="2"/>
          <c:tx>
            <c:strRef>
              <c:f>Sheet1!$D$1</c:f>
              <c:strCache>
                <c:ptCount val="1"/>
                <c:pt idx="0">
                  <c:v>아이온2</c:v>
                </c:pt>
              </c:strCache>
            </c:strRef>
          </c:tx>
          <c:spPr>
            <a:solidFill>
              <a:srgbClr val="6B4FA0"/>
            </a:solidFill>
            <a:ln w="28575"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ser>
          <c:idx val="3"/>
          <c:order val="3"/>
          <c:tx>
            <c:strRef>
              <c:f>Sheet1!$E$1</c:f>
              <c:strCache>
                <c:ptCount val="1"/>
                <c:pt idx="0">
                  <c:v>검은사막모바일(200위 클램프)</c:v>
                </c:pt>
              </c:strCache>
            </c:strRef>
          </c:tx>
          <c:spPr>
            <a:solidFill>
              <a:srgbClr val="8B2635"/>
            </a:solidFill>
            <a:ln w="28575"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0">
                  <c:v>200</c:v>
                </c:pt>
                <c:pt idx="1">
                  <c:v>200</c:v>
                </c:pt>
                <c:pt idx="2">
                  <c:v>200</c:v>
                </c:pt>
                <c:pt idx="3">
                  <c:v>200</c:v>
                </c:pt>
                <c:pt idx="4">
                  <c:v>200</c:v>
                </c:pt>
                <c:pt idx="5">
                  <c:v>199</c:v>
                </c:pt>
                <c:pt idx="6">
                  <c:v>200</c:v>
                </c:pt>
                <c:pt idx="7">
                  <c:v>200</c:v>
                </c:pt>
                <c:pt idx="8">
                  <c:v>200</c:v>
                </c:pt>
                <c:pt idx="9">
                  <c:v>200</c:v>
                </c:pt>
                <c:pt idx="10">
                  <c:v>200</c:v>
                </c:pt>
                <c:pt idx="11">
                  <c:v>200</c:v>
                </c:pt>
                <c:pt idx="12">
                  <c:v>200</c:v>
                </c:pt>
                <c:pt idx="13">
                  <c:v>200</c:v>
                </c:pt>
                <c:pt idx="14">
                  <c:v>200</c:v>
                </c:pt>
                <c:pt idx="15">
                  <c:v>159</c:v>
                </c:pt>
                <c:pt idx="16">
                  <c:v>165</c:v>
                </c:pt>
                <c:pt idx="17">
                  <c:v>200</c:v>
                </c:pt>
                <c:pt idx="18">
                  <c:v>200</c:v>
                </c:pt>
                <c:pt idx="19">
                  <c:v>200</c:v>
                </c:pt>
                <c:pt idx="20">
                  <c:v>200</c:v>
                </c:pt>
                <c:pt idx="21">
                  <c:v>200</c:v>
                </c:pt>
                <c:pt idx="22">
                  <c:v>200</c:v>
                </c:pt>
                <c:pt idx="23">
                  <c:v>200</c:v>
                </c:pt>
                <c:pt idx="24">
                  <c:v>200</c:v>
                </c:pt>
                <c:pt idx="25">
                  <c:v>200</c:v>
                </c:pt>
                <c:pt idx="26">
                  <c:v>200</c:v>
                </c:pt>
                <c:pt idx="27">
                  <c:v>200</c:v>
                </c:pt>
                <c:pt idx="28">
                  <c:v>200</c:v>
                </c:pt>
                <c:pt idx="29">
                  <c:v>200</c:v>
                </c:pt>
                <c:pt idx="30">
                  <c:v>200</c:v>
                </c:pt>
                <c:pt idx="31">
                  <c:v>200</c:v>
                </c:pt>
                <c:pt idx="32">
                  <c:v>200</c:v>
                </c:pt>
                <c:pt idx="33">
                  <c:v>200</c:v>
                </c:pt>
                <c:pt idx="34">
                  <c:v>200</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9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순위(낮을수록 상위, 200=상한)</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 기준선(0)</c:v>
                </c:pt>
              </c:strCache>
            </c:strRef>
          </c:tx>
          <c:spPr>
            <a:solidFill>
              <a:srgbClr val="C7CADA"/>
            </a:solidFill>
            <a:ln w="26670" cap="flat">
              <a:solidFill>
                <a:srgbClr val="C7CAD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C7CADA"/>
              </a:solidFill>
              <a:ln w="9525" cap="flat">
                <a:solidFill>
                  <a:srgbClr val="C7CAD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ser>
          <c:idx val="2"/>
          <c:order val="2"/>
          <c:tx>
            <c:strRef>
              <c:f>Sheet1!$D$1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ser>
          <c:idx val="3"/>
          <c:order val="3"/>
          <c:tx>
            <c:strRef>
              <c:f>Sheet1!$E$1</c:f>
              <c:strCache>
                <c:ptCount val="1"/>
                <c:pt idx="0">
                  <c:v>검은사막모바일(200위 클램프)</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118</c:v>
                </c:pt>
                <c:pt idx="26">
                  <c:v>113</c:v>
                </c:pt>
                <c:pt idx="27">
                  <c:v>53</c:v>
                </c:pt>
                <c:pt idx="28">
                  <c:v>88</c:v>
                </c:pt>
                <c:pt idx="29">
                  <c:v>112</c:v>
                </c:pt>
                <c:pt idx="30">
                  <c:v>112</c:v>
                </c:pt>
                <c:pt idx="31">
                  <c:v>109</c:v>
                </c:pt>
                <c:pt idx="32">
                  <c:v>84</c:v>
                </c:pt>
                <c:pt idx="33">
                  <c:v>117</c:v>
                </c:pt>
                <c:pt idx="34">
                  <c:v>70</c:v>
                </c:pt>
                <c:pt idx="35">
                  <c:v>113</c:v>
                </c:pt>
                <c:pt idx="36">
                  <c:v>166</c:v>
                </c:pt>
                <c:pt idx="37">
                  <c:v>179</c:v>
                </c:pt>
                <c:pt idx="38">
                  <c:v>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00"/>
          <c:min val="-100"/>
        </c:scaling>
        <c:delete val="0"/>
        <c:axPos val="l"/>
        <c:majorGridlines>
          <c:spPr>
            <a:ln w="12700" cap="flat">
              <a:solidFill>
                <a:srgbClr val="EDEDF2"/>
              </a:solidFill>
              <a:prstDash val="solid"/>
              <a:round/>
            </a:ln>
          </c:spPr>
        </c:majorGridlines>
        <c:title>
          <c:tx>
            <c:rich>
              <a:bodyPr/>
              <a:lstStyle/>
              <a:p>
                <a:pPr>
                  <a:defRPr sz="950" b="0" i="0" u="none" strike="noStrike">
                    <a:solidFill>
                      <a:srgbClr val="8B8FA3"/>
                    </a:solidFill>
                    <a:latin typeface="Arial"/>
                  </a:defRPr>
                </a:pPr>
                <a:r>
                  <a:rPr sz="950" b="0" i="0" u="none" strike="noStrike">
                    <a:solidFill>
                      <a:srgbClr val="8B8FA3"/>
                    </a:solidFill>
                    <a:latin typeface="Arial"/>
                  </a:rPr>
                  <a:t>격차(계단) · (+)메이플 앞섬</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 기준선(0)</c:v>
                </c:pt>
              </c:strCache>
            </c:strRef>
          </c:tx>
          <c:spPr>
            <a:solidFill>
              <a:srgbClr val="C7CADA"/>
            </a:solidFill>
            <a:ln w="26670" cap="flat">
              <a:solidFill>
                <a:srgbClr val="C7CAD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C7CADA"/>
              </a:solidFill>
              <a:ln w="9525" cap="flat">
                <a:solidFill>
                  <a:srgbClr val="C7CAD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ser>
          <c:idx val="2"/>
          <c:order val="2"/>
          <c:tx>
            <c:strRef>
              <c:f>Sheet1!$D$1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Sheet1!$D$2:$D$40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ser>
          <c:idx val="3"/>
          <c:order val="3"/>
          <c:tx>
            <c:strRef>
              <c:f>Sheet1!$E$1</c:f>
              <c:strCache>
                <c:ptCount val="1"/>
                <c:pt idx="0">
                  <c:v>검은사막모바일(200위 클램프)</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3.5"/>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Sheet1!$E$2:$E$40</c:f>
              <c:numCache>
                <c:formatCode>General</c:formatCode>
                <c:ptCount val="39"/>
                <c:pt idx="0">
                  <c:v>114</c:v>
                </c:pt>
                <c:pt idx="1">
                  <c:v>112</c:v>
                </c:pt>
                <c:pt idx="2">
                  <c:v>116</c:v>
                </c:pt>
                <c:pt idx="3">
                  <c:v>128</c:v>
                </c:pt>
                <c:pt idx="4">
                  <c:v>155</c:v>
                </c:pt>
                <c:pt idx="5">
                  <c:v>153</c:v>
                </c:pt>
                <c:pt idx="6">
                  <c:v>142</c:v>
                </c:pt>
                <c:pt idx="7">
                  <c:v>131</c:v>
                </c:pt>
                <c:pt idx="8">
                  <c:v>126</c:v>
                </c:pt>
                <c:pt idx="9">
                  <c:v>117</c:v>
                </c:pt>
                <c:pt idx="10">
                  <c:v>116</c:v>
                </c:pt>
                <c:pt idx="11">
                  <c:v>114</c:v>
                </c:pt>
                <c:pt idx="12">
                  <c:v>115</c:v>
                </c:pt>
                <c:pt idx="13">
                  <c:v>117</c:v>
                </c:pt>
                <c:pt idx="14">
                  <c:v>115</c:v>
                </c:pt>
                <c:pt idx="15">
                  <c:v>73</c:v>
                </c:pt>
                <c:pt idx="16">
                  <c:v>75</c:v>
                </c:pt>
                <c:pt idx="17">
                  <c:v>111</c:v>
                </c:pt>
                <c:pt idx="18">
                  <c:v>110</c:v>
                </c:pt>
                <c:pt idx="19">
                  <c:v>108</c:v>
                </c:pt>
                <c:pt idx="20">
                  <c:v>104</c:v>
                </c:pt>
                <c:pt idx="21">
                  <c:v>107</c:v>
                </c:pt>
                <c:pt idx="22">
                  <c:v>109</c:v>
                </c:pt>
                <c:pt idx="23">
                  <c:v>105</c:v>
                </c:pt>
                <c:pt idx="24">
                  <c:v>105</c:v>
                </c:pt>
                <c:pt idx="25">
                  <c:v>114</c:v>
                </c:pt>
                <c:pt idx="26">
                  <c:v>108</c:v>
                </c:pt>
                <c:pt idx="27">
                  <c:v>103</c:v>
                </c:pt>
                <c:pt idx="28">
                  <c:v>106</c:v>
                </c:pt>
                <c:pt idx="29">
                  <c:v>104</c:v>
                </c:pt>
                <c:pt idx="30">
                  <c:v>113</c:v>
                </c:pt>
                <c:pt idx="31">
                  <c:v>112</c:v>
                </c:pt>
                <c:pt idx="32">
                  <c:v>113</c:v>
                </c:pt>
                <c:pt idx="33">
                  <c:v>116</c:v>
                </c:pt>
                <c:pt idx="34">
                  <c:v>123</c:v>
                </c:pt>
                <c:pt idx="35">
                  <c:v>131</c:v>
                </c:pt>
                <c:pt idx="36">
                  <c:v>167</c:v>
                </c:pt>
                <c:pt idx="37">
                  <c:v>167</c:v>
                </c:pt>
                <c:pt idx="38">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00"/>
          <c:min val="-100"/>
        </c:scaling>
        <c:delete val="0"/>
        <c:axPos val="l"/>
        <c:majorGridlines>
          <c:spPr>
            <a:ln w="12700" cap="flat">
              <a:solidFill>
                <a:srgbClr val="EDEDF2"/>
              </a:solidFill>
              <a:prstDash val="solid"/>
              <a:round/>
            </a:ln>
          </c:spPr>
        </c:majorGridlines>
        <c:title>
          <c:tx>
            <c:rich>
              <a:bodyPr/>
              <a:lstStyle/>
              <a:p>
                <a:pPr>
                  <a:defRPr sz="950" b="0" i="0" u="none" strike="noStrike">
                    <a:solidFill>
                      <a:srgbClr val="8B8FA3"/>
                    </a:solidFill>
                    <a:latin typeface="Arial"/>
                  </a:defRPr>
                </a:pPr>
                <a:r>
                  <a:rPr sz="950" b="0" i="0" u="none" strike="noStrike">
                    <a:solidFill>
                      <a:srgbClr val="8B8FA3"/>
                    </a:solidFill>
                    <a:latin typeface="Arial"/>
                  </a:rPr>
                  <a:t>격차(계단) · (+)메이플 앞섬</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매출순위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매출순위·이용자순위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앱마켓 매출·이용자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매출순위·실적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매출순위·재무실적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매출순위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매출순위 주간 추이</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표시 — 7/20 이후는 미집계 구간(실제 순위는 200보다 낮을 수 있음)</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graphicFrame>
        <p:nvGraphicFramePr>
          <p:cNvPr id="8" name="Chart 0" descr=""/>
          <p:cNvGraphicFramePr/>
          <p:nvPr/>
        </p:nvGraphicFramePr>
        <p:xfrm>
          <a:off x="548640" y="1554480"/>
          <a:ext cx="11064240" cy="4709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주간 추이</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표시 — 실측치 자체가 159~269위로 매우 낮아 대부분 상한에 걸림</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graphicFrame>
        <p:nvGraphicFramePr>
          <p:cNvPr id="8" name="Chart 0" descr=""/>
          <p:cNvGraphicFramePr/>
          <p:nvPr/>
        </p:nvGraphicFramePr>
        <p:xfrm>
          <a:off x="548640" y="1554480"/>
          <a:ext cx="11064240" cy="4709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기준 매출순위 격차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메이플스토리M 순위) · 검은사막M은 200위 클램프 적용 후 계산 · 값이 (+)면 메이플M이 앞섬, (−)면 뒤처짐.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graphicFrame>
        <p:nvGraphicFramePr>
          <p:cNvPr id="8"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366760" y="1600200"/>
            <a:ext cx="3291840" cy="4617720"/>
          </a:xfrm>
          <a:prstGeom prst="roundRect">
            <a:avLst>
              <a:gd name="adj" fmla="val 1944"/>
            </a:avLst>
          </a:prstGeom>
          <a:solidFill>
            <a:srgbClr val="1D2030"/>
          </a:solidFill>
          <a:ln/>
        </p:spPr>
      </p:sp>
      <p:sp>
        <p:nvSpPr>
          <p:cNvPr id="10" name="Text 7"/>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39주 요약</a:t>
            </a:r>
            <a:endParaRPr lang="en-US" sz="1100" dirty="0"/>
          </a:p>
        </p:txBody>
      </p:sp>
      <p:sp>
        <p:nvSpPr>
          <p:cNvPr id="11" name="Text 8"/>
          <p:cNvSpPr/>
          <p:nvPr/>
        </p:nvSpPr>
        <p:spPr>
          <a:xfrm>
            <a:off x="8641080" y="219456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마비노기모바일</a:t>
            </a:r>
            <a:endParaRPr lang="en-US" sz="1100" dirty="0"/>
          </a:p>
        </p:txBody>
      </p:sp>
      <p:sp>
        <p:nvSpPr>
          <p:cNvPr id="12" name="Text 9"/>
          <p:cNvSpPr/>
          <p:nvPr/>
        </p:nvSpPr>
        <p:spPr>
          <a:xfrm>
            <a:off x="8641080" y="2487168"/>
            <a:ext cx="2743200" cy="365760"/>
          </a:xfrm>
          <a:prstGeom prst="rect">
            <a:avLst/>
          </a:prstGeom>
          <a:noFill/>
          <a:ln/>
        </p:spPr>
        <p:txBody>
          <a:bodyPr wrap="square" lIns="0" tIns="0" rIns="0" bIns="0" rtlCol="0" anchor="ctr"/>
          <a:lstStyle/>
          <a:p>
            <a:pPr indent="0" marL="0">
              <a:buNone/>
            </a:pPr>
            <a:r>
              <a:rPr lang="en-US" sz="1800" b="1" dirty="0">
                <a:solidFill>
                  <a:srgbClr val="2FA89A"/>
                </a:solidFill>
                <a:latin typeface="Cambria" pitchFamily="34" charset="0"/>
                <a:ea typeface="Cambria" pitchFamily="34" charset="-122"/>
                <a:cs typeface="Cambria" pitchFamily="34" charset="-120"/>
              </a:rPr>
              <a:t>97% 주 뒤처짐</a:t>
            </a:r>
            <a:endParaRPr lang="en-US" sz="1800" dirty="0"/>
          </a:p>
        </p:txBody>
      </p:sp>
      <p:sp>
        <p:nvSpPr>
          <p:cNvPr id="13" name="Text 10"/>
          <p:cNvSpPr/>
          <p:nvPr/>
        </p:nvSpPr>
        <p:spPr>
          <a:xfrm>
            <a:off x="8641080" y="288036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47.5계단</a:t>
            </a:r>
            <a:endParaRPr lang="en-US" sz="1000" dirty="0"/>
          </a:p>
        </p:txBody>
      </p:sp>
      <p:sp>
        <p:nvSpPr>
          <p:cNvPr id="14" name="Text 11"/>
          <p:cNvSpPr/>
          <p:nvPr/>
        </p:nvSpPr>
        <p:spPr>
          <a:xfrm>
            <a:off x="8641080" y="342900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아이온2</a:t>
            </a:r>
            <a:endParaRPr lang="en-US" sz="1100" dirty="0"/>
          </a:p>
        </p:txBody>
      </p:sp>
      <p:sp>
        <p:nvSpPr>
          <p:cNvPr id="15" name="Text 12"/>
          <p:cNvSpPr/>
          <p:nvPr/>
        </p:nvSpPr>
        <p:spPr>
          <a:xfrm>
            <a:off x="8641080" y="3721608"/>
            <a:ext cx="2743200" cy="365760"/>
          </a:xfrm>
          <a:prstGeom prst="rect">
            <a:avLst/>
          </a:prstGeom>
          <a:noFill/>
          <a:ln/>
        </p:spPr>
        <p:txBody>
          <a:bodyPr wrap="square" lIns="0" tIns="0" rIns="0" bIns="0" rtlCol="0" anchor="ctr"/>
          <a:lstStyle/>
          <a:p>
            <a:pPr indent="0" marL="0">
              <a:buNone/>
            </a:pPr>
            <a:r>
              <a:rPr lang="en-US" sz="1800" b="1" dirty="0">
                <a:solidFill>
                  <a:srgbClr val="6B4FA0"/>
                </a:solidFill>
                <a:latin typeface="Cambria" pitchFamily="34" charset="0"/>
                <a:ea typeface="Cambria" pitchFamily="34" charset="-122"/>
                <a:cs typeface="Cambria" pitchFamily="34" charset="-120"/>
              </a:rPr>
              <a:t>92% 주 뒤처짐</a:t>
            </a:r>
            <a:endParaRPr lang="en-US" sz="1800" dirty="0"/>
          </a:p>
        </p:txBody>
      </p:sp>
      <p:sp>
        <p:nvSpPr>
          <p:cNvPr id="16" name="Text 13"/>
          <p:cNvSpPr/>
          <p:nvPr/>
        </p:nvSpPr>
        <p:spPr>
          <a:xfrm>
            <a:off x="8641080" y="411480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38.1계단</a:t>
            </a:r>
            <a:endParaRPr lang="en-US" sz="1000" dirty="0"/>
          </a:p>
        </p:txBody>
      </p:sp>
      <p:sp>
        <p:nvSpPr>
          <p:cNvPr id="17" name="Text 14"/>
          <p:cNvSpPr/>
          <p:nvPr/>
        </p:nvSpPr>
        <p:spPr>
          <a:xfrm>
            <a:off x="8641080" y="466344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검은사막모바일</a:t>
            </a:r>
            <a:endParaRPr lang="en-US" sz="1100" dirty="0"/>
          </a:p>
        </p:txBody>
      </p:sp>
      <p:sp>
        <p:nvSpPr>
          <p:cNvPr id="18" name="Text 15"/>
          <p:cNvSpPr/>
          <p:nvPr/>
        </p:nvSpPr>
        <p:spPr>
          <a:xfrm>
            <a:off x="8641080" y="4956048"/>
            <a:ext cx="2743200" cy="365760"/>
          </a:xfrm>
          <a:prstGeom prst="rect">
            <a:avLst/>
          </a:prstGeom>
          <a:noFill/>
          <a:ln/>
        </p:spPr>
        <p:txBody>
          <a:bodyPr wrap="square" lIns="0" tIns="0" rIns="0" bIns="0" rtlCol="0" anchor="ctr"/>
          <a:lstStyle/>
          <a:p>
            <a:pPr indent="0" marL="0">
              <a:buNone/>
            </a:pPr>
            <a:r>
              <a:rPr lang="en-US" sz="1800" b="1" dirty="0">
                <a:solidFill>
                  <a:srgbClr val="8B2635"/>
                </a:solidFill>
                <a:latin typeface="Cambria" pitchFamily="34" charset="0"/>
                <a:ea typeface="Cambria" pitchFamily="34" charset="-122"/>
                <a:cs typeface="Cambria" pitchFamily="34" charset="-120"/>
              </a:rPr>
              <a:t>100% 주 앞섬</a:t>
            </a:r>
            <a:endParaRPr lang="en-US" sz="1800" dirty="0"/>
          </a:p>
        </p:txBody>
      </p:sp>
      <p:sp>
        <p:nvSpPr>
          <p:cNvPr id="19" name="Text 16"/>
          <p:cNvSpPr/>
          <p:nvPr/>
        </p:nvSpPr>
        <p:spPr>
          <a:xfrm>
            <a:off x="8641080" y="534924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90.7계단</a:t>
            </a:r>
            <a:endParaRPr lang="en-US" sz="1000" dirty="0"/>
          </a:p>
        </p:txBody>
      </p:sp>
      <p:sp>
        <p:nvSpPr>
          <p:cNvPr id="20" name="Text 17"/>
          <p:cNvSpPr/>
          <p:nvPr/>
        </p:nvSpPr>
        <p:spPr>
          <a:xfrm>
            <a:off x="8641080" y="5943600"/>
            <a:ext cx="2743200" cy="365760"/>
          </a:xfrm>
          <a:prstGeom prst="rect">
            <a:avLst/>
          </a:prstGeom>
          <a:noFill/>
          <a:ln/>
        </p:spPr>
        <p:txBody>
          <a:bodyPr wrap="square" lIns="0" tIns="0" rIns="0" bIns="0" rtlCol="0" anchor="ctr"/>
          <a:lstStyle/>
          <a:p>
            <a:pPr indent="0" marL="0">
              <a:lnSpc>
                <a:spcPct val="115000"/>
              </a:lnSpc>
              <a:buNone/>
            </a:pPr>
            <a:r>
              <a:rPr lang="en-US" sz="830" i="1" dirty="0">
                <a:solidFill>
                  <a:srgbClr val="8B8FA3"/>
                </a:solidFill>
                <a:latin typeface="Calibri" pitchFamily="34" charset="0"/>
                <a:ea typeface="Calibri" pitchFamily="34" charset="-122"/>
                <a:cs typeface="Calibri" pitchFamily="34" charset="-120"/>
              </a:rPr>
              <a:t>※ 검은사막M: 200위 이상/미집계 주는 200으로 클램프 후 산출(39주 전체)</a:t>
            </a:r>
            <a:endParaRPr lang="en-US" sz="8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기준 이용자순위 격차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메이플스토리M 순위) · 검은사막M은 200위 클램프 적용 후 계산 · 값이 (+)면 메이플M이 앞섬, (−)면 뒤처짐.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graphicFrame>
        <p:nvGraphicFramePr>
          <p:cNvPr id="8"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366760" y="1600200"/>
            <a:ext cx="3291840" cy="4617720"/>
          </a:xfrm>
          <a:prstGeom prst="roundRect">
            <a:avLst>
              <a:gd name="adj" fmla="val 1944"/>
            </a:avLst>
          </a:prstGeom>
          <a:solidFill>
            <a:srgbClr val="1D2030"/>
          </a:solidFill>
          <a:ln/>
        </p:spPr>
      </p:sp>
      <p:sp>
        <p:nvSpPr>
          <p:cNvPr id="10" name="Text 7"/>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39주 요약</a:t>
            </a:r>
            <a:endParaRPr lang="en-US" sz="1100" dirty="0"/>
          </a:p>
        </p:txBody>
      </p:sp>
      <p:sp>
        <p:nvSpPr>
          <p:cNvPr id="11" name="Text 8"/>
          <p:cNvSpPr/>
          <p:nvPr/>
        </p:nvSpPr>
        <p:spPr>
          <a:xfrm>
            <a:off x="8641080" y="219456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마비노기모바일</a:t>
            </a:r>
            <a:endParaRPr lang="en-US" sz="1100" dirty="0"/>
          </a:p>
        </p:txBody>
      </p:sp>
      <p:sp>
        <p:nvSpPr>
          <p:cNvPr id="12" name="Text 9"/>
          <p:cNvSpPr/>
          <p:nvPr/>
        </p:nvSpPr>
        <p:spPr>
          <a:xfrm>
            <a:off x="8641080" y="2487168"/>
            <a:ext cx="2743200" cy="365760"/>
          </a:xfrm>
          <a:prstGeom prst="rect">
            <a:avLst/>
          </a:prstGeom>
          <a:noFill/>
          <a:ln/>
        </p:spPr>
        <p:txBody>
          <a:bodyPr wrap="square" lIns="0" tIns="0" rIns="0" bIns="0" rtlCol="0" anchor="ctr"/>
          <a:lstStyle/>
          <a:p>
            <a:pPr indent="0" marL="0">
              <a:buNone/>
            </a:pPr>
            <a:r>
              <a:rPr lang="en-US" sz="1800" b="1" dirty="0">
                <a:solidFill>
                  <a:srgbClr val="2FA89A"/>
                </a:solidFill>
                <a:latin typeface="Cambria" pitchFamily="34" charset="0"/>
                <a:ea typeface="Cambria" pitchFamily="34" charset="-122"/>
                <a:cs typeface="Cambria" pitchFamily="34" charset="-120"/>
              </a:rPr>
              <a:t>92% 주 뒤처짐</a:t>
            </a:r>
            <a:endParaRPr lang="en-US" sz="1800" dirty="0"/>
          </a:p>
        </p:txBody>
      </p:sp>
      <p:sp>
        <p:nvSpPr>
          <p:cNvPr id="13" name="Text 10"/>
          <p:cNvSpPr/>
          <p:nvPr/>
        </p:nvSpPr>
        <p:spPr>
          <a:xfrm>
            <a:off x="8641080" y="288036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52.5계단</a:t>
            </a:r>
            <a:endParaRPr lang="en-US" sz="1000" dirty="0"/>
          </a:p>
        </p:txBody>
      </p:sp>
      <p:sp>
        <p:nvSpPr>
          <p:cNvPr id="14" name="Text 11"/>
          <p:cNvSpPr/>
          <p:nvPr/>
        </p:nvSpPr>
        <p:spPr>
          <a:xfrm>
            <a:off x="8641080" y="342900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아이온2</a:t>
            </a:r>
            <a:endParaRPr lang="en-US" sz="1100" dirty="0"/>
          </a:p>
        </p:txBody>
      </p:sp>
      <p:sp>
        <p:nvSpPr>
          <p:cNvPr id="15" name="Text 12"/>
          <p:cNvSpPr/>
          <p:nvPr/>
        </p:nvSpPr>
        <p:spPr>
          <a:xfrm>
            <a:off x="8641080" y="3721608"/>
            <a:ext cx="2743200" cy="365760"/>
          </a:xfrm>
          <a:prstGeom prst="rect">
            <a:avLst/>
          </a:prstGeom>
          <a:noFill/>
          <a:ln/>
        </p:spPr>
        <p:txBody>
          <a:bodyPr wrap="square" lIns="0" tIns="0" rIns="0" bIns="0" rtlCol="0" anchor="ctr"/>
          <a:lstStyle/>
          <a:p>
            <a:pPr indent="0" marL="0">
              <a:buNone/>
            </a:pPr>
            <a:r>
              <a:rPr lang="en-US" sz="1800" b="1" dirty="0">
                <a:solidFill>
                  <a:srgbClr val="6B4FA0"/>
                </a:solidFill>
                <a:latin typeface="Cambria" pitchFamily="34" charset="0"/>
                <a:ea typeface="Cambria" pitchFamily="34" charset="-122"/>
                <a:cs typeface="Cambria" pitchFamily="34" charset="-120"/>
              </a:rPr>
              <a:t>82% 주 뒤처짐</a:t>
            </a:r>
            <a:endParaRPr lang="en-US" sz="1800" dirty="0"/>
          </a:p>
        </p:txBody>
      </p:sp>
      <p:sp>
        <p:nvSpPr>
          <p:cNvPr id="16" name="Text 13"/>
          <p:cNvSpPr/>
          <p:nvPr/>
        </p:nvSpPr>
        <p:spPr>
          <a:xfrm>
            <a:off x="8641080" y="411480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21.2계단</a:t>
            </a:r>
            <a:endParaRPr lang="en-US" sz="1000" dirty="0"/>
          </a:p>
        </p:txBody>
      </p:sp>
      <p:sp>
        <p:nvSpPr>
          <p:cNvPr id="17" name="Text 14"/>
          <p:cNvSpPr/>
          <p:nvPr/>
        </p:nvSpPr>
        <p:spPr>
          <a:xfrm>
            <a:off x="8641080" y="4663440"/>
            <a:ext cx="2743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vs 검은사막모바일</a:t>
            </a:r>
            <a:endParaRPr lang="en-US" sz="1100" dirty="0"/>
          </a:p>
        </p:txBody>
      </p:sp>
      <p:sp>
        <p:nvSpPr>
          <p:cNvPr id="18" name="Text 15"/>
          <p:cNvSpPr/>
          <p:nvPr/>
        </p:nvSpPr>
        <p:spPr>
          <a:xfrm>
            <a:off x="8641080" y="4956048"/>
            <a:ext cx="2743200" cy="365760"/>
          </a:xfrm>
          <a:prstGeom prst="rect">
            <a:avLst/>
          </a:prstGeom>
          <a:noFill/>
          <a:ln/>
        </p:spPr>
        <p:txBody>
          <a:bodyPr wrap="square" lIns="0" tIns="0" rIns="0" bIns="0" rtlCol="0" anchor="ctr"/>
          <a:lstStyle/>
          <a:p>
            <a:pPr indent="0" marL="0">
              <a:buNone/>
            </a:pPr>
            <a:r>
              <a:rPr lang="en-US" sz="1800" b="1" dirty="0">
                <a:solidFill>
                  <a:srgbClr val="8B2635"/>
                </a:solidFill>
                <a:latin typeface="Cambria" pitchFamily="34" charset="0"/>
                <a:ea typeface="Cambria" pitchFamily="34" charset="-122"/>
                <a:cs typeface="Cambria" pitchFamily="34" charset="-120"/>
              </a:rPr>
              <a:t>100% 주 앞섬</a:t>
            </a:r>
            <a:endParaRPr lang="en-US" sz="1800" dirty="0"/>
          </a:p>
        </p:txBody>
      </p:sp>
      <p:sp>
        <p:nvSpPr>
          <p:cNvPr id="19" name="Text 16"/>
          <p:cNvSpPr/>
          <p:nvPr/>
        </p:nvSpPr>
        <p:spPr>
          <a:xfrm>
            <a:off x="8641080" y="5349240"/>
            <a:ext cx="2743200" cy="274320"/>
          </a:xfrm>
          <a:prstGeom prst="rect">
            <a:avLst/>
          </a:prstGeom>
          <a:noFill/>
          <a:ln/>
        </p:spPr>
        <p:txBody>
          <a:bodyPr wrap="square" lIns="0" tIns="0" rIns="0" bIns="0" rtlCol="0" anchor="ctr"/>
          <a:lstStyle/>
          <a:p>
            <a:pPr indent="0" marL="0">
              <a:buNone/>
            </a:pPr>
            <a:r>
              <a:rPr lang="en-US" sz="1000" dirty="0">
                <a:solidFill>
                  <a:srgbClr val="AEB1C2"/>
                </a:solidFill>
                <a:latin typeface="Calibri" pitchFamily="34" charset="0"/>
                <a:ea typeface="Calibri" pitchFamily="34" charset="-122"/>
                <a:cs typeface="Calibri" pitchFamily="34" charset="-120"/>
              </a:rPr>
              <a:t>평균 118.3계단</a:t>
            </a:r>
            <a:endParaRPr lang="en-US" sz="1000" dirty="0"/>
          </a:p>
        </p:txBody>
      </p:sp>
      <p:sp>
        <p:nvSpPr>
          <p:cNvPr id="20" name="Text 17"/>
          <p:cNvSpPr/>
          <p:nvPr/>
        </p:nvSpPr>
        <p:spPr>
          <a:xfrm>
            <a:off x="8641080" y="5943600"/>
            <a:ext cx="2743200" cy="365760"/>
          </a:xfrm>
          <a:prstGeom prst="rect">
            <a:avLst/>
          </a:prstGeom>
          <a:noFill/>
          <a:ln/>
        </p:spPr>
        <p:txBody>
          <a:bodyPr wrap="square" lIns="0" tIns="0" rIns="0" bIns="0" rtlCol="0" anchor="ctr"/>
          <a:lstStyle/>
          <a:p>
            <a:pPr indent="0" marL="0">
              <a:lnSpc>
                <a:spcPct val="115000"/>
              </a:lnSpc>
              <a:buNone/>
            </a:pPr>
            <a:r>
              <a:rPr lang="en-US" sz="830" i="1" dirty="0">
                <a:solidFill>
                  <a:srgbClr val="8B8FA3"/>
                </a:solidFill>
                <a:latin typeface="Calibri" pitchFamily="34" charset="0"/>
                <a:ea typeface="Calibri" pitchFamily="34" charset="-122"/>
                <a:cs typeface="Calibri" pitchFamily="34" charset="-120"/>
              </a:rPr>
              <a:t>※ 검은사막M: 200위 이상/미집계 주는 200으로 클램프 후 산출(39주 전체)</a:t>
            </a:r>
            <a:endParaRPr lang="en-US" sz="8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645920"/>
            <a:ext cx="3474720" cy="1828800"/>
          </a:xfrm>
          <a:prstGeom prst="roundRect">
            <a:avLst>
              <a:gd name="adj" fmla="val 3500"/>
            </a:avLst>
          </a:prstGeom>
          <a:solidFill>
            <a:srgbClr val="FAFAFB"/>
          </a:solidFill>
          <a:ln w="12700">
            <a:solidFill>
              <a:srgbClr val="EBEBF0"/>
            </a:solidFill>
            <a:prstDash val="solid"/>
          </a:ln>
        </p:spPr>
      </p:sp>
      <p:sp>
        <p:nvSpPr>
          <p:cNvPr id="9" name="Text 7"/>
          <p:cNvSpPr/>
          <p:nvPr/>
        </p:nvSpPr>
        <p:spPr>
          <a:xfrm>
            <a:off x="731520" y="1783080"/>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0" name="Text 8"/>
          <p:cNvSpPr/>
          <p:nvPr/>
        </p:nvSpPr>
        <p:spPr>
          <a:xfrm>
            <a:off x="731520" y="2148840"/>
            <a:ext cx="3108960" cy="777240"/>
          </a:xfrm>
          <a:prstGeom prst="rect">
            <a:avLst/>
          </a:prstGeom>
          <a:noFill/>
          <a:ln/>
        </p:spPr>
        <p:txBody>
          <a:bodyPr wrap="square" lIns="0" tIns="0" rIns="0" bIns="0" rtlCol="0" anchor="ctr"/>
          <a:lstStyle/>
          <a:p>
            <a:pPr indent="0" marL="0">
              <a:buNone/>
            </a:pPr>
            <a:r>
              <a:rPr lang="en-US" sz="3200" b="1" dirty="0">
                <a:solidFill>
                  <a:srgbClr val="F0692B"/>
                </a:solidFill>
                <a:latin typeface="Cambria" pitchFamily="34" charset="0"/>
                <a:ea typeface="Cambria" pitchFamily="34" charset="-122"/>
                <a:cs typeface="Cambria" pitchFamily="34" charset="-120"/>
              </a:rPr>
              <a:t>+29.4%</a:t>
            </a:r>
            <a:endParaRPr lang="en-US" sz="3200" dirty="0"/>
          </a:p>
        </p:txBody>
      </p:sp>
      <p:sp>
        <p:nvSpPr>
          <p:cNvPr id="11" name="Text 9"/>
          <p:cNvSpPr/>
          <p:nvPr/>
        </p:nvSpPr>
        <p:spPr>
          <a:xfrm>
            <a:off x="731520" y="2926080"/>
            <a:ext cx="3108960" cy="45720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2" name="Shape 10"/>
          <p:cNvSpPr/>
          <p:nvPr/>
        </p:nvSpPr>
        <p:spPr>
          <a:xfrm>
            <a:off x="4251960" y="1645920"/>
            <a:ext cx="3474720" cy="1828800"/>
          </a:xfrm>
          <a:prstGeom prst="roundRect">
            <a:avLst>
              <a:gd name="adj" fmla="val 3500"/>
            </a:avLst>
          </a:prstGeom>
          <a:solidFill>
            <a:srgbClr val="FAFAFB"/>
          </a:solidFill>
          <a:ln w="12700">
            <a:solidFill>
              <a:srgbClr val="EBEBF0"/>
            </a:solidFill>
            <a:prstDash val="solid"/>
          </a:ln>
        </p:spPr>
      </p:sp>
      <p:sp>
        <p:nvSpPr>
          <p:cNvPr id="13" name="Text 11"/>
          <p:cNvSpPr/>
          <p:nvPr/>
        </p:nvSpPr>
        <p:spPr>
          <a:xfrm>
            <a:off x="4434840" y="1783080"/>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4" name="Text 12"/>
          <p:cNvSpPr/>
          <p:nvPr/>
        </p:nvSpPr>
        <p:spPr>
          <a:xfrm>
            <a:off x="4434840" y="2148840"/>
            <a:ext cx="3108960" cy="777240"/>
          </a:xfrm>
          <a:prstGeom prst="rect">
            <a:avLst/>
          </a:prstGeom>
          <a:noFill/>
          <a:ln/>
        </p:spPr>
        <p:txBody>
          <a:bodyPr wrap="square" lIns="0" tIns="0" rIns="0" bIns="0" rtlCol="0" anchor="ctr"/>
          <a:lstStyle/>
          <a:p>
            <a:pPr indent="0" marL="0">
              <a:buNone/>
            </a:pPr>
            <a:r>
              <a:rPr lang="en-US" sz="3200" b="1" dirty="0">
                <a:solidFill>
                  <a:srgbClr val="8B2635"/>
                </a:solidFill>
                <a:latin typeface="Cambria" pitchFamily="34" charset="0"/>
                <a:ea typeface="Cambria" pitchFamily="34" charset="-122"/>
                <a:cs typeface="Cambria" pitchFamily="34" charset="-120"/>
              </a:rPr>
              <a:t>-6.7%</a:t>
            </a:r>
            <a:endParaRPr lang="en-US" sz="3200" dirty="0"/>
          </a:p>
        </p:txBody>
      </p:sp>
      <p:sp>
        <p:nvSpPr>
          <p:cNvPr id="15" name="Text 13"/>
          <p:cNvSpPr/>
          <p:nvPr/>
        </p:nvSpPr>
        <p:spPr>
          <a:xfrm>
            <a:off x="4434840" y="2926080"/>
            <a:ext cx="3108960" cy="45720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6" name="Shape 14"/>
          <p:cNvSpPr/>
          <p:nvPr/>
        </p:nvSpPr>
        <p:spPr>
          <a:xfrm>
            <a:off x="7955280" y="1645920"/>
            <a:ext cx="3474720" cy="1828800"/>
          </a:xfrm>
          <a:prstGeom prst="roundRect">
            <a:avLst>
              <a:gd name="adj" fmla="val 3500"/>
            </a:avLst>
          </a:prstGeom>
          <a:solidFill>
            <a:srgbClr val="FAFAFB"/>
          </a:solidFill>
          <a:ln w="12700">
            <a:solidFill>
              <a:srgbClr val="EBEBF0"/>
            </a:solidFill>
            <a:prstDash val="solid"/>
          </a:ln>
        </p:spPr>
      </p:sp>
      <p:sp>
        <p:nvSpPr>
          <p:cNvPr id="17" name="Text 15"/>
          <p:cNvSpPr/>
          <p:nvPr/>
        </p:nvSpPr>
        <p:spPr>
          <a:xfrm>
            <a:off x="8138160" y="1783080"/>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18" name="Text 16"/>
          <p:cNvSpPr/>
          <p:nvPr/>
        </p:nvSpPr>
        <p:spPr>
          <a:xfrm>
            <a:off x="8138160" y="2148840"/>
            <a:ext cx="3108960" cy="777240"/>
          </a:xfrm>
          <a:prstGeom prst="rect">
            <a:avLst/>
          </a:prstGeom>
          <a:noFill/>
          <a:ln/>
        </p:spPr>
        <p:txBody>
          <a:bodyPr wrap="square" lIns="0" tIns="0" rIns="0" bIns="0" rtlCol="0" anchor="ctr"/>
          <a:lstStyle/>
          <a:p>
            <a:pPr indent="0" marL="0">
              <a:buNone/>
            </a:pPr>
            <a:r>
              <a:rPr lang="en-US" sz="3200" b="1" dirty="0">
                <a:solidFill>
                  <a:srgbClr val="6B4FA0"/>
                </a:solidFill>
                <a:latin typeface="Cambria" pitchFamily="34" charset="0"/>
                <a:ea typeface="Cambria" pitchFamily="34" charset="-122"/>
                <a:cs typeface="Cambria" pitchFamily="34" charset="-120"/>
              </a:rPr>
              <a:t>-38.2%</a:t>
            </a:r>
            <a:endParaRPr lang="en-US" sz="3200" dirty="0"/>
          </a:p>
        </p:txBody>
      </p:sp>
      <p:sp>
        <p:nvSpPr>
          <p:cNvPr id="19" name="Text 17"/>
          <p:cNvSpPr/>
          <p:nvPr/>
        </p:nvSpPr>
        <p:spPr>
          <a:xfrm>
            <a:off x="8138160" y="2926080"/>
            <a:ext cx="3108960" cy="45720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0" name="Text 18"/>
          <p:cNvSpPr/>
          <p:nvPr/>
        </p:nvSpPr>
        <p:spPr>
          <a:xfrm>
            <a:off x="548640" y="3703320"/>
            <a:ext cx="91440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1" name="Shape 19"/>
          <p:cNvSpPr/>
          <p:nvPr/>
        </p:nvSpPr>
        <p:spPr>
          <a:xfrm>
            <a:off x="548640" y="4069080"/>
            <a:ext cx="5349240" cy="2194560"/>
          </a:xfrm>
          <a:prstGeom prst="roundRect">
            <a:avLst>
              <a:gd name="adj" fmla="val 2917"/>
            </a:avLst>
          </a:prstGeom>
          <a:solidFill>
            <a:srgbClr val="FAFAFB"/>
          </a:solidFill>
          <a:ln w="12700">
            <a:solidFill>
              <a:srgbClr val="EBEBF0"/>
            </a:solidFill>
            <a:prstDash val="solid"/>
          </a:ln>
        </p:spPr>
      </p:sp>
      <p:sp>
        <p:nvSpPr>
          <p:cNvPr id="22" name="Text 20"/>
          <p:cNvSpPr/>
          <p:nvPr/>
        </p:nvSpPr>
        <p:spPr>
          <a:xfrm>
            <a:off x="822960" y="4206240"/>
            <a:ext cx="4846320" cy="320040"/>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3" name="Text 21"/>
          <p:cNvSpPr/>
          <p:nvPr/>
        </p:nvSpPr>
        <p:spPr>
          <a:xfrm>
            <a:off x="822960" y="4526280"/>
            <a:ext cx="4846320" cy="548640"/>
          </a:xfrm>
          <a:prstGeom prst="rect">
            <a:avLst/>
          </a:prstGeom>
          <a:noFill/>
          <a:ln/>
        </p:spPr>
        <p:txBody>
          <a:bodyPr wrap="square" lIns="0" tIns="0" rIns="0" bIns="0" rtlCol="0" anchor="ctr"/>
          <a:lstStyle/>
          <a:p>
            <a:pPr indent="0" marL="0">
              <a:buNone/>
            </a:pPr>
            <a:r>
              <a:rPr lang="en-US" sz="2600" b="1" dirty="0">
                <a:solidFill>
                  <a:srgbClr val="1C1E29"/>
                </a:solidFill>
                <a:latin typeface="Cambria" pitchFamily="34" charset="0"/>
                <a:ea typeface="Cambria" pitchFamily="34" charset="-122"/>
                <a:cs typeface="Cambria" pitchFamily="34" charset="-120"/>
              </a:rPr>
              <a:t>325.3억원</a:t>
            </a:r>
            <a:endParaRPr lang="en-US" sz="2600" dirty="0"/>
          </a:p>
        </p:txBody>
      </p:sp>
      <p:sp>
        <p:nvSpPr>
          <p:cNvPr id="24" name="Text 22"/>
          <p:cNvSpPr/>
          <p:nvPr/>
        </p:nvSpPr>
        <p:spPr>
          <a:xfrm>
            <a:off x="822960" y="5074920"/>
            <a:ext cx="4846320" cy="109728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80" dirty="0"/>
          </a:p>
        </p:txBody>
      </p:sp>
      <p:sp>
        <p:nvSpPr>
          <p:cNvPr id="25" name="Shape 23"/>
          <p:cNvSpPr/>
          <p:nvPr/>
        </p:nvSpPr>
        <p:spPr>
          <a:xfrm>
            <a:off x="6080760" y="4069080"/>
            <a:ext cx="5349240" cy="2194560"/>
          </a:xfrm>
          <a:prstGeom prst="roundRect">
            <a:avLst>
              <a:gd name="adj" fmla="val 2917"/>
            </a:avLst>
          </a:prstGeom>
          <a:solidFill>
            <a:srgbClr val="FAFAFB"/>
          </a:solidFill>
          <a:ln w="12700">
            <a:solidFill>
              <a:srgbClr val="EBEBF0"/>
            </a:solidFill>
            <a:prstDash val="solid"/>
          </a:ln>
        </p:spPr>
      </p:sp>
      <p:sp>
        <p:nvSpPr>
          <p:cNvPr id="26" name="Text 24"/>
          <p:cNvSpPr/>
          <p:nvPr/>
        </p:nvSpPr>
        <p:spPr>
          <a:xfrm>
            <a:off x="6355080" y="4206240"/>
            <a:ext cx="4846320" cy="320040"/>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7" name="Text 25"/>
          <p:cNvSpPr/>
          <p:nvPr/>
        </p:nvSpPr>
        <p:spPr>
          <a:xfrm>
            <a:off x="6355080" y="4526280"/>
            <a:ext cx="4846320" cy="548640"/>
          </a:xfrm>
          <a:prstGeom prst="rect">
            <a:avLst/>
          </a:prstGeom>
          <a:noFill/>
          <a:ln/>
        </p:spPr>
        <p:txBody>
          <a:bodyPr wrap="square" lIns="0" tIns="0" rIns="0" bIns="0" rtlCol="0" anchor="ctr"/>
          <a:lstStyle/>
          <a:p>
            <a:pPr indent="0" marL="0">
              <a:buNone/>
            </a:pPr>
            <a:r>
              <a:rPr lang="en-US" sz="2600" b="1" dirty="0">
                <a:solidFill>
                  <a:srgbClr val="1C1E29"/>
                </a:solidFill>
                <a:latin typeface="Cambria" pitchFamily="34" charset="0"/>
                <a:ea typeface="Cambria" pitchFamily="34" charset="-122"/>
                <a:cs typeface="Cambria" pitchFamily="34" charset="-120"/>
              </a:rPr>
              <a:t>1,908.8억원</a:t>
            </a:r>
            <a:endParaRPr lang="en-US" sz="2600" dirty="0"/>
          </a:p>
        </p:txBody>
      </p:sp>
      <p:sp>
        <p:nvSpPr>
          <p:cNvPr id="28" name="Text 26"/>
          <p:cNvSpPr/>
          <p:nvPr/>
        </p:nvSpPr>
        <p:spPr>
          <a:xfrm>
            <a:off x="6355080" y="5074920"/>
            <a:ext cx="4846320" cy="109728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80" dirty="0"/>
          </a:p>
        </p:txBody>
      </p:sp>
      <p:sp>
        <p:nvSpPr>
          <p:cNvPr id="29" name="Text 27"/>
          <p:cNvSpPr/>
          <p:nvPr/>
        </p:nvSpPr>
        <p:spPr>
          <a:xfrm>
            <a:off x="548640" y="635508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18</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19</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매출순위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3월·매출순위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27</a:t>
            </a:r>
            <a:endParaRPr lang="en-US" sz="900" dirty="0"/>
          </a:p>
        </p:txBody>
      </p:sp>
      <p:sp>
        <p:nvSpPr>
          <p:cNvPr id="5" name="Shape 3"/>
          <p:cNvSpPr/>
          <p:nvPr/>
        </p:nvSpPr>
        <p:spPr>
          <a:xfrm>
            <a:off x="822960" y="2377440"/>
            <a:ext cx="8183880" cy="0"/>
          </a:xfrm>
          <a:prstGeom prst="line">
            <a:avLst/>
          </a:prstGeom>
          <a:noFill/>
          <a:ln w="25400">
            <a:solidFill>
              <a:srgbClr val="D8D8E0"/>
            </a:solidFill>
            <a:prstDash val="solid"/>
          </a:ln>
        </p:spPr>
      </p:sp>
      <p:sp>
        <p:nvSpPr>
          <p:cNvPr id="6" name="Shape 4"/>
          <p:cNvSpPr/>
          <p:nvPr/>
        </p:nvSpPr>
        <p:spPr>
          <a:xfrm>
            <a:off x="722376" y="2276856"/>
            <a:ext cx="201168" cy="201168"/>
          </a:xfrm>
          <a:prstGeom prst="ellipse">
            <a:avLst/>
          </a:prstGeom>
          <a:solidFill>
            <a:srgbClr val="F0692B"/>
          </a:solidFill>
          <a:ln w="25400">
            <a:solidFill>
              <a:srgbClr val="FFFFFF"/>
            </a:solidFill>
            <a:prstDash val="solid"/>
          </a:ln>
        </p:spPr>
      </p:sp>
      <p:sp>
        <p:nvSpPr>
          <p:cNvPr id="7" name="Text 5"/>
          <p:cNvSpPr/>
          <p:nvPr/>
        </p:nvSpPr>
        <p:spPr>
          <a:xfrm>
            <a:off x="-91440" y="1691640"/>
            <a:ext cx="2194560" cy="320040"/>
          </a:xfrm>
          <a:prstGeom prst="rect">
            <a:avLst/>
          </a:prstGeom>
          <a:noFill/>
          <a:ln/>
        </p:spPr>
        <p:txBody>
          <a:bodyPr wrap="square" lIns="0" tIns="0" rIns="0" bIns="0" rtlCol="0" anchor="ctr"/>
          <a:lstStyle/>
          <a:p>
            <a:pPr indent="0" marL="0">
              <a:buNone/>
            </a:pPr>
            <a:r>
              <a:rPr lang="en-US" sz="1400" b="1" dirty="0">
                <a:solidFill>
                  <a:srgbClr val="F0692B"/>
                </a:solidFill>
                <a:latin typeface="Cambria" pitchFamily="34" charset="0"/>
                <a:ea typeface="Cambria" pitchFamily="34" charset="-122"/>
                <a:cs typeface="Cambria" pitchFamily="34" charset="-120"/>
              </a:rPr>
              <a:t>26 Q4</a:t>
            </a:r>
            <a:endParaRPr lang="en-US" sz="1400" dirty="0"/>
          </a:p>
        </p:txBody>
      </p:sp>
      <p:sp>
        <p:nvSpPr>
          <p:cNvPr id="8" name="Shape 6"/>
          <p:cNvSpPr/>
          <p:nvPr/>
        </p:nvSpPr>
        <p:spPr>
          <a:xfrm>
            <a:off x="-320040" y="2651760"/>
            <a:ext cx="2468880" cy="1874520"/>
          </a:xfrm>
          <a:prstGeom prst="roundRect">
            <a:avLst>
              <a:gd name="adj" fmla="val 3415"/>
            </a:avLst>
          </a:prstGeom>
          <a:solidFill>
            <a:srgbClr val="FAFAFB"/>
          </a:solidFill>
          <a:ln w="12700">
            <a:solidFill>
              <a:srgbClr val="EBEBF0"/>
            </a:solidFill>
            <a:prstDash val="solid"/>
          </a:ln>
        </p:spPr>
      </p:sp>
      <p:sp>
        <p:nvSpPr>
          <p:cNvPr id="9" name="Text 7"/>
          <p:cNvSpPr/>
          <p:nvPr/>
        </p:nvSpPr>
        <p:spPr>
          <a:xfrm>
            <a:off x="-13716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공백 방지 체계 구축</a:t>
            </a:r>
            <a:endParaRPr lang="en-US" sz="1250" dirty="0"/>
          </a:p>
        </p:txBody>
      </p:sp>
      <p:sp>
        <p:nvSpPr>
          <p:cNvPr id="10" name="Text 8"/>
          <p:cNvSpPr/>
          <p:nvPr/>
        </p:nvSpPr>
        <p:spPr>
          <a:xfrm>
            <a:off x="-13716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980" dirty="0"/>
          </a:p>
        </p:txBody>
      </p:sp>
      <p:sp>
        <p:nvSpPr>
          <p:cNvPr id="11" name="Shape 9"/>
          <p:cNvSpPr/>
          <p:nvPr/>
        </p:nvSpPr>
        <p:spPr>
          <a:xfrm>
            <a:off x="3328416" y="2276856"/>
            <a:ext cx="201168" cy="201168"/>
          </a:xfrm>
          <a:prstGeom prst="ellipse">
            <a:avLst/>
          </a:prstGeom>
          <a:solidFill>
            <a:srgbClr val="6B4FA0"/>
          </a:solidFill>
          <a:ln w="25400">
            <a:solidFill>
              <a:srgbClr val="FFFFFF"/>
            </a:solidFill>
            <a:prstDash val="solid"/>
          </a:ln>
        </p:spPr>
      </p:sp>
      <p:sp>
        <p:nvSpPr>
          <p:cNvPr id="12" name="Text 10"/>
          <p:cNvSpPr/>
          <p:nvPr/>
        </p:nvSpPr>
        <p:spPr>
          <a:xfrm>
            <a:off x="2514600" y="1691640"/>
            <a:ext cx="2194560" cy="320040"/>
          </a:xfrm>
          <a:prstGeom prst="rect">
            <a:avLst/>
          </a:prstGeom>
          <a:noFill/>
          <a:ln/>
        </p:spPr>
        <p:txBody>
          <a:bodyPr wrap="square" lIns="0" tIns="0" rIns="0" bIns="0" rtlCol="0" anchor="ctr"/>
          <a:lstStyle/>
          <a:p>
            <a:pPr indent="0" marL="0">
              <a:buNone/>
            </a:pPr>
            <a:r>
              <a:rPr lang="en-US" sz="1400" b="1" dirty="0">
                <a:solidFill>
                  <a:srgbClr val="6B4FA0"/>
                </a:solidFill>
                <a:latin typeface="Cambria" pitchFamily="34" charset="0"/>
                <a:ea typeface="Cambria" pitchFamily="34" charset="-122"/>
                <a:cs typeface="Cambria" pitchFamily="34" charset="-120"/>
              </a:rPr>
              <a:t>27 Q1</a:t>
            </a:r>
            <a:endParaRPr lang="en-US" sz="1400" dirty="0"/>
          </a:p>
        </p:txBody>
      </p:sp>
      <p:sp>
        <p:nvSpPr>
          <p:cNvPr id="13" name="Shape 11"/>
          <p:cNvSpPr/>
          <p:nvPr/>
        </p:nvSpPr>
        <p:spPr>
          <a:xfrm>
            <a:off x="2286000" y="2651760"/>
            <a:ext cx="2468880" cy="1874520"/>
          </a:xfrm>
          <a:prstGeom prst="roundRect">
            <a:avLst>
              <a:gd name="adj" fmla="val 3415"/>
            </a:avLst>
          </a:prstGeom>
          <a:solidFill>
            <a:srgbClr val="FAFAFB"/>
          </a:solidFill>
          <a:ln w="12700">
            <a:solidFill>
              <a:srgbClr val="EBEBF0"/>
            </a:solidFill>
            <a:prstDash val="solid"/>
          </a:ln>
        </p:spPr>
      </p:sp>
      <p:sp>
        <p:nvSpPr>
          <p:cNvPr id="14" name="Text 12"/>
          <p:cNvSpPr/>
          <p:nvPr/>
        </p:nvSpPr>
        <p:spPr>
          <a:xfrm>
            <a:off x="246888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UA 계측 체계 파일럿</a:t>
            </a:r>
            <a:endParaRPr lang="en-US" sz="1250" dirty="0"/>
          </a:p>
        </p:txBody>
      </p:sp>
      <p:sp>
        <p:nvSpPr>
          <p:cNvPr id="15" name="Text 13"/>
          <p:cNvSpPr/>
          <p:nvPr/>
        </p:nvSpPr>
        <p:spPr>
          <a:xfrm>
            <a:off x="246888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980" dirty="0"/>
          </a:p>
        </p:txBody>
      </p:sp>
      <p:sp>
        <p:nvSpPr>
          <p:cNvPr id="16" name="Shape 14"/>
          <p:cNvSpPr/>
          <p:nvPr/>
        </p:nvSpPr>
        <p:spPr>
          <a:xfrm>
            <a:off x="5934456" y="2276856"/>
            <a:ext cx="201168" cy="201168"/>
          </a:xfrm>
          <a:prstGeom prst="ellipse">
            <a:avLst/>
          </a:prstGeom>
          <a:solidFill>
            <a:srgbClr val="2FA89A"/>
          </a:solidFill>
          <a:ln w="25400">
            <a:solidFill>
              <a:srgbClr val="FFFFFF"/>
            </a:solidFill>
            <a:prstDash val="solid"/>
          </a:ln>
        </p:spPr>
      </p:sp>
      <p:sp>
        <p:nvSpPr>
          <p:cNvPr id="17" name="Text 15"/>
          <p:cNvSpPr/>
          <p:nvPr/>
        </p:nvSpPr>
        <p:spPr>
          <a:xfrm>
            <a:off x="5120640" y="1691640"/>
            <a:ext cx="2194560" cy="320040"/>
          </a:xfrm>
          <a:prstGeom prst="rect">
            <a:avLst/>
          </a:prstGeom>
          <a:noFill/>
          <a:ln/>
        </p:spPr>
        <p:txBody>
          <a:bodyPr wrap="square" lIns="0" tIns="0" rIns="0" bIns="0" rtlCol="0" anchor="ctr"/>
          <a:lstStyle/>
          <a:p>
            <a:pPr indent="0" marL="0">
              <a:buNone/>
            </a:pPr>
            <a:r>
              <a:rPr lang="en-US" sz="1400" b="1" dirty="0">
                <a:solidFill>
                  <a:srgbClr val="2FA89A"/>
                </a:solidFill>
                <a:latin typeface="Cambria" pitchFamily="34" charset="0"/>
                <a:ea typeface="Cambria" pitchFamily="34" charset="-122"/>
                <a:cs typeface="Cambria" pitchFamily="34" charset="-120"/>
              </a:rPr>
              <a:t>27 Q1~Q2</a:t>
            </a:r>
            <a:endParaRPr lang="en-US" sz="1400" dirty="0"/>
          </a:p>
        </p:txBody>
      </p:sp>
      <p:sp>
        <p:nvSpPr>
          <p:cNvPr id="18" name="Shape 16"/>
          <p:cNvSpPr/>
          <p:nvPr/>
        </p:nvSpPr>
        <p:spPr>
          <a:xfrm>
            <a:off x="4892040" y="2651760"/>
            <a:ext cx="2468880" cy="1874520"/>
          </a:xfrm>
          <a:prstGeom prst="roundRect">
            <a:avLst>
              <a:gd name="adj" fmla="val 3415"/>
            </a:avLst>
          </a:prstGeom>
          <a:solidFill>
            <a:srgbClr val="FAFAFB"/>
          </a:solidFill>
          <a:ln w="12700">
            <a:solidFill>
              <a:srgbClr val="EBEBF0"/>
            </a:solidFill>
            <a:prstDash val="solid"/>
          </a:ln>
        </p:spPr>
      </p:sp>
      <p:sp>
        <p:nvSpPr>
          <p:cNvPr id="19" name="Text 17"/>
          <p:cNvSpPr/>
          <p:nvPr/>
        </p:nvSpPr>
        <p:spPr>
          <a:xfrm>
            <a:off x="507492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리브랜딩 캠페인 런칭</a:t>
            </a:r>
            <a:endParaRPr lang="en-US" sz="1250" dirty="0"/>
          </a:p>
        </p:txBody>
      </p:sp>
      <p:sp>
        <p:nvSpPr>
          <p:cNvPr id="20" name="Text 18"/>
          <p:cNvSpPr/>
          <p:nvPr/>
        </p:nvSpPr>
        <p:spPr>
          <a:xfrm>
            <a:off x="507492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980" dirty="0"/>
          </a:p>
        </p:txBody>
      </p:sp>
      <p:sp>
        <p:nvSpPr>
          <p:cNvPr id="21" name="Shape 19"/>
          <p:cNvSpPr/>
          <p:nvPr/>
        </p:nvSpPr>
        <p:spPr>
          <a:xfrm>
            <a:off x="8540496" y="2276856"/>
            <a:ext cx="201168" cy="201168"/>
          </a:xfrm>
          <a:prstGeom prst="ellipse">
            <a:avLst/>
          </a:prstGeom>
          <a:solidFill>
            <a:srgbClr val="E8B84B"/>
          </a:solidFill>
          <a:ln w="25400">
            <a:solidFill>
              <a:srgbClr val="FFFFFF"/>
            </a:solidFill>
            <a:prstDash val="solid"/>
          </a:ln>
        </p:spPr>
      </p:sp>
      <p:sp>
        <p:nvSpPr>
          <p:cNvPr id="22" name="Text 20"/>
          <p:cNvSpPr/>
          <p:nvPr/>
        </p:nvSpPr>
        <p:spPr>
          <a:xfrm>
            <a:off x="7726680" y="1691640"/>
            <a:ext cx="2194560" cy="320040"/>
          </a:xfrm>
          <a:prstGeom prst="rect">
            <a:avLst/>
          </a:prstGeom>
          <a:noFill/>
          <a:ln/>
        </p:spPr>
        <p:txBody>
          <a:bodyPr wrap="square" lIns="0" tIns="0" rIns="0" bIns="0" rtlCol="0" anchor="ctr"/>
          <a:lstStyle/>
          <a:p>
            <a:pPr indent="0" marL="0">
              <a:buNone/>
            </a:pPr>
            <a:r>
              <a:rPr lang="en-US" sz="1400" b="1" dirty="0">
                <a:solidFill>
                  <a:srgbClr val="E8B84B"/>
                </a:solidFill>
                <a:latin typeface="Cambria" pitchFamily="34" charset="0"/>
                <a:ea typeface="Cambria" pitchFamily="34" charset="-122"/>
                <a:cs typeface="Cambria" pitchFamily="34" charset="-120"/>
              </a:rPr>
              <a:t>27 Q2</a:t>
            </a:r>
            <a:endParaRPr lang="en-US" sz="1400" dirty="0"/>
          </a:p>
        </p:txBody>
      </p:sp>
      <p:sp>
        <p:nvSpPr>
          <p:cNvPr id="23" name="Shape 21"/>
          <p:cNvSpPr/>
          <p:nvPr/>
        </p:nvSpPr>
        <p:spPr>
          <a:xfrm>
            <a:off x="7498080" y="2651760"/>
            <a:ext cx="2468880" cy="1874520"/>
          </a:xfrm>
          <a:prstGeom prst="roundRect">
            <a:avLst>
              <a:gd name="adj" fmla="val 3415"/>
            </a:avLst>
          </a:prstGeom>
          <a:solidFill>
            <a:srgbClr val="FAFAFB"/>
          </a:solidFill>
          <a:ln w="12700">
            <a:solidFill>
              <a:srgbClr val="EBEBF0"/>
            </a:solidFill>
            <a:prstDash val="solid"/>
          </a:ln>
        </p:spPr>
      </p:sp>
      <p:sp>
        <p:nvSpPr>
          <p:cNvPr id="24" name="Text 22"/>
          <p:cNvSpPr/>
          <p:nvPr/>
        </p:nvSpPr>
        <p:spPr>
          <a:xfrm>
            <a:off x="7680960" y="2816352"/>
            <a:ext cx="2103120" cy="594360"/>
          </a:xfrm>
          <a:prstGeom prst="rect">
            <a:avLst/>
          </a:prstGeom>
          <a:noFill/>
          <a:ln/>
        </p:spPr>
        <p:txBody>
          <a:bodyPr wrap="square" lIns="0" tIns="0" rIns="0" bIns="0" rtlCol="0" anchor="ctr"/>
          <a:lstStyle/>
          <a:p>
            <a:pPr indent="0" marL="0">
              <a:lnSpc>
                <a:spcPct val="115000"/>
              </a:lnSpc>
              <a:buNone/>
            </a:pPr>
            <a:r>
              <a:rPr lang="en-US" sz="1250" b="1" dirty="0">
                <a:solidFill>
                  <a:srgbClr val="1C1E29"/>
                </a:solidFill>
                <a:latin typeface="Calibri" pitchFamily="34" charset="0"/>
                <a:ea typeface="Calibri" pitchFamily="34" charset="-122"/>
                <a:cs typeface="Calibri" pitchFamily="34" charset="-120"/>
              </a:rPr>
              <a:t>대시보드 정식 가동</a:t>
            </a:r>
            <a:endParaRPr lang="en-US" sz="1250" dirty="0"/>
          </a:p>
        </p:txBody>
      </p:sp>
      <p:sp>
        <p:nvSpPr>
          <p:cNvPr id="25" name="Text 23"/>
          <p:cNvSpPr/>
          <p:nvPr/>
        </p:nvSpPr>
        <p:spPr>
          <a:xfrm>
            <a:off x="7680960" y="3429000"/>
            <a:ext cx="2103120" cy="1005840"/>
          </a:xfrm>
          <a:prstGeom prst="rect">
            <a:avLst/>
          </a:prstGeom>
          <a:noFill/>
          <a:ln/>
        </p:spPr>
        <p:txBody>
          <a:bodyPr wrap="square" lIns="0" tIns="0" rIns="0" bIns="0" rtlCol="0" anchor="ctr"/>
          <a:lstStyle/>
          <a:p>
            <a:pPr indent="0" marL="0">
              <a:lnSpc>
                <a:spcPct val="120000"/>
              </a:lnSpc>
              <a:buNone/>
            </a:pPr>
            <a:r>
              <a:rPr lang="en-US" sz="980" dirty="0">
                <a:solidFill>
                  <a:srgbClr val="6B6F80"/>
                </a:solidFill>
                <a:latin typeface="Calibri" pitchFamily="34" charset="0"/>
                <a:ea typeface="Calibri" pitchFamily="34" charset="-122"/>
                <a:cs typeface="Calibri" pitchFamily="34" charset="-120"/>
              </a:rPr>
              <a:t>본 보고서의 9개 타일을 실데이터 연동 대시보드로 전환, 효율 지수 자동 갱신</a:t>
            </a:r>
            <a:endParaRPr lang="en-US" sz="980" dirty="0"/>
          </a:p>
        </p:txBody>
      </p:sp>
      <p:sp>
        <p:nvSpPr>
          <p:cNvPr id="26" name="Shape 24"/>
          <p:cNvSpPr/>
          <p:nvPr/>
        </p:nvSpPr>
        <p:spPr>
          <a:xfrm>
            <a:off x="548640" y="5349240"/>
            <a:ext cx="11064240" cy="960120"/>
          </a:xfrm>
          <a:prstGeom prst="roundRect">
            <a:avLst>
              <a:gd name="adj" fmla="val 5714"/>
            </a:avLst>
          </a:prstGeom>
          <a:solidFill>
            <a:srgbClr val="1D2030"/>
          </a:solidFill>
          <a:ln/>
        </p:spPr>
      </p:sp>
      <p:sp>
        <p:nvSpPr>
          <p:cNvPr id="27" name="Text 25"/>
          <p:cNvSpPr/>
          <p:nvPr/>
        </p:nvSpPr>
        <p:spPr>
          <a:xfrm>
            <a:off x="822960" y="5349240"/>
            <a:ext cx="10515600" cy="960120"/>
          </a:xfrm>
          <a:prstGeom prst="rect">
            <a:avLst/>
          </a:prstGeom>
          <a:noFill/>
          <a:ln/>
        </p:spPr>
        <p:txBody>
          <a:bodyPr wrap="square" lIns="0" tIns="0" rIns="0" bIns="0" rtlCol="0" anchor="ctr"/>
          <a:lstStyle/>
          <a:p>
            <a:pPr indent="0" marL="0">
              <a:buNone/>
            </a:pPr>
            <a:r>
              <a:rPr lang="en-US" sz="1250" dirty="0">
                <a:solidFill>
                  <a:srgbClr val="E8E9F0"/>
                </a:solidFill>
                <a:latin typeface="Calibri" pitchFamily="34" charset="0"/>
                <a:ea typeface="Calibri" pitchFamily="34" charset="-122"/>
                <a:cs typeface="Calibri" pitchFamily="34" charset="-120"/>
              </a:rPr>
              <a:t>KPI 목표 — 매출순위 Top30 이내 90% 이상 유지, 이용자순위 변동폭 ±15 이내 안정화, 타이틀 단위 실측 CPI 체계 2027 Q1 내 구축</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548640" y="1490472"/>
            <a:ext cx="11109960" cy="329184"/>
          </a:xfrm>
          <a:prstGeom prst="roundRect">
            <a:avLst>
              <a:gd name="adj" fmla="val 11111"/>
            </a:avLst>
          </a:prstGeom>
          <a:solidFill>
            <a:srgbClr val="1D2030"/>
          </a:solidFill>
          <a:ln/>
        </p:spPr>
      </p:sp>
      <p:sp>
        <p:nvSpPr>
          <p:cNvPr id="7" name="Text 5"/>
          <p:cNvSpPr/>
          <p:nvPr/>
        </p:nvSpPr>
        <p:spPr>
          <a:xfrm>
            <a:off x="548640" y="1490472"/>
            <a:ext cx="7772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490472"/>
            <a:ext cx="228600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490472"/>
            <a:ext cx="14630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490472"/>
            <a:ext cx="3291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490472"/>
            <a:ext cx="100584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490472"/>
            <a:ext cx="1737360" cy="329184"/>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837944"/>
            <a:ext cx="11109960" cy="411480"/>
          </a:xfrm>
          <a:prstGeom prst="rect">
            <a:avLst/>
          </a:prstGeom>
          <a:solidFill>
            <a:srgbClr val="FAFAFB"/>
          </a:solidFill>
          <a:ln/>
        </p:spPr>
      </p:sp>
      <p:sp>
        <p:nvSpPr>
          <p:cNvPr id="14" name="Text 12"/>
          <p:cNvSpPr/>
          <p:nvPr/>
        </p:nvSpPr>
        <p:spPr>
          <a:xfrm>
            <a:off x="548640" y="1865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865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865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865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865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865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295144"/>
            <a:ext cx="11109960" cy="411480"/>
          </a:xfrm>
          <a:prstGeom prst="rect">
            <a:avLst/>
          </a:prstGeom>
          <a:solidFill>
            <a:srgbClr val="FFFFFF"/>
          </a:solidFill>
          <a:ln/>
        </p:spPr>
      </p:sp>
      <p:sp>
        <p:nvSpPr>
          <p:cNvPr id="21" name="Text 19"/>
          <p:cNvSpPr/>
          <p:nvPr/>
        </p:nvSpPr>
        <p:spPr>
          <a:xfrm>
            <a:off x="548640" y="2322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322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매출순위 추이</a:t>
            </a:r>
            <a:endParaRPr lang="en-US" sz="980" dirty="0"/>
          </a:p>
        </p:txBody>
      </p:sp>
      <p:sp>
        <p:nvSpPr>
          <p:cNvPr id="23" name="Text 21"/>
          <p:cNvSpPr/>
          <p:nvPr/>
        </p:nvSpPr>
        <p:spPr>
          <a:xfrm>
            <a:off x="3794760" y="2322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a:t>
            </a:r>
            <a:endParaRPr lang="en-US" sz="980" dirty="0"/>
          </a:p>
        </p:txBody>
      </p:sp>
      <p:sp>
        <p:nvSpPr>
          <p:cNvPr id="24" name="Text 22"/>
          <p:cNvSpPr/>
          <p:nvPr/>
        </p:nvSpPr>
        <p:spPr>
          <a:xfrm>
            <a:off x="5349240" y="2322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322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322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752344"/>
            <a:ext cx="11109960" cy="411480"/>
          </a:xfrm>
          <a:prstGeom prst="rect">
            <a:avLst/>
          </a:prstGeom>
          <a:solidFill>
            <a:srgbClr val="FAFAFB"/>
          </a:solidFill>
          <a:ln/>
        </p:spPr>
      </p:sp>
      <p:sp>
        <p:nvSpPr>
          <p:cNvPr id="28" name="Text 26"/>
          <p:cNvSpPr/>
          <p:nvPr/>
        </p:nvSpPr>
        <p:spPr>
          <a:xfrm>
            <a:off x="548640" y="2779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779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30" name="Text 28"/>
          <p:cNvSpPr/>
          <p:nvPr/>
        </p:nvSpPr>
        <p:spPr>
          <a:xfrm>
            <a:off x="3794760" y="2779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a:t>
            </a:r>
            <a:endParaRPr lang="en-US" sz="980" dirty="0"/>
          </a:p>
        </p:txBody>
      </p:sp>
      <p:sp>
        <p:nvSpPr>
          <p:cNvPr id="31" name="Text 29"/>
          <p:cNvSpPr/>
          <p:nvPr/>
        </p:nvSpPr>
        <p:spPr>
          <a:xfrm>
            <a:off x="5349240" y="2779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32" name="Text 30"/>
          <p:cNvSpPr/>
          <p:nvPr/>
        </p:nvSpPr>
        <p:spPr>
          <a:xfrm>
            <a:off x="8732520" y="2779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779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34" name="Shape 32"/>
          <p:cNvSpPr/>
          <p:nvPr/>
        </p:nvSpPr>
        <p:spPr>
          <a:xfrm>
            <a:off x="548640" y="3209544"/>
            <a:ext cx="11109960" cy="411480"/>
          </a:xfrm>
          <a:prstGeom prst="rect">
            <a:avLst/>
          </a:prstGeom>
          <a:solidFill>
            <a:srgbClr val="FFFFFF"/>
          </a:solidFill>
          <a:ln/>
        </p:spPr>
      </p:sp>
      <p:sp>
        <p:nvSpPr>
          <p:cNvPr id="35" name="Text 33"/>
          <p:cNvSpPr/>
          <p:nvPr/>
        </p:nvSpPr>
        <p:spPr>
          <a:xfrm>
            <a:off x="548640" y="3236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3236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매출순위 격차</a:t>
            </a:r>
            <a:endParaRPr lang="en-US" sz="980" dirty="0"/>
          </a:p>
        </p:txBody>
      </p:sp>
      <p:sp>
        <p:nvSpPr>
          <p:cNvPr id="37" name="Text 35"/>
          <p:cNvSpPr/>
          <p:nvPr/>
        </p:nvSpPr>
        <p:spPr>
          <a:xfrm>
            <a:off x="3794760" y="3236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 포함)</a:t>
            </a:r>
            <a:endParaRPr lang="en-US" sz="980" dirty="0"/>
          </a:p>
        </p:txBody>
      </p:sp>
      <p:sp>
        <p:nvSpPr>
          <p:cNvPr id="38" name="Text 36"/>
          <p:cNvSpPr/>
          <p:nvPr/>
        </p:nvSpPr>
        <p:spPr>
          <a:xfrm>
            <a:off x="5349240" y="3236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3236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3236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666744"/>
            <a:ext cx="11109960" cy="411480"/>
          </a:xfrm>
          <a:prstGeom prst="rect">
            <a:avLst/>
          </a:prstGeom>
          <a:solidFill>
            <a:srgbClr val="FAFAFB"/>
          </a:solidFill>
          <a:ln/>
        </p:spPr>
      </p:sp>
      <p:sp>
        <p:nvSpPr>
          <p:cNvPr id="42" name="Text 40"/>
          <p:cNvSpPr/>
          <p:nvPr/>
        </p:nvSpPr>
        <p:spPr>
          <a:xfrm>
            <a:off x="548640" y="36941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6941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44" name="Text 42"/>
          <p:cNvSpPr/>
          <p:nvPr/>
        </p:nvSpPr>
        <p:spPr>
          <a:xfrm>
            <a:off x="3794760" y="36941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 포함)</a:t>
            </a:r>
            <a:endParaRPr lang="en-US" sz="980" dirty="0"/>
          </a:p>
        </p:txBody>
      </p:sp>
      <p:sp>
        <p:nvSpPr>
          <p:cNvPr id="45" name="Text 43"/>
          <p:cNvSpPr/>
          <p:nvPr/>
        </p:nvSpPr>
        <p:spPr>
          <a:xfrm>
            <a:off x="5349240" y="36941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T-03 계산값(경쟁작−메이플M)</a:t>
            </a:r>
            <a:endParaRPr lang="en-US" sz="980" dirty="0"/>
          </a:p>
        </p:txBody>
      </p:sp>
      <p:sp>
        <p:nvSpPr>
          <p:cNvPr id="46" name="Text 44"/>
          <p:cNvSpPr/>
          <p:nvPr/>
        </p:nvSpPr>
        <p:spPr>
          <a:xfrm>
            <a:off x="8732520" y="36941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7" name="Text 45"/>
          <p:cNvSpPr/>
          <p:nvPr/>
        </p:nvSpPr>
        <p:spPr>
          <a:xfrm>
            <a:off x="9829800" y="36941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8" name="Shape 46"/>
          <p:cNvSpPr/>
          <p:nvPr/>
        </p:nvSpPr>
        <p:spPr>
          <a:xfrm>
            <a:off x="548640" y="4123944"/>
            <a:ext cx="11109960" cy="411480"/>
          </a:xfrm>
          <a:prstGeom prst="rect">
            <a:avLst/>
          </a:prstGeom>
          <a:solidFill>
            <a:srgbClr val="FFFFFF"/>
          </a:solidFill>
          <a:ln/>
        </p:spPr>
      </p:sp>
      <p:sp>
        <p:nvSpPr>
          <p:cNvPr id="49" name="Text 47"/>
          <p:cNvSpPr/>
          <p:nvPr/>
        </p:nvSpPr>
        <p:spPr>
          <a:xfrm>
            <a:off x="548640" y="41513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41513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51" name="Text 49"/>
          <p:cNvSpPr/>
          <p:nvPr/>
        </p:nvSpPr>
        <p:spPr>
          <a:xfrm>
            <a:off x="3794760" y="41513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52" name="Text 50"/>
          <p:cNvSpPr/>
          <p:nvPr/>
        </p:nvSpPr>
        <p:spPr>
          <a:xfrm>
            <a:off x="5349240" y="41513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53" name="Text 51"/>
          <p:cNvSpPr/>
          <p:nvPr/>
        </p:nvSpPr>
        <p:spPr>
          <a:xfrm>
            <a:off x="8732520" y="41513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54" name="Text 52"/>
          <p:cNvSpPr/>
          <p:nvPr/>
        </p:nvSpPr>
        <p:spPr>
          <a:xfrm>
            <a:off x="9829800" y="41513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55" name="Shape 53"/>
          <p:cNvSpPr/>
          <p:nvPr/>
        </p:nvSpPr>
        <p:spPr>
          <a:xfrm>
            <a:off x="548640" y="4581144"/>
            <a:ext cx="11109960" cy="411480"/>
          </a:xfrm>
          <a:prstGeom prst="rect">
            <a:avLst/>
          </a:prstGeom>
          <a:solidFill>
            <a:srgbClr val="FAFAFB"/>
          </a:solidFill>
          <a:ln/>
        </p:spPr>
      </p:sp>
      <p:sp>
        <p:nvSpPr>
          <p:cNvPr id="56" name="Text 54"/>
          <p:cNvSpPr/>
          <p:nvPr/>
        </p:nvSpPr>
        <p:spPr>
          <a:xfrm>
            <a:off x="548640" y="46085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46085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58" name="Text 56"/>
          <p:cNvSpPr/>
          <p:nvPr/>
        </p:nvSpPr>
        <p:spPr>
          <a:xfrm>
            <a:off x="3794760" y="46085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59" name="Text 57"/>
          <p:cNvSpPr/>
          <p:nvPr/>
        </p:nvSpPr>
        <p:spPr>
          <a:xfrm>
            <a:off x="5349240" y="46085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 계산값</a:t>
            </a:r>
            <a:endParaRPr lang="en-US" sz="980" dirty="0"/>
          </a:p>
        </p:txBody>
      </p:sp>
      <p:sp>
        <p:nvSpPr>
          <p:cNvPr id="60" name="Text 58"/>
          <p:cNvSpPr/>
          <p:nvPr/>
        </p:nvSpPr>
        <p:spPr>
          <a:xfrm>
            <a:off x="8732520" y="46085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61" name="Text 59"/>
          <p:cNvSpPr/>
          <p:nvPr/>
        </p:nvSpPr>
        <p:spPr>
          <a:xfrm>
            <a:off x="9829800" y="46085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62" name="Shape 60"/>
          <p:cNvSpPr/>
          <p:nvPr/>
        </p:nvSpPr>
        <p:spPr>
          <a:xfrm>
            <a:off x="548640" y="5038344"/>
            <a:ext cx="11109960" cy="411480"/>
          </a:xfrm>
          <a:prstGeom prst="rect">
            <a:avLst/>
          </a:prstGeom>
          <a:solidFill>
            <a:srgbClr val="FFFFFF"/>
          </a:solidFill>
          <a:ln/>
        </p:spPr>
      </p:sp>
      <p:sp>
        <p:nvSpPr>
          <p:cNvPr id="63" name="Text 61"/>
          <p:cNvSpPr/>
          <p:nvPr/>
        </p:nvSpPr>
        <p:spPr>
          <a:xfrm>
            <a:off x="548640" y="50657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50657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65" name="Text 63"/>
          <p:cNvSpPr/>
          <p:nvPr/>
        </p:nvSpPr>
        <p:spPr>
          <a:xfrm>
            <a:off x="3794760" y="50657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66" name="Text 64"/>
          <p:cNvSpPr/>
          <p:nvPr/>
        </p:nvSpPr>
        <p:spPr>
          <a:xfrm>
            <a:off x="5349240" y="50657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67" name="Text 65"/>
          <p:cNvSpPr/>
          <p:nvPr/>
        </p:nvSpPr>
        <p:spPr>
          <a:xfrm>
            <a:off x="8732520" y="50657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68" name="Text 66"/>
          <p:cNvSpPr/>
          <p:nvPr/>
        </p:nvSpPr>
        <p:spPr>
          <a:xfrm>
            <a:off x="9829800" y="50657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69" name="Shape 67"/>
          <p:cNvSpPr/>
          <p:nvPr/>
        </p:nvSpPr>
        <p:spPr>
          <a:xfrm>
            <a:off x="548640" y="5495544"/>
            <a:ext cx="11109960" cy="411480"/>
          </a:xfrm>
          <a:prstGeom prst="rect">
            <a:avLst/>
          </a:prstGeom>
          <a:solidFill>
            <a:srgbClr val="FAFAFB"/>
          </a:solidFill>
          <a:ln/>
        </p:spPr>
      </p:sp>
      <p:sp>
        <p:nvSpPr>
          <p:cNvPr id="70" name="Text 68"/>
          <p:cNvSpPr/>
          <p:nvPr/>
        </p:nvSpPr>
        <p:spPr>
          <a:xfrm>
            <a:off x="548640" y="5522976"/>
            <a:ext cx="685800" cy="35661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5522976"/>
            <a:ext cx="2194560" cy="35661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72" name="Text 70"/>
          <p:cNvSpPr/>
          <p:nvPr/>
        </p:nvSpPr>
        <p:spPr>
          <a:xfrm>
            <a:off x="3794760" y="5522976"/>
            <a:ext cx="13716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73" name="Text 71"/>
          <p:cNvSpPr/>
          <p:nvPr/>
        </p:nvSpPr>
        <p:spPr>
          <a:xfrm>
            <a:off x="5349240" y="5522976"/>
            <a:ext cx="3200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T-06·T-07 + T-02·T-03 교차</a:t>
            </a:r>
            <a:endParaRPr lang="en-US" sz="980" dirty="0"/>
          </a:p>
        </p:txBody>
      </p:sp>
      <p:sp>
        <p:nvSpPr>
          <p:cNvPr id="74" name="Text 72"/>
          <p:cNvSpPr/>
          <p:nvPr/>
        </p:nvSpPr>
        <p:spPr>
          <a:xfrm>
            <a:off x="8732520" y="5522976"/>
            <a:ext cx="914400" cy="35661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75" name="Text 73"/>
          <p:cNvSpPr/>
          <p:nvPr/>
        </p:nvSpPr>
        <p:spPr>
          <a:xfrm>
            <a:off x="9829800" y="5522976"/>
            <a:ext cx="1645920" cy="35661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2026-08-27T01:36:47Z</dcterms:created>
  <dcterms:modified xsi:type="dcterms:W3CDTF">2026-08-27T01:36:47Z</dcterms:modified>
</cp:coreProperties>
</file>