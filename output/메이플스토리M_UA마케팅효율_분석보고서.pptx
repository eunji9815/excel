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5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4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구글 플레이스토어 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구글 플레이스토어 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구글 플레이스토어 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구글 플레이스토어 앱마켓 순위·이용자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구글 플레이스토어 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구글 플레이스토어 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구글 플레이스토어 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구글 플레이스토어 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mobileindex.com(구글 플레이스토어 순위) · 숫자가 낮을수록 상위 순위 · 검은사막M은 200위(차트 상한)로 클램프 — 7/20 이후 미집계(실제 순위는 200보다 낮을 수 있음)</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마비노기 21위 — 마비노기가 8계단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7/20 이후 순위 데이터가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아이온2 62위 — 메이플이 33계단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순위는 숫자가 작을수록 좋은 순위입니다(1위가 최고). 예: 21위가 62위보다 더 좋은 순위예요.</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마비노기 51위 — 메이플이 10계단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3월 이후 데이터가 거의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아이온2 101위 — 메이플이 60계단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순위도 숫자가 작을수록 좋은 순위입니다(1위가 최고). 두 게임의 실제 순위를 나란히 놓고 비교하는 그래프예요.</a:t>
            </a:r>
            <a:endParaRPr lang="en-US" sz="1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구글 플레이스토어 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97%는 메이플이 뒤처짐 (평균 47.5계단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90.7계단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38.1계단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순위는 숫자가 작을수록 좋으므로, 값이 0보다 위(+)면 메이플M이 더 좋은 순위, 0보다 아래(−)면 더 나쁜 순위예요. 예) 마비노기 20위, 메이플M 90위 → 20−90=−70, 그래서 그래프가 마이너스로 내려갑니다.</a:t>
            </a:r>
            <a:endParaRPr lang="en-US" sz="10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이용자순위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52.5계단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118.3계단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82%는 메이플이 뒤처짐 (평균 21.2계단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값이 0보다 위(+)면 메이플M이 더 좋은 순위, 0보다 아래(−)면 더 나쁜 순위라는 뜻이에요. 마이너스는 '나쁜 숫자'가 아니라 방향(뒤처짐)을 나타냅니다.</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417320"/>
            <a:ext cx="11064240" cy="384048"/>
          </a:xfrm>
          <a:prstGeom prst="roundRect">
            <a:avLst>
              <a:gd name="adj" fmla="val 11905"/>
            </a:avLst>
          </a:prstGeom>
          <a:solidFill>
            <a:srgbClr val="FFF3EC"/>
          </a:solidFill>
          <a:ln w="12700">
            <a:solidFill>
              <a:srgbClr val="F6D9C6"/>
            </a:solidFill>
            <a:prstDash val="solid"/>
          </a:ln>
        </p:spPr>
      </p:sp>
      <p:sp>
        <p:nvSpPr>
          <p:cNvPr id="9" name="Text 7"/>
          <p:cNvSpPr/>
          <p:nvPr/>
        </p:nvSpPr>
        <p:spPr>
          <a:xfrm>
            <a:off x="777240" y="1417320"/>
            <a:ext cx="10607040" cy="384048"/>
          </a:xfrm>
          <a:prstGeom prst="rect">
            <a:avLst/>
          </a:prstGeom>
          <a:noFill/>
          <a:ln/>
        </p:spPr>
        <p:txBody>
          <a:bodyPr wrap="square" lIns="0" tIns="0" rIns="0" bIns="0" rtlCol="0" anchor="ctr"/>
          <a:lstStyle/>
          <a:p>
            <a:pPr indent="0" marL="0">
              <a:buNone/>
            </a:pPr>
            <a:r>
              <a:rPr lang="en-US" sz="1080" b="1" dirty="0">
                <a:solidFill>
                  <a:srgbClr val="F0692B"/>
                </a:solidFill>
                <a:latin typeface="Calibri" pitchFamily="34" charset="0"/>
                <a:ea typeface="Calibri" pitchFamily="34" charset="-122"/>
                <a:cs typeface="Calibri" pitchFamily="34" charset="-120"/>
              </a:rPr>
              <a:t>YoY(Year over Year)란?  </a:t>
            </a:r>
            <a:pPr indent="0" marL="0">
              <a:buNone/>
            </a:pPr>
            <a:r>
              <a:rPr lang="en-US" sz="1080" dirty="0">
                <a:solidFill>
                  <a:srgbClr val="5A3B26"/>
                </a:solidFill>
                <a:latin typeface="Calibri" pitchFamily="34" charset="0"/>
                <a:ea typeface="Calibri" pitchFamily="34" charset="-122"/>
                <a:cs typeface="Calibri" pitchFamily="34" charset="-120"/>
              </a:rPr>
              <a:t>전년 동기 대비 증감률. 예) 작년 1,352억원 → 올해 836억원이면 (836−1,352)÷1,352×100 = −38.2%</a:t>
            </a:r>
            <a:endParaRPr lang="en-US" sz="1080" dirty="0"/>
          </a:p>
        </p:txBody>
      </p:sp>
      <p:sp>
        <p:nvSpPr>
          <p:cNvPr id="10" name="Shape 8"/>
          <p:cNvSpPr/>
          <p:nvPr/>
        </p:nvSpPr>
        <p:spPr>
          <a:xfrm>
            <a:off x="548640" y="1965960"/>
            <a:ext cx="3474720" cy="1600200"/>
          </a:xfrm>
          <a:prstGeom prst="roundRect">
            <a:avLst>
              <a:gd name="adj" fmla="val 4000"/>
            </a:avLst>
          </a:prstGeom>
          <a:solidFill>
            <a:srgbClr val="FAFAFB"/>
          </a:solidFill>
          <a:ln w="12700">
            <a:solidFill>
              <a:srgbClr val="EBEBF0"/>
            </a:solidFill>
            <a:prstDash val="solid"/>
          </a:ln>
        </p:spPr>
      </p:sp>
      <p:sp>
        <p:nvSpPr>
          <p:cNvPr id="11" name="Text 9"/>
          <p:cNvSpPr/>
          <p:nvPr/>
        </p:nvSpPr>
        <p:spPr>
          <a:xfrm>
            <a:off x="73152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2" name="Text 10"/>
          <p:cNvSpPr/>
          <p:nvPr/>
        </p:nvSpPr>
        <p:spPr>
          <a:xfrm>
            <a:off x="731520" y="2423160"/>
            <a:ext cx="3108960" cy="731520"/>
          </a:xfrm>
          <a:prstGeom prst="rect">
            <a:avLst/>
          </a:prstGeom>
          <a:noFill/>
          <a:ln/>
        </p:spPr>
        <p:txBody>
          <a:bodyPr wrap="square" lIns="0" tIns="0" rIns="0" bIns="0" rtlCol="0" anchor="ctr"/>
          <a:lstStyle/>
          <a:p>
            <a:pPr indent="0" marL="0">
              <a:buNone/>
            </a:pPr>
            <a:r>
              <a:rPr lang="en-US" sz="3000" b="1" dirty="0">
                <a:solidFill>
                  <a:srgbClr val="F0692B"/>
                </a:solidFill>
                <a:latin typeface="Cambria" pitchFamily="34" charset="0"/>
                <a:ea typeface="Cambria" pitchFamily="34" charset="-122"/>
                <a:cs typeface="Cambria" pitchFamily="34" charset="-120"/>
              </a:rPr>
              <a:t>+29.4%</a:t>
            </a:r>
            <a:endParaRPr lang="en-US" sz="3000" dirty="0"/>
          </a:p>
        </p:txBody>
      </p:sp>
      <p:sp>
        <p:nvSpPr>
          <p:cNvPr id="13" name="Text 11"/>
          <p:cNvSpPr/>
          <p:nvPr/>
        </p:nvSpPr>
        <p:spPr>
          <a:xfrm>
            <a:off x="73152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4" name="Shape 12"/>
          <p:cNvSpPr/>
          <p:nvPr/>
        </p:nvSpPr>
        <p:spPr>
          <a:xfrm>
            <a:off x="4251960" y="1965960"/>
            <a:ext cx="3474720" cy="1600200"/>
          </a:xfrm>
          <a:prstGeom prst="roundRect">
            <a:avLst>
              <a:gd name="adj" fmla="val 4000"/>
            </a:avLst>
          </a:prstGeom>
          <a:solidFill>
            <a:srgbClr val="FAFAFB"/>
          </a:solidFill>
          <a:ln w="12700">
            <a:solidFill>
              <a:srgbClr val="EBEBF0"/>
            </a:solidFill>
            <a:prstDash val="solid"/>
          </a:ln>
        </p:spPr>
      </p:sp>
      <p:sp>
        <p:nvSpPr>
          <p:cNvPr id="15" name="Text 13"/>
          <p:cNvSpPr/>
          <p:nvPr/>
        </p:nvSpPr>
        <p:spPr>
          <a:xfrm>
            <a:off x="443484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6" name="Text 14"/>
          <p:cNvSpPr/>
          <p:nvPr/>
        </p:nvSpPr>
        <p:spPr>
          <a:xfrm>
            <a:off x="4434840" y="2423160"/>
            <a:ext cx="3108960" cy="731520"/>
          </a:xfrm>
          <a:prstGeom prst="rect">
            <a:avLst/>
          </a:prstGeom>
          <a:noFill/>
          <a:ln/>
        </p:spPr>
        <p:txBody>
          <a:bodyPr wrap="square" lIns="0" tIns="0" rIns="0" bIns="0" rtlCol="0" anchor="ctr"/>
          <a:lstStyle/>
          <a:p>
            <a:pPr indent="0" marL="0">
              <a:buNone/>
            </a:pPr>
            <a:r>
              <a:rPr lang="en-US" sz="3000" b="1" dirty="0">
                <a:solidFill>
                  <a:srgbClr val="8B2635"/>
                </a:solidFill>
                <a:latin typeface="Cambria" pitchFamily="34" charset="0"/>
                <a:ea typeface="Cambria" pitchFamily="34" charset="-122"/>
                <a:cs typeface="Cambria" pitchFamily="34" charset="-120"/>
              </a:rPr>
              <a:t>-6.7%</a:t>
            </a:r>
            <a:endParaRPr lang="en-US" sz="3000" dirty="0"/>
          </a:p>
        </p:txBody>
      </p:sp>
      <p:sp>
        <p:nvSpPr>
          <p:cNvPr id="17" name="Text 15"/>
          <p:cNvSpPr/>
          <p:nvPr/>
        </p:nvSpPr>
        <p:spPr>
          <a:xfrm>
            <a:off x="443484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8" name="Shape 16"/>
          <p:cNvSpPr/>
          <p:nvPr/>
        </p:nvSpPr>
        <p:spPr>
          <a:xfrm>
            <a:off x="7955280" y="1965960"/>
            <a:ext cx="3474720" cy="1600200"/>
          </a:xfrm>
          <a:prstGeom prst="roundRect">
            <a:avLst>
              <a:gd name="adj" fmla="val 4000"/>
            </a:avLst>
          </a:prstGeom>
          <a:solidFill>
            <a:srgbClr val="FAFAFB"/>
          </a:solidFill>
          <a:ln w="12700">
            <a:solidFill>
              <a:srgbClr val="EBEBF0"/>
            </a:solidFill>
            <a:prstDash val="solid"/>
          </a:ln>
        </p:spPr>
      </p:sp>
      <p:sp>
        <p:nvSpPr>
          <p:cNvPr id="19" name="Text 17"/>
          <p:cNvSpPr/>
          <p:nvPr/>
        </p:nvSpPr>
        <p:spPr>
          <a:xfrm>
            <a:off x="813816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20" name="Text 18"/>
          <p:cNvSpPr/>
          <p:nvPr/>
        </p:nvSpPr>
        <p:spPr>
          <a:xfrm>
            <a:off x="8138160" y="2423160"/>
            <a:ext cx="3108960" cy="731520"/>
          </a:xfrm>
          <a:prstGeom prst="rect">
            <a:avLst/>
          </a:prstGeom>
          <a:noFill/>
          <a:ln/>
        </p:spPr>
        <p:txBody>
          <a:bodyPr wrap="square" lIns="0" tIns="0" rIns="0" bIns="0" rtlCol="0" anchor="ctr"/>
          <a:lstStyle/>
          <a:p>
            <a:pPr indent="0" marL="0">
              <a:buNone/>
            </a:pPr>
            <a:r>
              <a:rPr lang="en-US" sz="3000" b="1" dirty="0">
                <a:solidFill>
                  <a:srgbClr val="6B4FA0"/>
                </a:solidFill>
                <a:latin typeface="Cambria" pitchFamily="34" charset="0"/>
                <a:ea typeface="Cambria" pitchFamily="34" charset="-122"/>
                <a:cs typeface="Cambria" pitchFamily="34" charset="-120"/>
              </a:rPr>
              <a:t>-38.2%</a:t>
            </a:r>
            <a:endParaRPr lang="en-US" sz="3000" dirty="0"/>
          </a:p>
        </p:txBody>
      </p:sp>
      <p:sp>
        <p:nvSpPr>
          <p:cNvPr id="21" name="Text 19"/>
          <p:cNvSpPr/>
          <p:nvPr/>
        </p:nvSpPr>
        <p:spPr>
          <a:xfrm>
            <a:off x="813816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2" name="Text 20"/>
          <p:cNvSpPr/>
          <p:nvPr/>
        </p:nvSpPr>
        <p:spPr>
          <a:xfrm>
            <a:off x="548640" y="3749040"/>
            <a:ext cx="9144000" cy="292608"/>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3" name="Shape 21"/>
          <p:cNvSpPr/>
          <p:nvPr/>
        </p:nvSpPr>
        <p:spPr>
          <a:xfrm>
            <a:off x="548640" y="4096512"/>
            <a:ext cx="5349240" cy="1737360"/>
          </a:xfrm>
          <a:prstGeom prst="roundRect">
            <a:avLst>
              <a:gd name="adj" fmla="val 3684"/>
            </a:avLst>
          </a:prstGeom>
          <a:solidFill>
            <a:srgbClr val="FAFAFB"/>
          </a:solidFill>
          <a:ln w="12700">
            <a:solidFill>
              <a:srgbClr val="EBEBF0"/>
            </a:solidFill>
            <a:prstDash val="solid"/>
          </a:ln>
        </p:spPr>
      </p:sp>
      <p:sp>
        <p:nvSpPr>
          <p:cNvPr id="24" name="Text 22"/>
          <p:cNvSpPr/>
          <p:nvPr/>
        </p:nvSpPr>
        <p:spPr>
          <a:xfrm>
            <a:off x="822960" y="4206240"/>
            <a:ext cx="4846320" cy="292608"/>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5" name="Text 23"/>
          <p:cNvSpPr/>
          <p:nvPr/>
        </p:nvSpPr>
        <p:spPr>
          <a:xfrm>
            <a:off x="82296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325.3억원</a:t>
            </a:r>
            <a:endParaRPr lang="en-US" sz="2400" dirty="0"/>
          </a:p>
        </p:txBody>
      </p:sp>
      <p:sp>
        <p:nvSpPr>
          <p:cNvPr id="26" name="Text 24"/>
          <p:cNvSpPr/>
          <p:nvPr/>
        </p:nvSpPr>
        <p:spPr>
          <a:xfrm>
            <a:off x="82296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50" dirty="0"/>
          </a:p>
        </p:txBody>
      </p:sp>
      <p:sp>
        <p:nvSpPr>
          <p:cNvPr id="27" name="Shape 25"/>
          <p:cNvSpPr/>
          <p:nvPr/>
        </p:nvSpPr>
        <p:spPr>
          <a:xfrm>
            <a:off x="6080760" y="4096512"/>
            <a:ext cx="5349240" cy="1737360"/>
          </a:xfrm>
          <a:prstGeom prst="roundRect">
            <a:avLst>
              <a:gd name="adj" fmla="val 3684"/>
            </a:avLst>
          </a:prstGeom>
          <a:solidFill>
            <a:srgbClr val="FAFAFB"/>
          </a:solidFill>
          <a:ln w="12700">
            <a:solidFill>
              <a:srgbClr val="EBEBF0"/>
            </a:solidFill>
            <a:prstDash val="solid"/>
          </a:ln>
        </p:spPr>
      </p:sp>
      <p:sp>
        <p:nvSpPr>
          <p:cNvPr id="28" name="Text 26"/>
          <p:cNvSpPr/>
          <p:nvPr/>
        </p:nvSpPr>
        <p:spPr>
          <a:xfrm>
            <a:off x="6355080" y="4206240"/>
            <a:ext cx="4846320" cy="292608"/>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9" name="Text 27"/>
          <p:cNvSpPr/>
          <p:nvPr/>
        </p:nvSpPr>
        <p:spPr>
          <a:xfrm>
            <a:off x="635508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1,908.8억원</a:t>
            </a:r>
            <a:endParaRPr lang="en-US" sz="2400" dirty="0"/>
          </a:p>
        </p:txBody>
      </p:sp>
      <p:sp>
        <p:nvSpPr>
          <p:cNvPr id="30" name="Text 28"/>
          <p:cNvSpPr/>
          <p:nvPr/>
        </p:nvSpPr>
        <p:spPr>
          <a:xfrm>
            <a:off x="635508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50" dirty="0"/>
          </a:p>
        </p:txBody>
      </p:sp>
      <p:sp>
        <p:nvSpPr>
          <p:cNvPr id="31" name="Text 29"/>
          <p:cNvSpPr/>
          <p:nvPr/>
        </p:nvSpPr>
        <p:spPr>
          <a:xfrm>
            <a:off x="548640" y="594360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구글 플레이스토어 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3월·구글 플레이스토어 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27</a:t>
            </a:r>
            <a:endParaRPr lang="en-US" sz="900" dirty="0"/>
          </a:p>
        </p:txBody>
      </p:sp>
      <p:sp>
        <p:nvSpPr>
          <p:cNvPr id="5" name="Shape 3"/>
          <p:cNvSpPr/>
          <p:nvPr/>
        </p:nvSpPr>
        <p:spPr>
          <a:xfrm>
            <a:off x="1847088" y="1920240"/>
            <a:ext cx="8476488" cy="0"/>
          </a:xfrm>
          <a:prstGeom prst="line">
            <a:avLst/>
          </a:prstGeom>
          <a:noFill/>
          <a:ln w="25400">
            <a:solidFill>
              <a:srgbClr val="E1E2E8"/>
            </a:solidFill>
            <a:prstDash val="solid"/>
          </a:ln>
        </p:spPr>
      </p:sp>
      <p:sp>
        <p:nvSpPr>
          <p:cNvPr id="6" name="Text 4"/>
          <p:cNvSpPr/>
          <p:nvPr/>
        </p:nvSpPr>
        <p:spPr>
          <a:xfrm>
            <a:off x="932688" y="1554480"/>
            <a:ext cx="1828800" cy="274320"/>
          </a:xfrm>
          <a:prstGeom prst="rect">
            <a:avLst/>
          </a:prstGeom>
          <a:noFill/>
          <a:ln/>
        </p:spPr>
        <p:txBody>
          <a:bodyPr wrap="square" lIns="0" tIns="0" rIns="0" bIns="0" rtlCol="0" anchor="ctr"/>
          <a:lstStyle/>
          <a:p>
            <a:pPr algn="ctr" indent="0" marL="0">
              <a:buNone/>
            </a:pPr>
            <a:r>
              <a:rPr lang="en-US" sz="1350" b="1" dirty="0">
                <a:solidFill>
                  <a:srgbClr val="F0692B"/>
                </a:solidFill>
                <a:latin typeface="Cambria" pitchFamily="34" charset="0"/>
                <a:ea typeface="Cambria" pitchFamily="34" charset="-122"/>
                <a:cs typeface="Cambria" pitchFamily="34" charset="-120"/>
              </a:rPr>
              <a:t>26 Q4</a:t>
            </a:r>
            <a:endParaRPr lang="en-US" sz="1350" dirty="0"/>
          </a:p>
        </p:txBody>
      </p:sp>
      <p:sp>
        <p:nvSpPr>
          <p:cNvPr id="7" name="Shape 5"/>
          <p:cNvSpPr/>
          <p:nvPr/>
        </p:nvSpPr>
        <p:spPr>
          <a:xfrm>
            <a:off x="1737360" y="1810512"/>
            <a:ext cx="219456" cy="219456"/>
          </a:xfrm>
          <a:prstGeom prst="ellipse">
            <a:avLst/>
          </a:prstGeom>
          <a:solidFill>
            <a:srgbClr val="F0692B"/>
          </a:solidFill>
          <a:ln w="25400">
            <a:solidFill>
              <a:srgbClr val="FFFFFF"/>
            </a:solidFill>
            <a:prstDash val="solid"/>
          </a:ln>
        </p:spPr>
      </p:sp>
      <p:sp>
        <p:nvSpPr>
          <p:cNvPr id="8" name="Shape 6"/>
          <p:cNvSpPr/>
          <p:nvPr/>
        </p:nvSpPr>
        <p:spPr>
          <a:xfrm>
            <a:off x="1847088" y="2029968"/>
            <a:ext cx="0" cy="301752"/>
          </a:xfrm>
          <a:prstGeom prst="line">
            <a:avLst/>
          </a:prstGeom>
          <a:noFill/>
          <a:ln w="19050">
            <a:solidFill>
              <a:srgbClr val="E1E2E8"/>
            </a:solidFill>
            <a:prstDash val="dash"/>
          </a:ln>
        </p:spPr>
      </p:sp>
      <p:sp>
        <p:nvSpPr>
          <p:cNvPr id="9" name="Shape 7"/>
          <p:cNvSpPr/>
          <p:nvPr/>
        </p:nvSpPr>
        <p:spPr>
          <a:xfrm>
            <a:off x="548640" y="2331720"/>
            <a:ext cx="2596896" cy="2743200"/>
          </a:xfrm>
          <a:prstGeom prst="roundRect">
            <a:avLst>
              <a:gd name="adj" fmla="val 2817"/>
            </a:avLst>
          </a:prstGeom>
          <a:solidFill>
            <a:srgbClr val="FAFAFB"/>
          </a:solidFill>
          <a:ln w="12700">
            <a:solidFill>
              <a:srgbClr val="EBEBF0"/>
            </a:solidFill>
            <a:prstDash val="solid"/>
          </a:ln>
        </p:spPr>
      </p:sp>
      <p:sp>
        <p:nvSpPr>
          <p:cNvPr id="10" name="Shape 8"/>
          <p:cNvSpPr/>
          <p:nvPr/>
        </p:nvSpPr>
        <p:spPr>
          <a:xfrm>
            <a:off x="768096" y="2532888"/>
            <a:ext cx="457200" cy="457200"/>
          </a:xfrm>
          <a:prstGeom prst="ellipse">
            <a:avLst/>
          </a:prstGeom>
          <a:solidFill>
            <a:srgbClr val="F0692B"/>
          </a:solidFill>
          <a:ln/>
        </p:spPr>
      </p:sp>
      <p:sp>
        <p:nvSpPr>
          <p:cNvPr id="11" name="Text 9"/>
          <p:cNvSpPr/>
          <p:nvPr/>
        </p:nvSpPr>
        <p:spPr>
          <a:xfrm>
            <a:off x="768096"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10"/>
          <p:cNvSpPr/>
          <p:nvPr/>
        </p:nvSpPr>
        <p:spPr>
          <a:xfrm>
            <a:off x="768096"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공백 방지 체계 구축</a:t>
            </a:r>
            <a:endParaRPr lang="en-US" sz="1400" dirty="0"/>
          </a:p>
        </p:txBody>
      </p:sp>
      <p:sp>
        <p:nvSpPr>
          <p:cNvPr id="13" name="Shape 11"/>
          <p:cNvSpPr/>
          <p:nvPr/>
        </p:nvSpPr>
        <p:spPr>
          <a:xfrm>
            <a:off x="768096" y="3813048"/>
            <a:ext cx="2157984" cy="0"/>
          </a:xfrm>
          <a:prstGeom prst="line">
            <a:avLst/>
          </a:prstGeom>
          <a:noFill/>
          <a:ln w="12700">
            <a:solidFill>
              <a:srgbClr val="E7E7EC"/>
            </a:solidFill>
            <a:prstDash val="solid"/>
          </a:ln>
        </p:spPr>
      </p:sp>
      <p:sp>
        <p:nvSpPr>
          <p:cNvPr id="14" name="Text 12"/>
          <p:cNvSpPr/>
          <p:nvPr/>
        </p:nvSpPr>
        <p:spPr>
          <a:xfrm>
            <a:off x="768096"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1030" dirty="0"/>
          </a:p>
        </p:txBody>
      </p:sp>
      <p:sp>
        <p:nvSpPr>
          <p:cNvPr id="15" name="Text 13"/>
          <p:cNvSpPr/>
          <p:nvPr/>
        </p:nvSpPr>
        <p:spPr>
          <a:xfrm>
            <a:off x="3758184" y="1554480"/>
            <a:ext cx="1828800" cy="274320"/>
          </a:xfrm>
          <a:prstGeom prst="rect">
            <a:avLst/>
          </a:prstGeom>
          <a:noFill/>
          <a:ln/>
        </p:spPr>
        <p:txBody>
          <a:bodyPr wrap="square" lIns="0" tIns="0" rIns="0" bIns="0" rtlCol="0" anchor="ctr"/>
          <a:lstStyle/>
          <a:p>
            <a:pPr algn="ctr" indent="0" marL="0">
              <a:buNone/>
            </a:pPr>
            <a:r>
              <a:rPr lang="en-US" sz="1350" b="1" dirty="0">
                <a:solidFill>
                  <a:srgbClr val="6B4FA0"/>
                </a:solidFill>
                <a:latin typeface="Cambria" pitchFamily="34" charset="0"/>
                <a:ea typeface="Cambria" pitchFamily="34" charset="-122"/>
                <a:cs typeface="Cambria" pitchFamily="34" charset="-120"/>
              </a:rPr>
              <a:t>27 Q1</a:t>
            </a:r>
            <a:endParaRPr lang="en-US" sz="1350" dirty="0"/>
          </a:p>
        </p:txBody>
      </p:sp>
      <p:sp>
        <p:nvSpPr>
          <p:cNvPr id="16" name="Shape 14"/>
          <p:cNvSpPr/>
          <p:nvPr/>
        </p:nvSpPr>
        <p:spPr>
          <a:xfrm>
            <a:off x="4562856" y="1810512"/>
            <a:ext cx="219456" cy="219456"/>
          </a:xfrm>
          <a:prstGeom prst="ellipse">
            <a:avLst/>
          </a:prstGeom>
          <a:solidFill>
            <a:srgbClr val="6B4FA0"/>
          </a:solidFill>
          <a:ln w="25400">
            <a:solidFill>
              <a:srgbClr val="FFFFFF"/>
            </a:solidFill>
            <a:prstDash val="solid"/>
          </a:ln>
        </p:spPr>
      </p:sp>
      <p:sp>
        <p:nvSpPr>
          <p:cNvPr id="17" name="Shape 15"/>
          <p:cNvSpPr/>
          <p:nvPr/>
        </p:nvSpPr>
        <p:spPr>
          <a:xfrm>
            <a:off x="4672584" y="2029968"/>
            <a:ext cx="0" cy="301752"/>
          </a:xfrm>
          <a:prstGeom prst="line">
            <a:avLst/>
          </a:prstGeom>
          <a:noFill/>
          <a:ln w="19050">
            <a:solidFill>
              <a:srgbClr val="E1E2E8"/>
            </a:solidFill>
            <a:prstDash val="dash"/>
          </a:ln>
        </p:spPr>
      </p:sp>
      <p:sp>
        <p:nvSpPr>
          <p:cNvPr id="18" name="Shape 16"/>
          <p:cNvSpPr/>
          <p:nvPr/>
        </p:nvSpPr>
        <p:spPr>
          <a:xfrm>
            <a:off x="3374136" y="2331720"/>
            <a:ext cx="2596896" cy="2743200"/>
          </a:xfrm>
          <a:prstGeom prst="roundRect">
            <a:avLst>
              <a:gd name="adj" fmla="val 2817"/>
            </a:avLst>
          </a:prstGeom>
          <a:solidFill>
            <a:srgbClr val="FAFAFB"/>
          </a:solidFill>
          <a:ln w="12700">
            <a:solidFill>
              <a:srgbClr val="EBEBF0"/>
            </a:solidFill>
            <a:prstDash val="solid"/>
          </a:ln>
        </p:spPr>
      </p:sp>
      <p:sp>
        <p:nvSpPr>
          <p:cNvPr id="19" name="Shape 17"/>
          <p:cNvSpPr/>
          <p:nvPr/>
        </p:nvSpPr>
        <p:spPr>
          <a:xfrm>
            <a:off x="3593592" y="2532888"/>
            <a:ext cx="457200" cy="457200"/>
          </a:xfrm>
          <a:prstGeom prst="ellipse">
            <a:avLst/>
          </a:prstGeom>
          <a:solidFill>
            <a:srgbClr val="6B4FA0"/>
          </a:solidFill>
          <a:ln/>
        </p:spPr>
      </p:sp>
      <p:sp>
        <p:nvSpPr>
          <p:cNvPr id="20" name="Text 18"/>
          <p:cNvSpPr/>
          <p:nvPr/>
        </p:nvSpPr>
        <p:spPr>
          <a:xfrm>
            <a:off x="3593592"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1" name="Text 19"/>
          <p:cNvSpPr/>
          <p:nvPr/>
        </p:nvSpPr>
        <p:spPr>
          <a:xfrm>
            <a:off x="3593592"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UA 계측 체계 파일럿</a:t>
            </a:r>
            <a:endParaRPr lang="en-US" sz="1400" dirty="0"/>
          </a:p>
        </p:txBody>
      </p:sp>
      <p:sp>
        <p:nvSpPr>
          <p:cNvPr id="22" name="Shape 20"/>
          <p:cNvSpPr/>
          <p:nvPr/>
        </p:nvSpPr>
        <p:spPr>
          <a:xfrm>
            <a:off x="3593592" y="3813048"/>
            <a:ext cx="2157984" cy="0"/>
          </a:xfrm>
          <a:prstGeom prst="line">
            <a:avLst/>
          </a:prstGeom>
          <a:noFill/>
          <a:ln w="12700">
            <a:solidFill>
              <a:srgbClr val="E7E7EC"/>
            </a:solidFill>
            <a:prstDash val="solid"/>
          </a:ln>
        </p:spPr>
      </p:sp>
      <p:sp>
        <p:nvSpPr>
          <p:cNvPr id="23" name="Text 21"/>
          <p:cNvSpPr/>
          <p:nvPr/>
        </p:nvSpPr>
        <p:spPr>
          <a:xfrm>
            <a:off x="3593592"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1030" dirty="0"/>
          </a:p>
        </p:txBody>
      </p:sp>
      <p:sp>
        <p:nvSpPr>
          <p:cNvPr id="24" name="Text 22"/>
          <p:cNvSpPr/>
          <p:nvPr/>
        </p:nvSpPr>
        <p:spPr>
          <a:xfrm>
            <a:off x="6583680" y="1554480"/>
            <a:ext cx="1828800" cy="274320"/>
          </a:xfrm>
          <a:prstGeom prst="rect">
            <a:avLst/>
          </a:prstGeom>
          <a:noFill/>
          <a:ln/>
        </p:spPr>
        <p:txBody>
          <a:bodyPr wrap="square" lIns="0" tIns="0" rIns="0" bIns="0" rtlCol="0" anchor="ctr"/>
          <a:lstStyle/>
          <a:p>
            <a:pPr algn="ctr" indent="0" marL="0">
              <a:buNone/>
            </a:pPr>
            <a:r>
              <a:rPr lang="en-US" sz="1350" b="1" dirty="0">
                <a:solidFill>
                  <a:srgbClr val="2FA89A"/>
                </a:solidFill>
                <a:latin typeface="Cambria" pitchFamily="34" charset="0"/>
                <a:ea typeface="Cambria" pitchFamily="34" charset="-122"/>
                <a:cs typeface="Cambria" pitchFamily="34" charset="-120"/>
              </a:rPr>
              <a:t>27 Q1~Q2</a:t>
            </a:r>
            <a:endParaRPr lang="en-US" sz="1350" dirty="0"/>
          </a:p>
        </p:txBody>
      </p:sp>
      <p:sp>
        <p:nvSpPr>
          <p:cNvPr id="25" name="Shape 23"/>
          <p:cNvSpPr/>
          <p:nvPr/>
        </p:nvSpPr>
        <p:spPr>
          <a:xfrm>
            <a:off x="7388352" y="1810512"/>
            <a:ext cx="219456" cy="219456"/>
          </a:xfrm>
          <a:prstGeom prst="ellipse">
            <a:avLst/>
          </a:prstGeom>
          <a:solidFill>
            <a:srgbClr val="2FA89A"/>
          </a:solidFill>
          <a:ln w="25400">
            <a:solidFill>
              <a:srgbClr val="FFFFFF"/>
            </a:solidFill>
            <a:prstDash val="solid"/>
          </a:ln>
        </p:spPr>
      </p:sp>
      <p:sp>
        <p:nvSpPr>
          <p:cNvPr id="26" name="Shape 24"/>
          <p:cNvSpPr/>
          <p:nvPr/>
        </p:nvSpPr>
        <p:spPr>
          <a:xfrm>
            <a:off x="7498080" y="2029968"/>
            <a:ext cx="0" cy="301752"/>
          </a:xfrm>
          <a:prstGeom prst="line">
            <a:avLst/>
          </a:prstGeom>
          <a:noFill/>
          <a:ln w="19050">
            <a:solidFill>
              <a:srgbClr val="E1E2E8"/>
            </a:solidFill>
            <a:prstDash val="dash"/>
          </a:ln>
        </p:spPr>
      </p:sp>
      <p:sp>
        <p:nvSpPr>
          <p:cNvPr id="27" name="Shape 25"/>
          <p:cNvSpPr/>
          <p:nvPr/>
        </p:nvSpPr>
        <p:spPr>
          <a:xfrm>
            <a:off x="6199632" y="2331720"/>
            <a:ext cx="2596896" cy="2743200"/>
          </a:xfrm>
          <a:prstGeom prst="roundRect">
            <a:avLst>
              <a:gd name="adj" fmla="val 2817"/>
            </a:avLst>
          </a:prstGeom>
          <a:solidFill>
            <a:srgbClr val="FAFAFB"/>
          </a:solidFill>
          <a:ln w="12700">
            <a:solidFill>
              <a:srgbClr val="EBEBF0"/>
            </a:solidFill>
            <a:prstDash val="solid"/>
          </a:ln>
        </p:spPr>
      </p:sp>
      <p:sp>
        <p:nvSpPr>
          <p:cNvPr id="28" name="Shape 26"/>
          <p:cNvSpPr/>
          <p:nvPr/>
        </p:nvSpPr>
        <p:spPr>
          <a:xfrm>
            <a:off x="6419088" y="2532888"/>
            <a:ext cx="457200" cy="457200"/>
          </a:xfrm>
          <a:prstGeom prst="ellipse">
            <a:avLst/>
          </a:prstGeom>
          <a:solidFill>
            <a:srgbClr val="2FA89A"/>
          </a:solidFill>
          <a:ln/>
        </p:spPr>
      </p:sp>
      <p:sp>
        <p:nvSpPr>
          <p:cNvPr id="29" name="Text 27"/>
          <p:cNvSpPr/>
          <p:nvPr/>
        </p:nvSpPr>
        <p:spPr>
          <a:xfrm>
            <a:off x="6419088"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0" name="Text 28"/>
          <p:cNvSpPr/>
          <p:nvPr/>
        </p:nvSpPr>
        <p:spPr>
          <a:xfrm>
            <a:off x="6419088"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리브랜딩 캠페인 런칭</a:t>
            </a:r>
            <a:endParaRPr lang="en-US" sz="1400" dirty="0"/>
          </a:p>
        </p:txBody>
      </p:sp>
      <p:sp>
        <p:nvSpPr>
          <p:cNvPr id="31" name="Shape 29"/>
          <p:cNvSpPr/>
          <p:nvPr/>
        </p:nvSpPr>
        <p:spPr>
          <a:xfrm>
            <a:off x="6419088" y="3813048"/>
            <a:ext cx="2157984" cy="0"/>
          </a:xfrm>
          <a:prstGeom prst="line">
            <a:avLst/>
          </a:prstGeom>
          <a:noFill/>
          <a:ln w="12700">
            <a:solidFill>
              <a:srgbClr val="E7E7EC"/>
            </a:solidFill>
            <a:prstDash val="solid"/>
          </a:ln>
        </p:spPr>
      </p:sp>
      <p:sp>
        <p:nvSpPr>
          <p:cNvPr id="32" name="Text 30"/>
          <p:cNvSpPr/>
          <p:nvPr/>
        </p:nvSpPr>
        <p:spPr>
          <a:xfrm>
            <a:off x="6419088"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1030" dirty="0"/>
          </a:p>
        </p:txBody>
      </p:sp>
      <p:sp>
        <p:nvSpPr>
          <p:cNvPr id="33" name="Text 31"/>
          <p:cNvSpPr/>
          <p:nvPr/>
        </p:nvSpPr>
        <p:spPr>
          <a:xfrm>
            <a:off x="9409176" y="1554480"/>
            <a:ext cx="1828800" cy="274320"/>
          </a:xfrm>
          <a:prstGeom prst="rect">
            <a:avLst/>
          </a:prstGeom>
          <a:noFill/>
          <a:ln/>
        </p:spPr>
        <p:txBody>
          <a:bodyPr wrap="square" lIns="0" tIns="0" rIns="0" bIns="0" rtlCol="0" anchor="ctr"/>
          <a:lstStyle/>
          <a:p>
            <a:pPr algn="ctr" indent="0" marL="0">
              <a:buNone/>
            </a:pPr>
            <a:r>
              <a:rPr lang="en-US" sz="1350" b="1" dirty="0">
                <a:solidFill>
                  <a:srgbClr val="E8B84B"/>
                </a:solidFill>
                <a:latin typeface="Cambria" pitchFamily="34" charset="0"/>
                <a:ea typeface="Cambria" pitchFamily="34" charset="-122"/>
                <a:cs typeface="Cambria" pitchFamily="34" charset="-120"/>
              </a:rPr>
              <a:t>27 Q2</a:t>
            </a:r>
            <a:endParaRPr lang="en-US" sz="1350" dirty="0"/>
          </a:p>
        </p:txBody>
      </p:sp>
      <p:sp>
        <p:nvSpPr>
          <p:cNvPr id="34" name="Shape 32"/>
          <p:cNvSpPr/>
          <p:nvPr/>
        </p:nvSpPr>
        <p:spPr>
          <a:xfrm>
            <a:off x="10213848" y="1810512"/>
            <a:ext cx="219456" cy="219456"/>
          </a:xfrm>
          <a:prstGeom prst="ellipse">
            <a:avLst/>
          </a:prstGeom>
          <a:solidFill>
            <a:srgbClr val="E8B84B"/>
          </a:solidFill>
          <a:ln w="25400">
            <a:solidFill>
              <a:srgbClr val="FFFFFF"/>
            </a:solidFill>
            <a:prstDash val="solid"/>
          </a:ln>
        </p:spPr>
      </p:sp>
      <p:sp>
        <p:nvSpPr>
          <p:cNvPr id="35" name="Shape 33"/>
          <p:cNvSpPr/>
          <p:nvPr/>
        </p:nvSpPr>
        <p:spPr>
          <a:xfrm>
            <a:off x="10323576" y="2029968"/>
            <a:ext cx="0" cy="301752"/>
          </a:xfrm>
          <a:prstGeom prst="line">
            <a:avLst/>
          </a:prstGeom>
          <a:noFill/>
          <a:ln w="19050">
            <a:solidFill>
              <a:srgbClr val="E1E2E8"/>
            </a:solidFill>
            <a:prstDash val="dash"/>
          </a:ln>
        </p:spPr>
      </p:sp>
      <p:sp>
        <p:nvSpPr>
          <p:cNvPr id="36" name="Shape 34"/>
          <p:cNvSpPr/>
          <p:nvPr/>
        </p:nvSpPr>
        <p:spPr>
          <a:xfrm>
            <a:off x="9025128" y="2331720"/>
            <a:ext cx="2596896" cy="2743200"/>
          </a:xfrm>
          <a:prstGeom prst="roundRect">
            <a:avLst>
              <a:gd name="adj" fmla="val 2817"/>
            </a:avLst>
          </a:prstGeom>
          <a:solidFill>
            <a:srgbClr val="FAFAFB"/>
          </a:solidFill>
          <a:ln w="12700">
            <a:solidFill>
              <a:srgbClr val="EBEBF0"/>
            </a:solidFill>
            <a:prstDash val="solid"/>
          </a:ln>
        </p:spPr>
      </p:sp>
      <p:sp>
        <p:nvSpPr>
          <p:cNvPr id="37" name="Shape 35"/>
          <p:cNvSpPr/>
          <p:nvPr/>
        </p:nvSpPr>
        <p:spPr>
          <a:xfrm>
            <a:off x="9244584" y="2532888"/>
            <a:ext cx="457200" cy="457200"/>
          </a:xfrm>
          <a:prstGeom prst="ellipse">
            <a:avLst/>
          </a:prstGeom>
          <a:solidFill>
            <a:srgbClr val="E8B84B"/>
          </a:solidFill>
          <a:ln/>
        </p:spPr>
      </p:sp>
      <p:sp>
        <p:nvSpPr>
          <p:cNvPr id="38" name="Text 36"/>
          <p:cNvSpPr/>
          <p:nvPr/>
        </p:nvSpPr>
        <p:spPr>
          <a:xfrm>
            <a:off x="9244584"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9" name="Text 37"/>
          <p:cNvSpPr/>
          <p:nvPr/>
        </p:nvSpPr>
        <p:spPr>
          <a:xfrm>
            <a:off x="9244584"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대시보드 정식 가동</a:t>
            </a:r>
            <a:endParaRPr lang="en-US" sz="1400" dirty="0"/>
          </a:p>
        </p:txBody>
      </p:sp>
      <p:sp>
        <p:nvSpPr>
          <p:cNvPr id="40" name="Shape 38"/>
          <p:cNvSpPr/>
          <p:nvPr/>
        </p:nvSpPr>
        <p:spPr>
          <a:xfrm>
            <a:off x="9244584" y="3813048"/>
            <a:ext cx="2157984" cy="0"/>
          </a:xfrm>
          <a:prstGeom prst="line">
            <a:avLst/>
          </a:prstGeom>
          <a:noFill/>
          <a:ln w="12700">
            <a:solidFill>
              <a:srgbClr val="E7E7EC"/>
            </a:solidFill>
            <a:prstDash val="solid"/>
          </a:ln>
        </p:spPr>
      </p:sp>
      <p:sp>
        <p:nvSpPr>
          <p:cNvPr id="41" name="Text 39"/>
          <p:cNvSpPr/>
          <p:nvPr/>
        </p:nvSpPr>
        <p:spPr>
          <a:xfrm>
            <a:off x="9244584"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본 보고서의 9개 타일을 실데이터 연동 대시보드로 전환, 효율 지수 자동 갱신</a:t>
            </a:r>
            <a:endParaRPr lang="en-US" sz="1030" dirty="0"/>
          </a:p>
        </p:txBody>
      </p:sp>
      <p:sp>
        <p:nvSpPr>
          <p:cNvPr id="42" name="Shape 40"/>
          <p:cNvSpPr/>
          <p:nvPr/>
        </p:nvSpPr>
        <p:spPr>
          <a:xfrm>
            <a:off x="548640" y="5257800"/>
            <a:ext cx="11064240" cy="777240"/>
          </a:xfrm>
          <a:prstGeom prst="roundRect">
            <a:avLst>
              <a:gd name="adj" fmla="val 7059"/>
            </a:avLst>
          </a:prstGeom>
          <a:solidFill>
            <a:srgbClr val="1D2030"/>
          </a:solidFill>
          <a:ln/>
        </p:spPr>
      </p:sp>
      <p:sp>
        <p:nvSpPr>
          <p:cNvPr id="43" name="Text 41"/>
          <p:cNvSpPr/>
          <p:nvPr/>
        </p:nvSpPr>
        <p:spPr>
          <a:xfrm>
            <a:off x="822960" y="5257800"/>
            <a:ext cx="10515600" cy="777240"/>
          </a:xfrm>
          <a:prstGeom prst="rect">
            <a:avLst/>
          </a:prstGeom>
          <a:noFill/>
          <a:ln/>
        </p:spPr>
        <p:txBody>
          <a:bodyPr wrap="square" lIns="0" tIns="0" rIns="0" bIns="0" rtlCol="0" anchor="ctr"/>
          <a:lstStyle/>
          <a:p>
            <a:pPr indent="0" marL="0">
              <a:lnSpc>
                <a:spcPct val="125000"/>
              </a:lnSpc>
              <a:buNone/>
            </a:pPr>
            <a:r>
              <a:rPr lang="en-US" sz="1200" b="1" dirty="0">
                <a:solidFill>
                  <a:srgbClr val="E8B84B"/>
                </a:solidFill>
                <a:latin typeface="Calibri" pitchFamily="34" charset="0"/>
                <a:ea typeface="Calibri" pitchFamily="34" charset="-122"/>
                <a:cs typeface="Calibri" pitchFamily="34" charset="-120"/>
              </a:rPr>
              <a:t>KPI 목표  </a:t>
            </a:r>
            <a:pPr indent="0" marL="0">
              <a:lnSpc>
                <a:spcPct val="125000"/>
              </a:lnSpc>
              <a:buNone/>
            </a:pPr>
            <a:r>
              <a:rPr lang="en-US" sz="1200" dirty="0">
                <a:solidFill>
                  <a:srgbClr val="E8E9F0"/>
                </a:solidFill>
                <a:latin typeface="Calibri" pitchFamily="34" charset="0"/>
                <a:ea typeface="Calibri" pitchFamily="34" charset="-122"/>
                <a:cs typeface="Calibri" pitchFamily="34" charset="-120"/>
              </a:rPr>
              <a:t>구글 플레이스토어 순위 Top30 이내 90% 이상 유지 · 이용자순위 변동폭 ±15 이내 안정화 · 타이틀 단위 실측 CPI 체계 2027 Q1 내 구축</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48640" y="1490472"/>
            <a:ext cx="11109960" cy="329184"/>
          </a:xfrm>
          <a:prstGeom prst="roundRect">
            <a:avLst>
              <a:gd name="adj" fmla="val 11111"/>
            </a:avLst>
          </a:prstGeom>
          <a:solidFill>
            <a:srgbClr val="1D2030"/>
          </a:solidFill>
          <a:ln/>
        </p:spPr>
      </p:sp>
      <p:sp>
        <p:nvSpPr>
          <p:cNvPr id="7" name="Text 5"/>
          <p:cNvSpPr/>
          <p:nvPr/>
        </p:nvSpPr>
        <p:spPr>
          <a:xfrm>
            <a:off x="548640" y="1490472"/>
            <a:ext cx="7772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490472"/>
            <a:ext cx="228600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490472"/>
            <a:ext cx="14630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490472"/>
            <a:ext cx="3291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490472"/>
            <a:ext cx="1005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490472"/>
            <a:ext cx="173736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837944"/>
            <a:ext cx="11109960" cy="411480"/>
          </a:xfrm>
          <a:prstGeom prst="rect">
            <a:avLst/>
          </a:prstGeom>
          <a:solidFill>
            <a:srgbClr val="FAFAFB"/>
          </a:solidFill>
          <a:ln/>
        </p:spPr>
      </p:sp>
      <p:sp>
        <p:nvSpPr>
          <p:cNvPr id="14" name="Text 12"/>
          <p:cNvSpPr/>
          <p:nvPr/>
        </p:nvSpPr>
        <p:spPr>
          <a:xfrm>
            <a:off x="548640" y="1865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865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865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865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865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865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295144"/>
            <a:ext cx="11109960" cy="411480"/>
          </a:xfrm>
          <a:prstGeom prst="rect">
            <a:avLst/>
          </a:prstGeom>
          <a:solidFill>
            <a:srgbClr val="FFFFFF"/>
          </a:solidFill>
          <a:ln/>
        </p:spPr>
      </p:sp>
      <p:sp>
        <p:nvSpPr>
          <p:cNvPr id="21" name="Text 19"/>
          <p:cNvSpPr/>
          <p:nvPr/>
        </p:nvSpPr>
        <p:spPr>
          <a:xfrm>
            <a:off x="548640" y="2322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322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구글 플레이스토어 순위 추이</a:t>
            </a:r>
            <a:endParaRPr lang="en-US" sz="980" dirty="0"/>
          </a:p>
        </p:txBody>
      </p:sp>
      <p:sp>
        <p:nvSpPr>
          <p:cNvPr id="23" name="Text 21"/>
          <p:cNvSpPr/>
          <p:nvPr/>
        </p:nvSpPr>
        <p:spPr>
          <a:xfrm>
            <a:off x="3794760" y="2322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24" name="Text 22"/>
          <p:cNvSpPr/>
          <p:nvPr/>
        </p:nvSpPr>
        <p:spPr>
          <a:xfrm>
            <a:off x="5349240" y="2322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322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322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752344"/>
            <a:ext cx="11109960" cy="411480"/>
          </a:xfrm>
          <a:prstGeom prst="rect">
            <a:avLst/>
          </a:prstGeom>
          <a:solidFill>
            <a:srgbClr val="FAFAFB"/>
          </a:solidFill>
          <a:ln/>
        </p:spPr>
      </p:sp>
      <p:sp>
        <p:nvSpPr>
          <p:cNvPr id="28" name="Text 26"/>
          <p:cNvSpPr/>
          <p:nvPr/>
        </p:nvSpPr>
        <p:spPr>
          <a:xfrm>
            <a:off x="548640" y="2779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779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30" name="Text 28"/>
          <p:cNvSpPr/>
          <p:nvPr/>
        </p:nvSpPr>
        <p:spPr>
          <a:xfrm>
            <a:off x="3794760" y="2779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31" name="Text 29"/>
          <p:cNvSpPr/>
          <p:nvPr/>
        </p:nvSpPr>
        <p:spPr>
          <a:xfrm>
            <a:off x="5349240" y="2779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32" name="Text 30"/>
          <p:cNvSpPr/>
          <p:nvPr/>
        </p:nvSpPr>
        <p:spPr>
          <a:xfrm>
            <a:off x="8732520" y="2779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779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34" name="Shape 32"/>
          <p:cNvSpPr/>
          <p:nvPr/>
        </p:nvSpPr>
        <p:spPr>
          <a:xfrm>
            <a:off x="548640" y="3209544"/>
            <a:ext cx="11109960" cy="411480"/>
          </a:xfrm>
          <a:prstGeom prst="rect">
            <a:avLst/>
          </a:prstGeom>
          <a:solidFill>
            <a:srgbClr val="FFFFFF"/>
          </a:solidFill>
          <a:ln/>
        </p:spPr>
      </p:sp>
      <p:sp>
        <p:nvSpPr>
          <p:cNvPr id="35" name="Text 33"/>
          <p:cNvSpPr/>
          <p:nvPr/>
        </p:nvSpPr>
        <p:spPr>
          <a:xfrm>
            <a:off x="548640" y="3236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3236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구글플레이스토어 순위 격차</a:t>
            </a:r>
            <a:endParaRPr lang="en-US" sz="980" dirty="0"/>
          </a:p>
        </p:txBody>
      </p:sp>
      <p:sp>
        <p:nvSpPr>
          <p:cNvPr id="37" name="Text 35"/>
          <p:cNvSpPr/>
          <p:nvPr/>
        </p:nvSpPr>
        <p:spPr>
          <a:xfrm>
            <a:off x="3794760" y="3236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8" name="Text 36"/>
          <p:cNvSpPr/>
          <p:nvPr/>
        </p:nvSpPr>
        <p:spPr>
          <a:xfrm>
            <a:off x="5349240" y="3236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3236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3236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666744"/>
            <a:ext cx="11109960" cy="411480"/>
          </a:xfrm>
          <a:prstGeom prst="rect">
            <a:avLst/>
          </a:prstGeom>
          <a:solidFill>
            <a:srgbClr val="FAFAFB"/>
          </a:solidFill>
          <a:ln/>
        </p:spPr>
      </p:sp>
      <p:sp>
        <p:nvSpPr>
          <p:cNvPr id="42" name="Text 40"/>
          <p:cNvSpPr/>
          <p:nvPr/>
        </p:nvSpPr>
        <p:spPr>
          <a:xfrm>
            <a:off x="548640" y="36941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6941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44" name="Text 42"/>
          <p:cNvSpPr/>
          <p:nvPr/>
        </p:nvSpPr>
        <p:spPr>
          <a:xfrm>
            <a:off x="3794760" y="36941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45" name="Text 43"/>
          <p:cNvSpPr/>
          <p:nvPr/>
        </p:nvSpPr>
        <p:spPr>
          <a:xfrm>
            <a:off x="5349240" y="36941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T-03 계산값(경쟁작−메이플M)</a:t>
            </a:r>
            <a:endParaRPr lang="en-US" sz="980" dirty="0"/>
          </a:p>
        </p:txBody>
      </p:sp>
      <p:sp>
        <p:nvSpPr>
          <p:cNvPr id="46" name="Text 44"/>
          <p:cNvSpPr/>
          <p:nvPr/>
        </p:nvSpPr>
        <p:spPr>
          <a:xfrm>
            <a:off x="8732520" y="36941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7" name="Text 45"/>
          <p:cNvSpPr/>
          <p:nvPr/>
        </p:nvSpPr>
        <p:spPr>
          <a:xfrm>
            <a:off x="9829800" y="36941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8" name="Shape 46"/>
          <p:cNvSpPr/>
          <p:nvPr/>
        </p:nvSpPr>
        <p:spPr>
          <a:xfrm>
            <a:off x="548640" y="4123944"/>
            <a:ext cx="11109960" cy="411480"/>
          </a:xfrm>
          <a:prstGeom prst="rect">
            <a:avLst/>
          </a:prstGeom>
          <a:solidFill>
            <a:srgbClr val="FFFFFF"/>
          </a:solidFill>
          <a:ln/>
        </p:spPr>
      </p:sp>
      <p:sp>
        <p:nvSpPr>
          <p:cNvPr id="49" name="Text 47"/>
          <p:cNvSpPr/>
          <p:nvPr/>
        </p:nvSpPr>
        <p:spPr>
          <a:xfrm>
            <a:off x="548640" y="4151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4151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51" name="Text 49"/>
          <p:cNvSpPr/>
          <p:nvPr/>
        </p:nvSpPr>
        <p:spPr>
          <a:xfrm>
            <a:off x="3794760" y="4151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52" name="Text 50"/>
          <p:cNvSpPr/>
          <p:nvPr/>
        </p:nvSpPr>
        <p:spPr>
          <a:xfrm>
            <a:off x="5349240" y="4151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53" name="Text 51"/>
          <p:cNvSpPr/>
          <p:nvPr/>
        </p:nvSpPr>
        <p:spPr>
          <a:xfrm>
            <a:off x="8732520" y="4151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54" name="Text 52"/>
          <p:cNvSpPr/>
          <p:nvPr/>
        </p:nvSpPr>
        <p:spPr>
          <a:xfrm>
            <a:off x="9829800" y="4151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55" name="Shape 53"/>
          <p:cNvSpPr/>
          <p:nvPr/>
        </p:nvSpPr>
        <p:spPr>
          <a:xfrm>
            <a:off x="548640" y="4581144"/>
            <a:ext cx="11109960" cy="411480"/>
          </a:xfrm>
          <a:prstGeom prst="rect">
            <a:avLst/>
          </a:prstGeom>
          <a:solidFill>
            <a:srgbClr val="FAFAFB"/>
          </a:solidFill>
          <a:ln/>
        </p:spPr>
      </p:sp>
      <p:sp>
        <p:nvSpPr>
          <p:cNvPr id="56" name="Text 54"/>
          <p:cNvSpPr/>
          <p:nvPr/>
        </p:nvSpPr>
        <p:spPr>
          <a:xfrm>
            <a:off x="548640" y="4608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4608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58" name="Text 56"/>
          <p:cNvSpPr/>
          <p:nvPr/>
        </p:nvSpPr>
        <p:spPr>
          <a:xfrm>
            <a:off x="3794760" y="4608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59" name="Text 57"/>
          <p:cNvSpPr/>
          <p:nvPr/>
        </p:nvSpPr>
        <p:spPr>
          <a:xfrm>
            <a:off x="5349240" y="4608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 계산값</a:t>
            </a:r>
            <a:endParaRPr lang="en-US" sz="980" dirty="0"/>
          </a:p>
        </p:txBody>
      </p:sp>
      <p:sp>
        <p:nvSpPr>
          <p:cNvPr id="60" name="Text 58"/>
          <p:cNvSpPr/>
          <p:nvPr/>
        </p:nvSpPr>
        <p:spPr>
          <a:xfrm>
            <a:off x="8732520" y="4608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1" name="Text 59"/>
          <p:cNvSpPr/>
          <p:nvPr/>
        </p:nvSpPr>
        <p:spPr>
          <a:xfrm>
            <a:off x="9829800" y="4608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62" name="Shape 60"/>
          <p:cNvSpPr/>
          <p:nvPr/>
        </p:nvSpPr>
        <p:spPr>
          <a:xfrm>
            <a:off x="548640" y="5038344"/>
            <a:ext cx="11109960" cy="411480"/>
          </a:xfrm>
          <a:prstGeom prst="rect">
            <a:avLst/>
          </a:prstGeom>
          <a:solidFill>
            <a:srgbClr val="FFFFFF"/>
          </a:solidFill>
          <a:ln/>
        </p:spPr>
      </p:sp>
      <p:sp>
        <p:nvSpPr>
          <p:cNvPr id="63" name="Text 61"/>
          <p:cNvSpPr/>
          <p:nvPr/>
        </p:nvSpPr>
        <p:spPr>
          <a:xfrm>
            <a:off x="548640" y="5065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5065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65" name="Text 63"/>
          <p:cNvSpPr/>
          <p:nvPr/>
        </p:nvSpPr>
        <p:spPr>
          <a:xfrm>
            <a:off x="3794760" y="5065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66" name="Text 64"/>
          <p:cNvSpPr/>
          <p:nvPr/>
        </p:nvSpPr>
        <p:spPr>
          <a:xfrm>
            <a:off x="5349240" y="5065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67" name="Text 65"/>
          <p:cNvSpPr/>
          <p:nvPr/>
        </p:nvSpPr>
        <p:spPr>
          <a:xfrm>
            <a:off x="8732520" y="5065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68" name="Text 66"/>
          <p:cNvSpPr/>
          <p:nvPr/>
        </p:nvSpPr>
        <p:spPr>
          <a:xfrm>
            <a:off x="9829800" y="5065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69" name="Shape 67"/>
          <p:cNvSpPr/>
          <p:nvPr/>
        </p:nvSpPr>
        <p:spPr>
          <a:xfrm>
            <a:off x="548640" y="5495544"/>
            <a:ext cx="11109960" cy="411480"/>
          </a:xfrm>
          <a:prstGeom prst="rect">
            <a:avLst/>
          </a:prstGeom>
          <a:solidFill>
            <a:srgbClr val="FAFAFB"/>
          </a:solidFill>
          <a:ln/>
        </p:spPr>
      </p:sp>
      <p:sp>
        <p:nvSpPr>
          <p:cNvPr id="70" name="Text 68"/>
          <p:cNvSpPr/>
          <p:nvPr/>
        </p:nvSpPr>
        <p:spPr>
          <a:xfrm>
            <a:off x="548640" y="5522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5522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72" name="Text 70"/>
          <p:cNvSpPr/>
          <p:nvPr/>
        </p:nvSpPr>
        <p:spPr>
          <a:xfrm>
            <a:off x="3794760" y="5522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73" name="Text 71"/>
          <p:cNvSpPr/>
          <p:nvPr/>
        </p:nvSpPr>
        <p:spPr>
          <a:xfrm>
            <a:off x="5349240" y="5522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T-06·T-07 + T-02·T-03 교차</a:t>
            </a:r>
            <a:endParaRPr lang="en-US" sz="980" dirty="0"/>
          </a:p>
        </p:txBody>
      </p:sp>
      <p:sp>
        <p:nvSpPr>
          <p:cNvPr id="74" name="Text 72"/>
          <p:cNvSpPr/>
          <p:nvPr/>
        </p:nvSpPr>
        <p:spPr>
          <a:xfrm>
            <a:off x="8732520" y="5522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75" name="Text 73"/>
          <p:cNvSpPr/>
          <p:nvPr/>
        </p:nvSpPr>
        <p:spPr>
          <a:xfrm>
            <a:off x="9829800" y="5522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2026-08-27T02:11:16Z</dcterms:created>
  <dcterms:modified xsi:type="dcterms:W3CDTF">2026-08-27T02:11:16Z</dcterms:modified>
</cp:coreProperties>
</file>