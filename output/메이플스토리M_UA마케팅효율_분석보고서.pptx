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5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4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구글 플레이스토어 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구글 플레이스토어 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구글 플레이스토어 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구글 플레이스토어 앱마켓 순위·이용자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구글 플레이스토어 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구글 플레이스토어 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구글 플레이스토어 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구글 플레이스토어 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mobileindex.com(구글 플레이스토어 순위) · 숫자가 낮을수록 상위 순위 · 검은사막M은 200위(차트 상한)로 클램프 — 7/20 이후 미집계(실제 순위는 200보다 낮을 수 있음)</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마비노기 21위 — 마비노기가 8계단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7/20 이후 순위 데이터가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29위 · 아이온2 62위 — 메이플이 33계단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순위는 숫자가 작을수록 좋은 순위입니다(1위가 최고). 예: 21위가 62위보다 더 좋은 순위예요.</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마비노기 51위 — 메이플이 10계단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3월 이후 데이터가 거의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아이온2 101위 — 메이플이 60계단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순위도 숫자가 작을수록 좋은 순위입니다(1위가 최고). 두 게임의 실제 순위를 나란히 놓고 비교하는 그래프예요.</a:t>
            </a:r>
            <a:endParaRPr lang="en-US" sz="1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구글 플레이스토어 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97%는 메이플이 뒤처짐 (평균 47.5계단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90.7계단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38.1계단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순위는 숫자가 작을수록 좋으므로, 값이 0보다 위(+)면 메이플M이 더 좋은 순위, 0보다 아래(−)면 더 나쁜 순위예요. 예) 마비노기 20위, 메이플M 90위 → 20−90=−70, 그래서 그래프가 마이너스로 내려갑니다.</a:t>
            </a:r>
            <a:endParaRPr lang="en-US" sz="10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이용자순위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52.5계단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118.3계단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82%는 메이플이 뒤처짐 (평균 21.2계단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값이 0보다 위(+)면 메이플M이 더 좋은 순위, 0보다 아래(−)면 더 나쁜 순위라는 뜻이에요. 마이너스는 '나쁜 숫자'가 아니라 방향(뒤처짐)을 나타냅니다.</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마비노기모바일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 · '매치'는 이벤트 발생일과 순위 변동 주간의 시점 일치 여부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15</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마비노기모바일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6/15→6/22</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49→13위 (Δ-36)</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6/19 쇼케이스·6/25 적용 — 시즌2 '빛과 어둠'(레벨 85→100 확장)</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3/16→3/23</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26→11위 (Δ-15)</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3/12~26 메이플스토리 콜라보 진행 중(1주년 사전 기대감 조성)</a:t>
            </a:r>
            <a:endParaRPr lang="en-US" sz="930" dirty="0"/>
          </a:p>
        </p:txBody>
      </p:sp>
      <p:sp>
        <p:nvSpPr>
          <p:cNvPr id="25" name="Shape 22"/>
          <p:cNvSpPr/>
          <p:nvPr/>
        </p:nvSpPr>
        <p:spPr>
          <a:xfrm>
            <a:off x="9281160" y="4215384"/>
            <a:ext cx="1600200" cy="219456"/>
          </a:xfrm>
          <a:prstGeom prst="roundRect">
            <a:avLst>
              <a:gd name="adj" fmla="val 50000"/>
            </a:avLst>
          </a:prstGeom>
          <a:solidFill>
            <a:srgbClr val="FFF3EC"/>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34→49위 (Δ+15)</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시즌2 출시 직전 대기 구간</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6/1→6/8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21→34위 (Δ+13)</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상동(시즌2 출시 전)</a:t>
            </a:r>
            <a:endParaRPr lang="en-US" sz="930" dirty="0"/>
          </a:p>
        </p:txBody>
      </p:sp>
      <p:sp>
        <p:nvSpPr>
          <p:cNvPr id="37" name="Shape 34"/>
          <p:cNvSpPr/>
          <p:nvPr/>
        </p:nvSpPr>
        <p:spPr>
          <a:xfrm>
            <a:off x="9281160" y="4764024"/>
            <a:ext cx="1600200" cy="219456"/>
          </a:xfrm>
          <a:prstGeom prst="roundRect">
            <a:avLst>
              <a:gd name="adj" fmla="val 50000"/>
            </a:avLst>
          </a:prstGeom>
          <a:solidFill>
            <a:srgbClr val="F2F2F5"/>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7/20→7/27</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17→28위 (Δ+11)</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7/23 캣스티벌 시즌이벤트 시작 직전 — 효과 반영 전</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마비노기의 최대 순위 변동(Δ36계단)은 시즌2 업데이트(6/19~25)와 정확히 일치합니다. 반면 4월 업데이트 공백기에는 어떤 반등도 없었습니다 — 순위는 광고비 증감보다 업데이트 유무·타이밍에 훨씬 민감하게 반응한다는 근거입니다.</a:t>
            </a:r>
            <a:endParaRPr lang="en-US" sz="10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검은사막모바일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200위 클램프 적용)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검은사막모바일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12/8→12/15</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198→131위 (Δ-67)</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신규지역 '오딜리타' 로드맵 공개 + 붉은사막 IP 콜라보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5/4→5/11</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155→219위 (Δ+64)</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시즌3(4/8) 효과 소멸 구간으로 추정</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5/18→5/25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198→138위 (Δ-60)</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원인 미상</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12/1→12/8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144→198위 (Δ+54)</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로드맵 공개 직전 하락(사전 침체 후 반등)</a:t>
            </a:r>
            <a:endParaRPr lang="en-US" sz="930" dirty="0"/>
          </a:p>
        </p:txBody>
      </p:sp>
      <p:sp>
        <p:nvSpPr>
          <p:cNvPr id="37" name="Shape 34"/>
          <p:cNvSpPr/>
          <p:nvPr/>
        </p:nvSpPr>
        <p:spPr>
          <a:xfrm>
            <a:off x="9281160" y="4764024"/>
            <a:ext cx="1600200" cy="219456"/>
          </a:xfrm>
          <a:prstGeom prst="roundRect">
            <a:avLst>
              <a:gd name="adj" fmla="val 50000"/>
            </a:avLst>
          </a:prstGeom>
          <a:solidFill>
            <a:srgbClr val="FFF3EC"/>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7/6→7/13</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204→159위 (Δ-45)</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7/11 하이델 연회(리마스터 프로젝트 완료 총정리)</a:t>
            </a:r>
            <a:endParaRPr lang="en-US" sz="930" dirty="0"/>
          </a:p>
        </p:txBody>
      </p:sp>
      <p:sp>
        <p:nvSpPr>
          <p:cNvPr id="43" name="Shape 40"/>
          <p:cNvSpPr/>
          <p:nvPr/>
        </p:nvSpPr>
        <p:spPr>
          <a:xfrm>
            <a:off x="9281160" y="5038344"/>
            <a:ext cx="1600200" cy="219456"/>
          </a:xfrm>
          <a:prstGeom prst="roundRect">
            <a:avLst>
              <a:gd name="adj" fmla="val 50000"/>
            </a:avLst>
          </a:prstGeom>
          <a:solidFill>
            <a:srgbClr val="EAF7F4"/>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검은사막의 순위 반등은 대부분 '리마스터' 로드맵의 개별 마일스톤(12/13 로드맵 공개, 7/11 하이델 연회)과 겹칩니다. 이 기간 연결 기준 광고비는 오히려 +29.9%(YoY) 증가했지만 검은사막모바일 자체 순위는 결국 트래킹 이탈 — 회사 전체 광고비 증가가 특정 타이틀 순위 개선으로 반드시 이어지지는 않음을 보여줍니다.</a:t>
            </a:r>
            <a:endParaRPr lang="en-US" sz="10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아이온2</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아이온2</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11/17→11/24</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38→8위 (Δ-30)</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11/19 정식 출시(한국·대만) — 양대마켓 인기 1위, 매출 9위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8/3→8/10</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36→62위 (Δ+26)</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없음(보고서 작성 시점 이후 구간)</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4/13→4/20</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12→31위 (Δ+19)</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4/21~22 글로벌(PC) 출시 확정 발표 직전 — 국내 관심 소강</a:t>
            </a:r>
            <a:endParaRPr lang="en-US" sz="930" dirty="0"/>
          </a:p>
        </p:txBody>
      </p:sp>
      <p:sp>
        <p:nvSpPr>
          <p:cNvPr id="31" name="Shape 28"/>
          <p:cNvSpPr/>
          <p:nvPr/>
        </p:nvSpPr>
        <p:spPr>
          <a:xfrm>
            <a:off x="9281160" y="4489704"/>
            <a:ext cx="1600200" cy="219456"/>
          </a:xfrm>
          <a:prstGeom prst="roundRect">
            <a:avLst>
              <a:gd name="adj" fmla="val 50000"/>
            </a:avLst>
          </a:prstGeom>
          <a:solidFill>
            <a:srgbClr val="FFF3EC"/>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60→42위 (Δ-18)</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6/14 SUMMER FESTA 오프라인 쇼케이스 + fromis_9 콜라보 시작</a:t>
            </a:r>
            <a:endParaRPr lang="en-US" sz="930" dirty="0"/>
          </a:p>
        </p:txBody>
      </p:sp>
      <p:sp>
        <p:nvSpPr>
          <p:cNvPr id="37" name="Shape 34"/>
          <p:cNvSpPr/>
          <p:nvPr/>
        </p:nvSpPr>
        <p:spPr>
          <a:xfrm>
            <a:off x="9281160" y="4764024"/>
            <a:ext cx="1600200" cy="219456"/>
          </a:xfrm>
          <a:prstGeom prst="roundRect">
            <a:avLst>
              <a:gd name="adj" fmla="val 50000"/>
            </a:avLst>
          </a:prstGeom>
          <a:solidFill>
            <a:srgbClr val="EAF7F4"/>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6/22→6/29</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58→41위 (Δ-17)</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SUMMER FESTA·fromis_9 콜라보 지속 효과</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아이온2는 출시일(11/19)과 SUMMER FESTA 쇼케이스(6/14), 단 두 번의 이벤트만으로 4사 중 가장 뚜렷한 순위 스파이크를 만들었습니다. 이 기간 NC의 광고비(별도)는 오히려 -38.2%로 줄었다는 점에서, 대형 이벤트·쇼케이스가 광고비 확대보다 효율적인 순위 견인 수단이었을 가능성을 시사합니다.</a:t>
            </a:r>
            <a:endParaRPr lang="en-US" sz="103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종합 인사이트 — 이벤트·순위·광고비 3요소 연동</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4사 이벤트 타임라인 비교 보고서, 각사 사업보고서/반기보고서(DART)</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548640" y="1645920"/>
            <a:ext cx="539496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384048"/>
          </a:xfrm>
          <a:prstGeom prst="roundRect">
            <a:avLst>
              <a:gd name="adj" fmla="val 21429"/>
            </a:avLst>
          </a:prstGeom>
          <a:solidFill>
            <a:srgbClr val="F0692B"/>
          </a:solidFill>
          <a:ln/>
        </p:spPr>
      </p:sp>
      <p:sp>
        <p:nvSpPr>
          <p:cNvPr id="8" name="Text 6"/>
          <p:cNvSpPr/>
          <p:nvPr/>
        </p:nvSpPr>
        <p:spPr>
          <a:xfrm>
            <a:off x="105156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이벤트가 광고비보다 먼저 순위를 움직인다</a:t>
            </a:r>
            <a:endParaRPr lang="en-US" sz="1350" dirty="0"/>
          </a:p>
        </p:txBody>
      </p:sp>
      <p:sp>
        <p:nvSpPr>
          <p:cNvPr id="9" name="Text 7"/>
          <p:cNvSpPr/>
          <p:nvPr/>
        </p:nvSpPr>
        <p:spPr>
          <a:xfrm>
            <a:off x="82296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3사 15개 주요 순위 변동 중 5건은 이벤트 발생 시점과 정확히 일치(확인됨), 5건은 인접 시점 이벤트로 추정됩니다 — 광고비는 연/반기 단위로만 공시돼 주 단위 변동을 설명하지 못하지만, 이벤트는 해당 주와 직접 맞아떨어집니다. 순위의 1차 동인은 '광고 집행'이 아니라 '콘텐츠 타이밍'입니다.</a:t>
            </a:r>
            <a:endParaRPr lang="en-US" sz="1060" dirty="0"/>
          </a:p>
        </p:txBody>
      </p:sp>
      <p:sp>
        <p:nvSpPr>
          <p:cNvPr id="10" name="Shape 8"/>
          <p:cNvSpPr/>
          <p:nvPr/>
        </p:nvSpPr>
        <p:spPr>
          <a:xfrm>
            <a:off x="6217920" y="1645920"/>
            <a:ext cx="5394960" cy="2148840"/>
          </a:xfrm>
          <a:prstGeom prst="roundRect">
            <a:avLst>
              <a:gd name="adj" fmla="val 2979"/>
            </a:avLst>
          </a:prstGeom>
          <a:solidFill>
            <a:srgbClr val="FAFAFB"/>
          </a:solidFill>
          <a:ln w="12700">
            <a:solidFill>
              <a:srgbClr val="EBEBF0"/>
            </a:solidFill>
            <a:prstDash val="solid"/>
          </a:ln>
        </p:spPr>
      </p:sp>
      <p:sp>
        <p:nvSpPr>
          <p:cNvPr id="11" name="Shape 9"/>
          <p:cNvSpPr/>
          <p:nvPr/>
        </p:nvSpPr>
        <p:spPr>
          <a:xfrm>
            <a:off x="6473952" y="1865376"/>
            <a:ext cx="128016" cy="384048"/>
          </a:xfrm>
          <a:prstGeom prst="roundRect">
            <a:avLst>
              <a:gd name="adj" fmla="val 21429"/>
            </a:avLst>
          </a:prstGeom>
          <a:solidFill>
            <a:srgbClr val="8B2635"/>
          </a:solidFill>
          <a:ln/>
        </p:spPr>
      </p:sp>
      <p:sp>
        <p:nvSpPr>
          <p:cNvPr id="12" name="Text 10"/>
          <p:cNvSpPr/>
          <p:nvPr/>
        </p:nvSpPr>
        <p:spPr>
          <a:xfrm>
            <a:off x="672084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광고비 증가 ≠ 특정 타이틀 순위 개선</a:t>
            </a:r>
            <a:endParaRPr lang="en-US" sz="1350" dirty="0"/>
          </a:p>
        </p:txBody>
      </p:sp>
      <p:sp>
        <p:nvSpPr>
          <p:cNvPr id="13" name="Text 11"/>
          <p:cNvSpPr/>
          <p:nvPr/>
        </p:nvSpPr>
        <p:spPr>
          <a:xfrm>
            <a:off x="649224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검은사막은 연결 기준 광고비가 +29.9%(YoY) 늘었지만 검은사막모바일 자체 순위는 오히려 트래킹을 벗어났습니다. 회사 전체 광고비 증가분이 다른 타이틀(붉은사막)로 흘러갔을 가능성이 높습니다 — 광고비 총액만으로 개별 타이틀 성과를 추정하면 오판할 수 있습니다.</a:t>
            </a:r>
            <a:endParaRPr lang="en-US" sz="1060" dirty="0"/>
          </a:p>
        </p:txBody>
      </p:sp>
      <p:sp>
        <p:nvSpPr>
          <p:cNvPr id="14" name="Shape 12"/>
          <p:cNvSpPr/>
          <p:nvPr/>
        </p:nvSpPr>
        <p:spPr>
          <a:xfrm>
            <a:off x="548640" y="4023360"/>
            <a:ext cx="5394960" cy="2148840"/>
          </a:xfrm>
          <a:prstGeom prst="roundRect">
            <a:avLst>
              <a:gd name="adj" fmla="val 2979"/>
            </a:avLst>
          </a:prstGeom>
          <a:solidFill>
            <a:srgbClr val="FAFAFB"/>
          </a:solidFill>
          <a:ln w="12700">
            <a:solidFill>
              <a:srgbClr val="EBEBF0"/>
            </a:solidFill>
            <a:prstDash val="solid"/>
          </a:ln>
        </p:spPr>
      </p:sp>
      <p:sp>
        <p:nvSpPr>
          <p:cNvPr id="15" name="Shape 13"/>
          <p:cNvSpPr/>
          <p:nvPr/>
        </p:nvSpPr>
        <p:spPr>
          <a:xfrm>
            <a:off x="804672" y="4242816"/>
            <a:ext cx="128016" cy="384048"/>
          </a:xfrm>
          <a:prstGeom prst="roundRect">
            <a:avLst>
              <a:gd name="adj" fmla="val 21429"/>
            </a:avLst>
          </a:prstGeom>
          <a:solidFill>
            <a:srgbClr val="6B4FA0"/>
          </a:solidFill>
          <a:ln/>
        </p:spPr>
      </p:sp>
      <p:sp>
        <p:nvSpPr>
          <p:cNvPr id="16" name="Text 14"/>
          <p:cNvSpPr/>
          <p:nvPr/>
        </p:nvSpPr>
        <p:spPr>
          <a:xfrm>
            <a:off x="105156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저비용 이벤트가 고효율 반등을 만든 사례도 있다</a:t>
            </a:r>
            <a:endParaRPr lang="en-US" sz="1350" dirty="0"/>
          </a:p>
        </p:txBody>
      </p:sp>
      <p:sp>
        <p:nvSpPr>
          <p:cNvPr id="17" name="Text 15"/>
          <p:cNvSpPr/>
          <p:nvPr/>
        </p:nvSpPr>
        <p:spPr>
          <a:xfrm>
            <a:off x="82296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아이온2는 광고비(별도)가 -38.2%나 줄어든 시기에도 출시·쇼케이스 단 두 번의 이벤트로 4사 중 가장 큰 순위 스파이크(Δ30, Δ18)를 냈습니다. 예산보다 이벤트 설계·타이밍이 순위 반등의 더 강한 레버일 수 있음을 시사합니다.</a:t>
            </a:r>
            <a:endParaRPr lang="en-US" sz="1060" dirty="0"/>
          </a:p>
        </p:txBody>
      </p:sp>
      <p:sp>
        <p:nvSpPr>
          <p:cNvPr id="18" name="Shape 16"/>
          <p:cNvSpPr/>
          <p:nvPr/>
        </p:nvSpPr>
        <p:spPr>
          <a:xfrm>
            <a:off x="6217920" y="4023360"/>
            <a:ext cx="5394960" cy="2148840"/>
          </a:xfrm>
          <a:prstGeom prst="roundRect">
            <a:avLst>
              <a:gd name="adj" fmla="val 2979"/>
            </a:avLst>
          </a:prstGeom>
          <a:solidFill>
            <a:srgbClr val="FAFAFB"/>
          </a:solidFill>
          <a:ln w="12700">
            <a:solidFill>
              <a:srgbClr val="EBEBF0"/>
            </a:solidFill>
            <a:prstDash val="solid"/>
          </a:ln>
        </p:spPr>
      </p:sp>
      <p:sp>
        <p:nvSpPr>
          <p:cNvPr id="19" name="Shape 17"/>
          <p:cNvSpPr/>
          <p:nvPr/>
        </p:nvSpPr>
        <p:spPr>
          <a:xfrm>
            <a:off x="6473952" y="4242816"/>
            <a:ext cx="128016" cy="384048"/>
          </a:xfrm>
          <a:prstGeom prst="roundRect">
            <a:avLst>
              <a:gd name="adj" fmla="val 21429"/>
            </a:avLst>
          </a:prstGeom>
          <a:solidFill>
            <a:srgbClr val="E8B84B"/>
          </a:solidFill>
          <a:ln/>
        </p:spPr>
      </p:sp>
      <p:sp>
        <p:nvSpPr>
          <p:cNvPr id="20" name="Text 18"/>
          <p:cNvSpPr/>
          <p:nvPr/>
        </p:nvSpPr>
        <p:spPr>
          <a:xfrm>
            <a:off x="672084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설명되지 않는 변동도 적지 않다</a:t>
            </a:r>
            <a:endParaRPr lang="en-US" sz="1350" dirty="0"/>
          </a:p>
        </p:txBody>
      </p:sp>
      <p:sp>
        <p:nvSpPr>
          <p:cNvPr id="21" name="Text 19"/>
          <p:cNvSpPr/>
          <p:nvPr/>
        </p:nvSpPr>
        <p:spPr>
          <a:xfrm>
            <a:off x="649224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15개 주요 변동 중 5건은 매칭되는 이벤트를 찾지 못했습니다(주로 상승 방향, 즉 순위 악화). 이는 콘텐츠 소진·경쟁작 대형 업데이트·플랫폼 알고리즘 변화 등 본 보고서 데이터 밖 요인일 가능성이 있어, 향후 대시보드에서 '미상' 케이스를 계속 추적해야 합니다.</a:t>
            </a:r>
            <a:endParaRPr lang="en-US" sz="10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20</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8" name="Shape 6"/>
          <p:cNvSpPr/>
          <p:nvPr/>
        </p:nvSpPr>
        <p:spPr>
          <a:xfrm>
            <a:off x="548640" y="1417320"/>
            <a:ext cx="11064240" cy="384048"/>
          </a:xfrm>
          <a:prstGeom prst="roundRect">
            <a:avLst>
              <a:gd name="adj" fmla="val 11905"/>
            </a:avLst>
          </a:prstGeom>
          <a:solidFill>
            <a:srgbClr val="FFF3EC"/>
          </a:solidFill>
          <a:ln w="12700">
            <a:solidFill>
              <a:srgbClr val="F6D9C6"/>
            </a:solidFill>
            <a:prstDash val="solid"/>
          </a:ln>
        </p:spPr>
      </p:sp>
      <p:sp>
        <p:nvSpPr>
          <p:cNvPr id="9" name="Text 7"/>
          <p:cNvSpPr/>
          <p:nvPr/>
        </p:nvSpPr>
        <p:spPr>
          <a:xfrm>
            <a:off x="777240" y="1417320"/>
            <a:ext cx="10607040" cy="384048"/>
          </a:xfrm>
          <a:prstGeom prst="rect">
            <a:avLst/>
          </a:prstGeom>
          <a:noFill/>
          <a:ln/>
        </p:spPr>
        <p:txBody>
          <a:bodyPr wrap="square" lIns="0" tIns="0" rIns="0" bIns="0" rtlCol="0" anchor="ctr"/>
          <a:lstStyle/>
          <a:p>
            <a:pPr indent="0" marL="0">
              <a:buNone/>
            </a:pPr>
            <a:r>
              <a:rPr lang="en-US" sz="1080" b="1" dirty="0">
                <a:solidFill>
                  <a:srgbClr val="F0692B"/>
                </a:solidFill>
                <a:latin typeface="Calibri" pitchFamily="34" charset="0"/>
                <a:ea typeface="Calibri" pitchFamily="34" charset="-122"/>
                <a:cs typeface="Calibri" pitchFamily="34" charset="-120"/>
              </a:rPr>
              <a:t>YoY(Year over Year)란?  </a:t>
            </a:r>
            <a:pPr indent="0" marL="0">
              <a:buNone/>
            </a:pPr>
            <a:r>
              <a:rPr lang="en-US" sz="1080" dirty="0">
                <a:solidFill>
                  <a:srgbClr val="5A3B26"/>
                </a:solidFill>
                <a:latin typeface="Calibri" pitchFamily="34" charset="0"/>
                <a:ea typeface="Calibri" pitchFamily="34" charset="-122"/>
                <a:cs typeface="Calibri" pitchFamily="34" charset="-120"/>
              </a:rPr>
              <a:t>전년 동기 대비 증감률. 예) 작년 1,352억원 → 올해 836억원이면 (836−1,352)÷1,352×100 = −38.2%</a:t>
            </a:r>
            <a:endParaRPr lang="en-US" sz="1080" dirty="0"/>
          </a:p>
        </p:txBody>
      </p:sp>
      <p:sp>
        <p:nvSpPr>
          <p:cNvPr id="10" name="Shape 8"/>
          <p:cNvSpPr/>
          <p:nvPr/>
        </p:nvSpPr>
        <p:spPr>
          <a:xfrm>
            <a:off x="548640" y="1965960"/>
            <a:ext cx="3474720" cy="1600200"/>
          </a:xfrm>
          <a:prstGeom prst="roundRect">
            <a:avLst>
              <a:gd name="adj" fmla="val 4000"/>
            </a:avLst>
          </a:prstGeom>
          <a:solidFill>
            <a:srgbClr val="FAFAFB"/>
          </a:solidFill>
          <a:ln w="12700">
            <a:solidFill>
              <a:srgbClr val="EBEBF0"/>
            </a:solidFill>
            <a:prstDash val="solid"/>
          </a:ln>
        </p:spPr>
      </p:sp>
      <p:sp>
        <p:nvSpPr>
          <p:cNvPr id="11" name="Text 9"/>
          <p:cNvSpPr/>
          <p:nvPr/>
        </p:nvSpPr>
        <p:spPr>
          <a:xfrm>
            <a:off x="73152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2" name="Text 10"/>
          <p:cNvSpPr/>
          <p:nvPr/>
        </p:nvSpPr>
        <p:spPr>
          <a:xfrm>
            <a:off x="731520" y="2423160"/>
            <a:ext cx="3108960" cy="731520"/>
          </a:xfrm>
          <a:prstGeom prst="rect">
            <a:avLst/>
          </a:prstGeom>
          <a:noFill/>
          <a:ln/>
        </p:spPr>
        <p:txBody>
          <a:bodyPr wrap="square" lIns="0" tIns="0" rIns="0" bIns="0" rtlCol="0" anchor="ctr"/>
          <a:lstStyle/>
          <a:p>
            <a:pPr indent="0" marL="0">
              <a:buNone/>
            </a:pPr>
            <a:r>
              <a:rPr lang="en-US" sz="3000" b="1" dirty="0">
                <a:solidFill>
                  <a:srgbClr val="F0692B"/>
                </a:solidFill>
                <a:latin typeface="Cambria" pitchFamily="34" charset="0"/>
                <a:ea typeface="Cambria" pitchFamily="34" charset="-122"/>
                <a:cs typeface="Cambria" pitchFamily="34" charset="-120"/>
              </a:rPr>
              <a:t>+29.4%</a:t>
            </a:r>
            <a:endParaRPr lang="en-US" sz="3000" dirty="0"/>
          </a:p>
        </p:txBody>
      </p:sp>
      <p:sp>
        <p:nvSpPr>
          <p:cNvPr id="13" name="Text 11"/>
          <p:cNvSpPr/>
          <p:nvPr/>
        </p:nvSpPr>
        <p:spPr>
          <a:xfrm>
            <a:off x="73152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4" name="Shape 12"/>
          <p:cNvSpPr/>
          <p:nvPr/>
        </p:nvSpPr>
        <p:spPr>
          <a:xfrm>
            <a:off x="4251960" y="1965960"/>
            <a:ext cx="3474720" cy="1600200"/>
          </a:xfrm>
          <a:prstGeom prst="roundRect">
            <a:avLst>
              <a:gd name="adj" fmla="val 4000"/>
            </a:avLst>
          </a:prstGeom>
          <a:solidFill>
            <a:srgbClr val="FAFAFB"/>
          </a:solidFill>
          <a:ln w="12700">
            <a:solidFill>
              <a:srgbClr val="EBEBF0"/>
            </a:solidFill>
            <a:prstDash val="solid"/>
          </a:ln>
        </p:spPr>
      </p:sp>
      <p:sp>
        <p:nvSpPr>
          <p:cNvPr id="15" name="Text 13"/>
          <p:cNvSpPr/>
          <p:nvPr/>
        </p:nvSpPr>
        <p:spPr>
          <a:xfrm>
            <a:off x="443484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6" name="Text 14"/>
          <p:cNvSpPr/>
          <p:nvPr/>
        </p:nvSpPr>
        <p:spPr>
          <a:xfrm>
            <a:off x="4434840" y="2423160"/>
            <a:ext cx="3108960" cy="731520"/>
          </a:xfrm>
          <a:prstGeom prst="rect">
            <a:avLst/>
          </a:prstGeom>
          <a:noFill/>
          <a:ln/>
        </p:spPr>
        <p:txBody>
          <a:bodyPr wrap="square" lIns="0" tIns="0" rIns="0" bIns="0" rtlCol="0" anchor="ctr"/>
          <a:lstStyle/>
          <a:p>
            <a:pPr indent="0" marL="0">
              <a:buNone/>
            </a:pPr>
            <a:r>
              <a:rPr lang="en-US" sz="3000" b="1" dirty="0">
                <a:solidFill>
                  <a:srgbClr val="8B2635"/>
                </a:solidFill>
                <a:latin typeface="Cambria" pitchFamily="34" charset="0"/>
                <a:ea typeface="Cambria" pitchFamily="34" charset="-122"/>
                <a:cs typeface="Cambria" pitchFamily="34" charset="-120"/>
              </a:rPr>
              <a:t>-6.7%</a:t>
            </a:r>
            <a:endParaRPr lang="en-US" sz="3000" dirty="0"/>
          </a:p>
        </p:txBody>
      </p:sp>
      <p:sp>
        <p:nvSpPr>
          <p:cNvPr id="17" name="Text 15"/>
          <p:cNvSpPr/>
          <p:nvPr/>
        </p:nvSpPr>
        <p:spPr>
          <a:xfrm>
            <a:off x="443484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8" name="Shape 16"/>
          <p:cNvSpPr/>
          <p:nvPr/>
        </p:nvSpPr>
        <p:spPr>
          <a:xfrm>
            <a:off x="7955280" y="1965960"/>
            <a:ext cx="3474720" cy="1600200"/>
          </a:xfrm>
          <a:prstGeom prst="roundRect">
            <a:avLst>
              <a:gd name="adj" fmla="val 4000"/>
            </a:avLst>
          </a:prstGeom>
          <a:solidFill>
            <a:srgbClr val="FAFAFB"/>
          </a:solidFill>
          <a:ln w="12700">
            <a:solidFill>
              <a:srgbClr val="EBEBF0"/>
            </a:solidFill>
            <a:prstDash val="solid"/>
          </a:ln>
        </p:spPr>
      </p:sp>
      <p:sp>
        <p:nvSpPr>
          <p:cNvPr id="19" name="Text 17"/>
          <p:cNvSpPr/>
          <p:nvPr/>
        </p:nvSpPr>
        <p:spPr>
          <a:xfrm>
            <a:off x="813816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20" name="Text 18"/>
          <p:cNvSpPr/>
          <p:nvPr/>
        </p:nvSpPr>
        <p:spPr>
          <a:xfrm>
            <a:off x="8138160" y="2423160"/>
            <a:ext cx="3108960" cy="731520"/>
          </a:xfrm>
          <a:prstGeom prst="rect">
            <a:avLst/>
          </a:prstGeom>
          <a:noFill/>
          <a:ln/>
        </p:spPr>
        <p:txBody>
          <a:bodyPr wrap="square" lIns="0" tIns="0" rIns="0" bIns="0" rtlCol="0" anchor="ctr"/>
          <a:lstStyle/>
          <a:p>
            <a:pPr indent="0" marL="0">
              <a:buNone/>
            </a:pPr>
            <a:r>
              <a:rPr lang="en-US" sz="3000" b="1" dirty="0">
                <a:solidFill>
                  <a:srgbClr val="6B4FA0"/>
                </a:solidFill>
                <a:latin typeface="Cambria" pitchFamily="34" charset="0"/>
                <a:ea typeface="Cambria" pitchFamily="34" charset="-122"/>
                <a:cs typeface="Cambria" pitchFamily="34" charset="-120"/>
              </a:rPr>
              <a:t>-38.2%</a:t>
            </a:r>
            <a:endParaRPr lang="en-US" sz="3000" dirty="0"/>
          </a:p>
        </p:txBody>
      </p:sp>
      <p:sp>
        <p:nvSpPr>
          <p:cNvPr id="21" name="Text 19"/>
          <p:cNvSpPr/>
          <p:nvPr/>
        </p:nvSpPr>
        <p:spPr>
          <a:xfrm>
            <a:off x="813816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2" name="Text 20"/>
          <p:cNvSpPr/>
          <p:nvPr/>
        </p:nvSpPr>
        <p:spPr>
          <a:xfrm>
            <a:off x="548640" y="3749040"/>
            <a:ext cx="9144000" cy="292608"/>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3" name="Shape 21"/>
          <p:cNvSpPr/>
          <p:nvPr/>
        </p:nvSpPr>
        <p:spPr>
          <a:xfrm>
            <a:off x="548640" y="4096512"/>
            <a:ext cx="5349240" cy="1737360"/>
          </a:xfrm>
          <a:prstGeom prst="roundRect">
            <a:avLst>
              <a:gd name="adj" fmla="val 3684"/>
            </a:avLst>
          </a:prstGeom>
          <a:solidFill>
            <a:srgbClr val="FAFAFB"/>
          </a:solidFill>
          <a:ln w="12700">
            <a:solidFill>
              <a:srgbClr val="EBEBF0"/>
            </a:solidFill>
            <a:prstDash val="solid"/>
          </a:ln>
        </p:spPr>
      </p:sp>
      <p:sp>
        <p:nvSpPr>
          <p:cNvPr id="24" name="Text 22"/>
          <p:cNvSpPr/>
          <p:nvPr/>
        </p:nvSpPr>
        <p:spPr>
          <a:xfrm>
            <a:off x="822960" y="4206240"/>
            <a:ext cx="4846320" cy="292608"/>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5" name="Text 23"/>
          <p:cNvSpPr/>
          <p:nvPr/>
        </p:nvSpPr>
        <p:spPr>
          <a:xfrm>
            <a:off x="82296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325.3억원</a:t>
            </a:r>
            <a:endParaRPr lang="en-US" sz="2400" dirty="0"/>
          </a:p>
        </p:txBody>
      </p:sp>
      <p:sp>
        <p:nvSpPr>
          <p:cNvPr id="26" name="Text 24"/>
          <p:cNvSpPr/>
          <p:nvPr/>
        </p:nvSpPr>
        <p:spPr>
          <a:xfrm>
            <a:off x="82296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50" dirty="0"/>
          </a:p>
        </p:txBody>
      </p:sp>
      <p:sp>
        <p:nvSpPr>
          <p:cNvPr id="27" name="Shape 25"/>
          <p:cNvSpPr/>
          <p:nvPr/>
        </p:nvSpPr>
        <p:spPr>
          <a:xfrm>
            <a:off x="6080760" y="4096512"/>
            <a:ext cx="5349240" cy="1737360"/>
          </a:xfrm>
          <a:prstGeom prst="roundRect">
            <a:avLst>
              <a:gd name="adj" fmla="val 3684"/>
            </a:avLst>
          </a:prstGeom>
          <a:solidFill>
            <a:srgbClr val="FAFAFB"/>
          </a:solidFill>
          <a:ln w="12700">
            <a:solidFill>
              <a:srgbClr val="EBEBF0"/>
            </a:solidFill>
            <a:prstDash val="solid"/>
          </a:ln>
        </p:spPr>
      </p:sp>
      <p:sp>
        <p:nvSpPr>
          <p:cNvPr id="28" name="Text 26"/>
          <p:cNvSpPr/>
          <p:nvPr/>
        </p:nvSpPr>
        <p:spPr>
          <a:xfrm>
            <a:off x="6355080" y="4206240"/>
            <a:ext cx="4846320" cy="292608"/>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9" name="Text 27"/>
          <p:cNvSpPr/>
          <p:nvPr/>
        </p:nvSpPr>
        <p:spPr>
          <a:xfrm>
            <a:off x="635508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1,908.8억원</a:t>
            </a:r>
            <a:endParaRPr lang="en-US" sz="2400" dirty="0"/>
          </a:p>
        </p:txBody>
      </p:sp>
      <p:sp>
        <p:nvSpPr>
          <p:cNvPr id="30" name="Text 28"/>
          <p:cNvSpPr/>
          <p:nvPr/>
        </p:nvSpPr>
        <p:spPr>
          <a:xfrm>
            <a:off x="635508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50" dirty="0"/>
          </a:p>
        </p:txBody>
      </p:sp>
      <p:sp>
        <p:nvSpPr>
          <p:cNvPr id="31" name="Text 29"/>
          <p:cNvSpPr/>
          <p:nvPr/>
        </p:nvSpPr>
        <p:spPr>
          <a:xfrm>
            <a:off x="548640" y="594360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13</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구글 플레이스토어 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27</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3월·구글 플레이스토어 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29</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30</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31</a:t>
            </a:r>
            <a:endParaRPr lang="en-US" sz="900" dirty="0"/>
          </a:p>
        </p:txBody>
      </p:sp>
      <p:sp>
        <p:nvSpPr>
          <p:cNvPr id="5" name="Shape 3"/>
          <p:cNvSpPr/>
          <p:nvPr/>
        </p:nvSpPr>
        <p:spPr>
          <a:xfrm>
            <a:off x="1847088" y="1920240"/>
            <a:ext cx="8476488" cy="0"/>
          </a:xfrm>
          <a:prstGeom prst="line">
            <a:avLst/>
          </a:prstGeom>
          <a:noFill/>
          <a:ln w="25400">
            <a:solidFill>
              <a:srgbClr val="E1E2E8"/>
            </a:solidFill>
            <a:prstDash val="solid"/>
          </a:ln>
        </p:spPr>
      </p:sp>
      <p:sp>
        <p:nvSpPr>
          <p:cNvPr id="6" name="Text 4"/>
          <p:cNvSpPr/>
          <p:nvPr/>
        </p:nvSpPr>
        <p:spPr>
          <a:xfrm>
            <a:off x="932688" y="1554480"/>
            <a:ext cx="1828800" cy="274320"/>
          </a:xfrm>
          <a:prstGeom prst="rect">
            <a:avLst/>
          </a:prstGeom>
          <a:noFill/>
          <a:ln/>
        </p:spPr>
        <p:txBody>
          <a:bodyPr wrap="square" lIns="0" tIns="0" rIns="0" bIns="0" rtlCol="0" anchor="ctr"/>
          <a:lstStyle/>
          <a:p>
            <a:pPr algn="ctr" indent="0" marL="0">
              <a:buNone/>
            </a:pPr>
            <a:r>
              <a:rPr lang="en-US" sz="1350" b="1" dirty="0">
                <a:solidFill>
                  <a:srgbClr val="F0692B"/>
                </a:solidFill>
                <a:latin typeface="Cambria" pitchFamily="34" charset="0"/>
                <a:ea typeface="Cambria" pitchFamily="34" charset="-122"/>
                <a:cs typeface="Cambria" pitchFamily="34" charset="-120"/>
              </a:rPr>
              <a:t>26 Q4</a:t>
            </a:r>
            <a:endParaRPr lang="en-US" sz="1350" dirty="0"/>
          </a:p>
        </p:txBody>
      </p:sp>
      <p:sp>
        <p:nvSpPr>
          <p:cNvPr id="7" name="Shape 5"/>
          <p:cNvSpPr/>
          <p:nvPr/>
        </p:nvSpPr>
        <p:spPr>
          <a:xfrm>
            <a:off x="1737360" y="1810512"/>
            <a:ext cx="219456" cy="219456"/>
          </a:xfrm>
          <a:prstGeom prst="ellipse">
            <a:avLst/>
          </a:prstGeom>
          <a:solidFill>
            <a:srgbClr val="F0692B"/>
          </a:solidFill>
          <a:ln w="25400">
            <a:solidFill>
              <a:srgbClr val="FFFFFF"/>
            </a:solidFill>
            <a:prstDash val="solid"/>
          </a:ln>
        </p:spPr>
      </p:sp>
      <p:sp>
        <p:nvSpPr>
          <p:cNvPr id="8" name="Shape 6"/>
          <p:cNvSpPr/>
          <p:nvPr/>
        </p:nvSpPr>
        <p:spPr>
          <a:xfrm>
            <a:off x="1847088" y="2029968"/>
            <a:ext cx="0" cy="301752"/>
          </a:xfrm>
          <a:prstGeom prst="line">
            <a:avLst/>
          </a:prstGeom>
          <a:noFill/>
          <a:ln w="19050">
            <a:solidFill>
              <a:srgbClr val="E1E2E8"/>
            </a:solidFill>
            <a:prstDash val="dash"/>
          </a:ln>
        </p:spPr>
      </p:sp>
      <p:sp>
        <p:nvSpPr>
          <p:cNvPr id="9" name="Shape 7"/>
          <p:cNvSpPr/>
          <p:nvPr/>
        </p:nvSpPr>
        <p:spPr>
          <a:xfrm>
            <a:off x="548640" y="2331720"/>
            <a:ext cx="2596896" cy="2743200"/>
          </a:xfrm>
          <a:prstGeom prst="roundRect">
            <a:avLst>
              <a:gd name="adj" fmla="val 2817"/>
            </a:avLst>
          </a:prstGeom>
          <a:solidFill>
            <a:srgbClr val="FAFAFB"/>
          </a:solidFill>
          <a:ln w="12700">
            <a:solidFill>
              <a:srgbClr val="EBEBF0"/>
            </a:solidFill>
            <a:prstDash val="solid"/>
          </a:ln>
        </p:spPr>
      </p:sp>
      <p:sp>
        <p:nvSpPr>
          <p:cNvPr id="10" name="Shape 8"/>
          <p:cNvSpPr/>
          <p:nvPr/>
        </p:nvSpPr>
        <p:spPr>
          <a:xfrm>
            <a:off x="768096" y="2532888"/>
            <a:ext cx="457200" cy="457200"/>
          </a:xfrm>
          <a:prstGeom prst="ellipse">
            <a:avLst/>
          </a:prstGeom>
          <a:solidFill>
            <a:srgbClr val="F0692B"/>
          </a:solidFill>
          <a:ln/>
        </p:spPr>
      </p:sp>
      <p:sp>
        <p:nvSpPr>
          <p:cNvPr id="11" name="Text 9"/>
          <p:cNvSpPr/>
          <p:nvPr/>
        </p:nvSpPr>
        <p:spPr>
          <a:xfrm>
            <a:off x="768096"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10"/>
          <p:cNvSpPr/>
          <p:nvPr/>
        </p:nvSpPr>
        <p:spPr>
          <a:xfrm>
            <a:off x="768096"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공백 방지 체계 구축</a:t>
            </a:r>
            <a:endParaRPr lang="en-US" sz="1400" dirty="0"/>
          </a:p>
        </p:txBody>
      </p:sp>
      <p:sp>
        <p:nvSpPr>
          <p:cNvPr id="13" name="Shape 11"/>
          <p:cNvSpPr/>
          <p:nvPr/>
        </p:nvSpPr>
        <p:spPr>
          <a:xfrm>
            <a:off x="768096" y="3813048"/>
            <a:ext cx="2157984" cy="0"/>
          </a:xfrm>
          <a:prstGeom prst="line">
            <a:avLst/>
          </a:prstGeom>
          <a:noFill/>
          <a:ln w="12700">
            <a:solidFill>
              <a:srgbClr val="E7E7EC"/>
            </a:solidFill>
            <a:prstDash val="solid"/>
          </a:ln>
        </p:spPr>
      </p:sp>
      <p:sp>
        <p:nvSpPr>
          <p:cNvPr id="14" name="Text 12"/>
          <p:cNvSpPr/>
          <p:nvPr/>
        </p:nvSpPr>
        <p:spPr>
          <a:xfrm>
            <a:off x="768096"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1030" dirty="0"/>
          </a:p>
        </p:txBody>
      </p:sp>
      <p:sp>
        <p:nvSpPr>
          <p:cNvPr id="15" name="Text 13"/>
          <p:cNvSpPr/>
          <p:nvPr/>
        </p:nvSpPr>
        <p:spPr>
          <a:xfrm>
            <a:off x="3758184" y="1554480"/>
            <a:ext cx="1828800" cy="274320"/>
          </a:xfrm>
          <a:prstGeom prst="rect">
            <a:avLst/>
          </a:prstGeom>
          <a:noFill/>
          <a:ln/>
        </p:spPr>
        <p:txBody>
          <a:bodyPr wrap="square" lIns="0" tIns="0" rIns="0" bIns="0" rtlCol="0" anchor="ctr"/>
          <a:lstStyle/>
          <a:p>
            <a:pPr algn="ctr" indent="0" marL="0">
              <a:buNone/>
            </a:pPr>
            <a:r>
              <a:rPr lang="en-US" sz="1350" b="1" dirty="0">
                <a:solidFill>
                  <a:srgbClr val="6B4FA0"/>
                </a:solidFill>
                <a:latin typeface="Cambria" pitchFamily="34" charset="0"/>
                <a:ea typeface="Cambria" pitchFamily="34" charset="-122"/>
                <a:cs typeface="Cambria" pitchFamily="34" charset="-120"/>
              </a:rPr>
              <a:t>27 Q1</a:t>
            </a:r>
            <a:endParaRPr lang="en-US" sz="1350" dirty="0"/>
          </a:p>
        </p:txBody>
      </p:sp>
      <p:sp>
        <p:nvSpPr>
          <p:cNvPr id="16" name="Shape 14"/>
          <p:cNvSpPr/>
          <p:nvPr/>
        </p:nvSpPr>
        <p:spPr>
          <a:xfrm>
            <a:off x="4562856" y="1810512"/>
            <a:ext cx="219456" cy="219456"/>
          </a:xfrm>
          <a:prstGeom prst="ellipse">
            <a:avLst/>
          </a:prstGeom>
          <a:solidFill>
            <a:srgbClr val="6B4FA0"/>
          </a:solidFill>
          <a:ln w="25400">
            <a:solidFill>
              <a:srgbClr val="FFFFFF"/>
            </a:solidFill>
            <a:prstDash val="solid"/>
          </a:ln>
        </p:spPr>
      </p:sp>
      <p:sp>
        <p:nvSpPr>
          <p:cNvPr id="17" name="Shape 15"/>
          <p:cNvSpPr/>
          <p:nvPr/>
        </p:nvSpPr>
        <p:spPr>
          <a:xfrm>
            <a:off x="4672584" y="2029968"/>
            <a:ext cx="0" cy="301752"/>
          </a:xfrm>
          <a:prstGeom prst="line">
            <a:avLst/>
          </a:prstGeom>
          <a:noFill/>
          <a:ln w="19050">
            <a:solidFill>
              <a:srgbClr val="E1E2E8"/>
            </a:solidFill>
            <a:prstDash val="dash"/>
          </a:ln>
        </p:spPr>
      </p:sp>
      <p:sp>
        <p:nvSpPr>
          <p:cNvPr id="18" name="Shape 16"/>
          <p:cNvSpPr/>
          <p:nvPr/>
        </p:nvSpPr>
        <p:spPr>
          <a:xfrm>
            <a:off x="3374136" y="2331720"/>
            <a:ext cx="2596896" cy="2743200"/>
          </a:xfrm>
          <a:prstGeom prst="roundRect">
            <a:avLst>
              <a:gd name="adj" fmla="val 2817"/>
            </a:avLst>
          </a:prstGeom>
          <a:solidFill>
            <a:srgbClr val="FAFAFB"/>
          </a:solidFill>
          <a:ln w="12700">
            <a:solidFill>
              <a:srgbClr val="EBEBF0"/>
            </a:solidFill>
            <a:prstDash val="solid"/>
          </a:ln>
        </p:spPr>
      </p:sp>
      <p:sp>
        <p:nvSpPr>
          <p:cNvPr id="19" name="Shape 17"/>
          <p:cNvSpPr/>
          <p:nvPr/>
        </p:nvSpPr>
        <p:spPr>
          <a:xfrm>
            <a:off x="3593592" y="2532888"/>
            <a:ext cx="457200" cy="457200"/>
          </a:xfrm>
          <a:prstGeom prst="ellipse">
            <a:avLst/>
          </a:prstGeom>
          <a:solidFill>
            <a:srgbClr val="6B4FA0"/>
          </a:solidFill>
          <a:ln/>
        </p:spPr>
      </p:sp>
      <p:sp>
        <p:nvSpPr>
          <p:cNvPr id="20" name="Text 18"/>
          <p:cNvSpPr/>
          <p:nvPr/>
        </p:nvSpPr>
        <p:spPr>
          <a:xfrm>
            <a:off x="3593592"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1" name="Text 19"/>
          <p:cNvSpPr/>
          <p:nvPr/>
        </p:nvSpPr>
        <p:spPr>
          <a:xfrm>
            <a:off x="3593592"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UA 계측 체계 파일럿</a:t>
            </a:r>
            <a:endParaRPr lang="en-US" sz="1400" dirty="0"/>
          </a:p>
        </p:txBody>
      </p:sp>
      <p:sp>
        <p:nvSpPr>
          <p:cNvPr id="22" name="Shape 20"/>
          <p:cNvSpPr/>
          <p:nvPr/>
        </p:nvSpPr>
        <p:spPr>
          <a:xfrm>
            <a:off x="3593592" y="3813048"/>
            <a:ext cx="2157984" cy="0"/>
          </a:xfrm>
          <a:prstGeom prst="line">
            <a:avLst/>
          </a:prstGeom>
          <a:noFill/>
          <a:ln w="12700">
            <a:solidFill>
              <a:srgbClr val="E7E7EC"/>
            </a:solidFill>
            <a:prstDash val="solid"/>
          </a:ln>
        </p:spPr>
      </p:sp>
      <p:sp>
        <p:nvSpPr>
          <p:cNvPr id="23" name="Text 21"/>
          <p:cNvSpPr/>
          <p:nvPr/>
        </p:nvSpPr>
        <p:spPr>
          <a:xfrm>
            <a:off x="3593592"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1030" dirty="0"/>
          </a:p>
        </p:txBody>
      </p:sp>
      <p:sp>
        <p:nvSpPr>
          <p:cNvPr id="24" name="Text 22"/>
          <p:cNvSpPr/>
          <p:nvPr/>
        </p:nvSpPr>
        <p:spPr>
          <a:xfrm>
            <a:off x="6583680" y="1554480"/>
            <a:ext cx="1828800" cy="274320"/>
          </a:xfrm>
          <a:prstGeom prst="rect">
            <a:avLst/>
          </a:prstGeom>
          <a:noFill/>
          <a:ln/>
        </p:spPr>
        <p:txBody>
          <a:bodyPr wrap="square" lIns="0" tIns="0" rIns="0" bIns="0" rtlCol="0" anchor="ctr"/>
          <a:lstStyle/>
          <a:p>
            <a:pPr algn="ctr" indent="0" marL="0">
              <a:buNone/>
            </a:pPr>
            <a:r>
              <a:rPr lang="en-US" sz="1350" b="1" dirty="0">
                <a:solidFill>
                  <a:srgbClr val="2FA89A"/>
                </a:solidFill>
                <a:latin typeface="Cambria" pitchFamily="34" charset="0"/>
                <a:ea typeface="Cambria" pitchFamily="34" charset="-122"/>
                <a:cs typeface="Cambria" pitchFamily="34" charset="-120"/>
              </a:rPr>
              <a:t>27 Q1~Q2</a:t>
            </a:r>
            <a:endParaRPr lang="en-US" sz="1350" dirty="0"/>
          </a:p>
        </p:txBody>
      </p:sp>
      <p:sp>
        <p:nvSpPr>
          <p:cNvPr id="25" name="Shape 23"/>
          <p:cNvSpPr/>
          <p:nvPr/>
        </p:nvSpPr>
        <p:spPr>
          <a:xfrm>
            <a:off x="7388352" y="1810512"/>
            <a:ext cx="219456" cy="219456"/>
          </a:xfrm>
          <a:prstGeom prst="ellipse">
            <a:avLst/>
          </a:prstGeom>
          <a:solidFill>
            <a:srgbClr val="2FA89A"/>
          </a:solidFill>
          <a:ln w="25400">
            <a:solidFill>
              <a:srgbClr val="FFFFFF"/>
            </a:solidFill>
            <a:prstDash val="solid"/>
          </a:ln>
        </p:spPr>
      </p:sp>
      <p:sp>
        <p:nvSpPr>
          <p:cNvPr id="26" name="Shape 24"/>
          <p:cNvSpPr/>
          <p:nvPr/>
        </p:nvSpPr>
        <p:spPr>
          <a:xfrm>
            <a:off x="7498080" y="2029968"/>
            <a:ext cx="0" cy="301752"/>
          </a:xfrm>
          <a:prstGeom prst="line">
            <a:avLst/>
          </a:prstGeom>
          <a:noFill/>
          <a:ln w="19050">
            <a:solidFill>
              <a:srgbClr val="E1E2E8"/>
            </a:solidFill>
            <a:prstDash val="dash"/>
          </a:ln>
        </p:spPr>
      </p:sp>
      <p:sp>
        <p:nvSpPr>
          <p:cNvPr id="27" name="Shape 25"/>
          <p:cNvSpPr/>
          <p:nvPr/>
        </p:nvSpPr>
        <p:spPr>
          <a:xfrm>
            <a:off x="6199632" y="2331720"/>
            <a:ext cx="2596896" cy="2743200"/>
          </a:xfrm>
          <a:prstGeom prst="roundRect">
            <a:avLst>
              <a:gd name="adj" fmla="val 2817"/>
            </a:avLst>
          </a:prstGeom>
          <a:solidFill>
            <a:srgbClr val="FAFAFB"/>
          </a:solidFill>
          <a:ln w="12700">
            <a:solidFill>
              <a:srgbClr val="EBEBF0"/>
            </a:solidFill>
            <a:prstDash val="solid"/>
          </a:ln>
        </p:spPr>
      </p:sp>
      <p:sp>
        <p:nvSpPr>
          <p:cNvPr id="28" name="Shape 26"/>
          <p:cNvSpPr/>
          <p:nvPr/>
        </p:nvSpPr>
        <p:spPr>
          <a:xfrm>
            <a:off x="6419088" y="2532888"/>
            <a:ext cx="457200" cy="457200"/>
          </a:xfrm>
          <a:prstGeom prst="ellipse">
            <a:avLst/>
          </a:prstGeom>
          <a:solidFill>
            <a:srgbClr val="2FA89A"/>
          </a:solidFill>
          <a:ln/>
        </p:spPr>
      </p:sp>
      <p:sp>
        <p:nvSpPr>
          <p:cNvPr id="29" name="Text 27"/>
          <p:cNvSpPr/>
          <p:nvPr/>
        </p:nvSpPr>
        <p:spPr>
          <a:xfrm>
            <a:off x="6419088"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0" name="Text 28"/>
          <p:cNvSpPr/>
          <p:nvPr/>
        </p:nvSpPr>
        <p:spPr>
          <a:xfrm>
            <a:off x="6419088"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리브랜딩 캠페인 런칭</a:t>
            </a:r>
            <a:endParaRPr lang="en-US" sz="1400" dirty="0"/>
          </a:p>
        </p:txBody>
      </p:sp>
      <p:sp>
        <p:nvSpPr>
          <p:cNvPr id="31" name="Shape 29"/>
          <p:cNvSpPr/>
          <p:nvPr/>
        </p:nvSpPr>
        <p:spPr>
          <a:xfrm>
            <a:off x="6419088" y="3813048"/>
            <a:ext cx="2157984" cy="0"/>
          </a:xfrm>
          <a:prstGeom prst="line">
            <a:avLst/>
          </a:prstGeom>
          <a:noFill/>
          <a:ln w="12700">
            <a:solidFill>
              <a:srgbClr val="E7E7EC"/>
            </a:solidFill>
            <a:prstDash val="solid"/>
          </a:ln>
        </p:spPr>
      </p:sp>
      <p:sp>
        <p:nvSpPr>
          <p:cNvPr id="32" name="Text 30"/>
          <p:cNvSpPr/>
          <p:nvPr/>
        </p:nvSpPr>
        <p:spPr>
          <a:xfrm>
            <a:off x="6419088"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1030" dirty="0"/>
          </a:p>
        </p:txBody>
      </p:sp>
      <p:sp>
        <p:nvSpPr>
          <p:cNvPr id="33" name="Text 31"/>
          <p:cNvSpPr/>
          <p:nvPr/>
        </p:nvSpPr>
        <p:spPr>
          <a:xfrm>
            <a:off x="9409176" y="1554480"/>
            <a:ext cx="1828800" cy="274320"/>
          </a:xfrm>
          <a:prstGeom prst="rect">
            <a:avLst/>
          </a:prstGeom>
          <a:noFill/>
          <a:ln/>
        </p:spPr>
        <p:txBody>
          <a:bodyPr wrap="square" lIns="0" tIns="0" rIns="0" bIns="0" rtlCol="0" anchor="ctr"/>
          <a:lstStyle/>
          <a:p>
            <a:pPr algn="ctr" indent="0" marL="0">
              <a:buNone/>
            </a:pPr>
            <a:r>
              <a:rPr lang="en-US" sz="1350" b="1" dirty="0">
                <a:solidFill>
                  <a:srgbClr val="E8B84B"/>
                </a:solidFill>
                <a:latin typeface="Cambria" pitchFamily="34" charset="0"/>
                <a:ea typeface="Cambria" pitchFamily="34" charset="-122"/>
                <a:cs typeface="Cambria" pitchFamily="34" charset="-120"/>
              </a:rPr>
              <a:t>27 Q2</a:t>
            </a:r>
            <a:endParaRPr lang="en-US" sz="1350" dirty="0"/>
          </a:p>
        </p:txBody>
      </p:sp>
      <p:sp>
        <p:nvSpPr>
          <p:cNvPr id="34" name="Shape 32"/>
          <p:cNvSpPr/>
          <p:nvPr/>
        </p:nvSpPr>
        <p:spPr>
          <a:xfrm>
            <a:off x="10213848" y="1810512"/>
            <a:ext cx="219456" cy="219456"/>
          </a:xfrm>
          <a:prstGeom prst="ellipse">
            <a:avLst/>
          </a:prstGeom>
          <a:solidFill>
            <a:srgbClr val="E8B84B"/>
          </a:solidFill>
          <a:ln w="25400">
            <a:solidFill>
              <a:srgbClr val="FFFFFF"/>
            </a:solidFill>
            <a:prstDash val="solid"/>
          </a:ln>
        </p:spPr>
      </p:sp>
      <p:sp>
        <p:nvSpPr>
          <p:cNvPr id="35" name="Shape 33"/>
          <p:cNvSpPr/>
          <p:nvPr/>
        </p:nvSpPr>
        <p:spPr>
          <a:xfrm>
            <a:off x="10323576" y="2029968"/>
            <a:ext cx="0" cy="301752"/>
          </a:xfrm>
          <a:prstGeom prst="line">
            <a:avLst/>
          </a:prstGeom>
          <a:noFill/>
          <a:ln w="19050">
            <a:solidFill>
              <a:srgbClr val="E1E2E8"/>
            </a:solidFill>
            <a:prstDash val="dash"/>
          </a:ln>
        </p:spPr>
      </p:sp>
      <p:sp>
        <p:nvSpPr>
          <p:cNvPr id="36" name="Shape 34"/>
          <p:cNvSpPr/>
          <p:nvPr/>
        </p:nvSpPr>
        <p:spPr>
          <a:xfrm>
            <a:off x="9025128" y="2331720"/>
            <a:ext cx="2596896" cy="2743200"/>
          </a:xfrm>
          <a:prstGeom prst="roundRect">
            <a:avLst>
              <a:gd name="adj" fmla="val 2817"/>
            </a:avLst>
          </a:prstGeom>
          <a:solidFill>
            <a:srgbClr val="FAFAFB"/>
          </a:solidFill>
          <a:ln w="12700">
            <a:solidFill>
              <a:srgbClr val="EBEBF0"/>
            </a:solidFill>
            <a:prstDash val="solid"/>
          </a:ln>
        </p:spPr>
      </p:sp>
      <p:sp>
        <p:nvSpPr>
          <p:cNvPr id="37" name="Shape 35"/>
          <p:cNvSpPr/>
          <p:nvPr/>
        </p:nvSpPr>
        <p:spPr>
          <a:xfrm>
            <a:off x="9244584" y="2532888"/>
            <a:ext cx="457200" cy="457200"/>
          </a:xfrm>
          <a:prstGeom prst="ellipse">
            <a:avLst/>
          </a:prstGeom>
          <a:solidFill>
            <a:srgbClr val="E8B84B"/>
          </a:solidFill>
          <a:ln/>
        </p:spPr>
      </p:sp>
      <p:sp>
        <p:nvSpPr>
          <p:cNvPr id="38" name="Text 36"/>
          <p:cNvSpPr/>
          <p:nvPr/>
        </p:nvSpPr>
        <p:spPr>
          <a:xfrm>
            <a:off x="9244584"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9" name="Text 37"/>
          <p:cNvSpPr/>
          <p:nvPr/>
        </p:nvSpPr>
        <p:spPr>
          <a:xfrm>
            <a:off x="9244584"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대시보드 정식 가동</a:t>
            </a:r>
            <a:endParaRPr lang="en-US" sz="1400" dirty="0"/>
          </a:p>
        </p:txBody>
      </p:sp>
      <p:sp>
        <p:nvSpPr>
          <p:cNvPr id="40" name="Shape 38"/>
          <p:cNvSpPr/>
          <p:nvPr/>
        </p:nvSpPr>
        <p:spPr>
          <a:xfrm>
            <a:off x="9244584" y="3813048"/>
            <a:ext cx="2157984" cy="0"/>
          </a:xfrm>
          <a:prstGeom prst="line">
            <a:avLst/>
          </a:prstGeom>
          <a:noFill/>
          <a:ln w="12700">
            <a:solidFill>
              <a:srgbClr val="E7E7EC"/>
            </a:solidFill>
            <a:prstDash val="solid"/>
          </a:ln>
        </p:spPr>
      </p:sp>
      <p:sp>
        <p:nvSpPr>
          <p:cNvPr id="41" name="Text 39"/>
          <p:cNvSpPr/>
          <p:nvPr/>
        </p:nvSpPr>
        <p:spPr>
          <a:xfrm>
            <a:off x="9244584"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본 보고서의 9개 타일을 실데이터 연동 대시보드로 전환, 효율 지수 자동 갱신</a:t>
            </a:r>
            <a:endParaRPr lang="en-US" sz="1030" dirty="0"/>
          </a:p>
        </p:txBody>
      </p:sp>
      <p:sp>
        <p:nvSpPr>
          <p:cNvPr id="42" name="Shape 40"/>
          <p:cNvSpPr/>
          <p:nvPr/>
        </p:nvSpPr>
        <p:spPr>
          <a:xfrm>
            <a:off x="548640" y="5257800"/>
            <a:ext cx="11064240" cy="777240"/>
          </a:xfrm>
          <a:prstGeom prst="roundRect">
            <a:avLst>
              <a:gd name="adj" fmla="val 7059"/>
            </a:avLst>
          </a:prstGeom>
          <a:solidFill>
            <a:srgbClr val="1D2030"/>
          </a:solidFill>
          <a:ln/>
        </p:spPr>
      </p:sp>
      <p:sp>
        <p:nvSpPr>
          <p:cNvPr id="43" name="Text 41"/>
          <p:cNvSpPr/>
          <p:nvPr/>
        </p:nvSpPr>
        <p:spPr>
          <a:xfrm>
            <a:off x="822960" y="5257800"/>
            <a:ext cx="10515600" cy="777240"/>
          </a:xfrm>
          <a:prstGeom prst="rect">
            <a:avLst/>
          </a:prstGeom>
          <a:noFill/>
          <a:ln/>
        </p:spPr>
        <p:txBody>
          <a:bodyPr wrap="square" lIns="0" tIns="0" rIns="0" bIns="0" rtlCol="0" anchor="ctr"/>
          <a:lstStyle/>
          <a:p>
            <a:pPr indent="0" marL="0">
              <a:lnSpc>
                <a:spcPct val="125000"/>
              </a:lnSpc>
              <a:buNone/>
            </a:pPr>
            <a:r>
              <a:rPr lang="en-US" sz="1200" b="1" dirty="0">
                <a:solidFill>
                  <a:srgbClr val="E8B84B"/>
                </a:solidFill>
                <a:latin typeface="Calibri" pitchFamily="34" charset="0"/>
                <a:ea typeface="Calibri" pitchFamily="34" charset="-122"/>
                <a:cs typeface="Calibri" pitchFamily="34" charset="-120"/>
              </a:rPr>
              <a:t>KPI 목표  </a:t>
            </a:r>
            <a:pPr indent="0" marL="0">
              <a:lnSpc>
                <a:spcPct val="125000"/>
              </a:lnSpc>
              <a:buNone/>
            </a:pPr>
            <a:r>
              <a:rPr lang="en-US" sz="1200" dirty="0">
                <a:solidFill>
                  <a:srgbClr val="E8E9F0"/>
                </a:solidFill>
                <a:latin typeface="Calibri" pitchFamily="34" charset="0"/>
                <a:ea typeface="Calibri" pitchFamily="34" charset="-122"/>
                <a:cs typeface="Calibri" pitchFamily="34" charset="-120"/>
              </a:rPr>
              <a:t>구글 플레이스토어 순위 Top30 이내 90% 이상 유지 · 이용자순위 변동폭 ±15 이내 안정화 · 타이틀 단위 실측 CPI 체계 2027 Q1 내 구축</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548640" y="1399032"/>
            <a:ext cx="11109960" cy="292608"/>
          </a:xfrm>
          <a:prstGeom prst="roundRect">
            <a:avLst>
              <a:gd name="adj" fmla="val 12500"/>
            </a:avLst>
          </a:prstGeom>
          <a:solidFill>
            <a:srgbClr val="1D2030"/>
          </a:solidFill>
          <a:ln/>
        </p:spPr>
      </p:sp>
      <p:sp>
        <p:nvSpPr>
          <p:cNvPr id="7" name="Text 5"/>
          <p:cNvSpPr/>
          <p:nvPr/>
        </p:nvSpPr>
        <p:spPr>
          <a:xfrm>
            <a:off x="548640" y="1399032"/>
            <a:ext cx="7772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399032"/>
            <a:ext cx="228600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399032"/>
            <a:ext cx="14630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399032"/>
            <a:ext cx="3291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399032"/>
            <a:ext cx="1005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399032"/>
            <a:ext cx="173736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709928"/>
            <a:ext cx="11109960" cy="320040"/>
          </a:xfrm>
          <a:prstGeom prst="rect">
            <a:avLst/>
          </a:prstGeom>
          <a:solidFill>
            <a:srgbClr val="FAFAFB"/>
          </a:solidFill>
          <a:ln/>
        </p:spPr>
      </p:sp>
      <p:sp>
        <p:nvSpPr>
          <p:cNvPr id="14" name="Text 12"/>
          <p:cNvSpPr/>
          <p:nvPr/>
        </p:nvSpPr>
        <p:spPr>
          <a:xfrm>
            <a:off x="548640" y="17373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7373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7373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7373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7373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7373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075688"/>
            <a:ext cx="11109960" cy="320040"/>
          </a:xfrm>
          <a:prstGeom prst="rect">
            <a:avLst/>
          </a:prstGeom>
          <a:solidFill>
            <a:srgbClr val="FFFFFF"/>
          </a:solidFill>
          <a:ln/>
        </p:spPr>
      </p:sp>
      <p:sp>
        <p:nvSpPr>
          <p:cNvPr id="21" name="Text 19"/>
          <p:cNvSpPr/>
          <p:nvPr/>
        </p:nvSpPr>
        <p:spPr>
          <a:xfrm>
            <a:off x="548640" y="21031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1031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구글 플레이스토어 순위 추이</a:t>
            </a:r>
            <a:endParaRPr lang="en-US" sz="980" dirty="0"/>
          </a:p>
        </p:txBody>
      </p:sp>
      <p:sp>
        <p:nvSpPr>
          <p:cNvPr id="23" name="Text 21"/>
          <p:cNvSpPr/>
          <p:nvPr/>
        </p:nvSpPr>
        <p:spPr>
          <a:xfrm>
            <a:off x="3794760" y="21031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24" name="Text 22"/>
          <p:cNvSpPr/>
          <p:nvPr/>
        </p:nvSpPr>
        <p:spPr>
          <a:xfrm>
            <a:off x="5349240" y="21031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1031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1031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441448"/>
            <a:ext cx="11109960" cy="320040"/>
          </a:xfrm>
          <a:prstGeom prst="rect">
            <a:avLst/>
          </a:prstGeom>
          <a:solidFill>
            <a:srgbClr val="FAFAFB"/>
          </a:solidFill>
          <a:ln/>
        </p:spPr>
      </p:sp>
      <p:sp>
        <p:nvSpPr>
          <p:cNvPr id="28" name="Text 26"/>
          <p:cNvSpPr/>
          <p:nvPr/>
        </p:nvSpPr>
        <p:spPr>
          <a:xfrm>
            <a:off x="548640" y="24688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4688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30" name="Text 28"/>
          <p:cNvSpPr/>
          <p:nvPr/>
        </p:nvSpPr>
        <p:spPr>
          <a:xfrm>
            <a:off x="3794760" y="24688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31" name="Text 29"/>
          <p:cNvSpPr/>
          <p:nvPr/>
        </p:nvSpPr>
        <p:spPr>
          <a:xfrm>
            <a:off x="5349240" y="24688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32" name="Text 30"/>
          <p:cNvSpPr/>
          <p:nvPr/>
        </p:nvSpPr>
        <p:spPr>
          <a:xfrm>
            <a:off x="8732520" y="24688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4688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34" name="Shape 32"/>
          <p:cNvSpPr/>
          <p:nvPr/>
        </p:nvSpPr>
        <p:spPr>
          <a:xfrm>
            <a:off x="548640" y="2807208"/>
            <a:ext cx="11109960" cy="320040"/>
          </a:xfrm>
          <a:prstGeom prst="rect">
            <a:avLst/>
          </a:prstGeom>
          <a:solidFill>
            <a:srgbClr val="FFFFFF"/>
          </a:solidFill>
          <a:ln/>
        </p:spPr>
      </p:sp>
      <p:sp>
        <p:nvSpPr>
          <p:cNvPr id="35" name="Text 33"/>
          <p:cNvSpPr/>
          <p:nvPr/>
        </p:nvSpPr>
        <p:spPr>
          <a:xfrm>
            <a:off x="548640" y="28346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28346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구글플레이스토어 순위 격차</a:t>
            </a:r>
            <a:endParaRPr lang="en-US" sz="980" dirty="0"/>
          </a:p>
        </p:txBody>
      </p:sp>
      <p:sp>
        <p:nvSpPr>
          <p:cNvPr id="37" name="Text 35"/>
          <p:cNvSpPr/>
          <p:nvPr/>
        </p:nvSpPr>
        <p:spPr>
          <a:xfrm>
            <a:off x="3794760" y="28346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8" name="Text 36"/>
          <p:cNvSpPr/>
          <p:nvPr/>
        </p:nvSpPr>
        <p:spPr>
          <a:xfrm>
            <a:off x="5349240" y="28346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28346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28346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172968"/>
            <a:ext cx="11109960" cy="320040"/>
          </a:xfrm>
          <a:prstGeom prst="rect">
            <a:avLst/>
          </a:prstGeom>
          <a:solidFill>
            <a:srgbClr val="FAFAFB"/>
          </a:solidFill>
          <a:ln/>
        </p:spPr>
      </p:sp>
      <p:sp>
        <p:nvSpPr>
          <p:cNvPr id="42" name="Text 40"/>
          <p:cNvSpPr/>
          <p:nvPr/>
        </p:nvSpPr>
        <p:spPr>
          <a:xfrm>
            <a:off x="548640" y="32004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2004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44" name="Text 42"/>
          <p:cNvSpPr/>
          <p:nvPr/>
        </p:nvSpPr>
        <p:spPr>
          <a:xfrm>
            <a:off x="3794760" y="32004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45" name="Text 43"/>
          <p:cNvSpPr/>
          <p:nvPr/>
        </p:nvSpPr>
        <p:spPr>
          <a:xfrm>
            <a:off x="5349240" y="32004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T-03 계산값(경쟁작−메이플M)</a:t>
            </a:r>
            <a:endParaRPr lang="en-US" sz="980" dirty="0"/>
          </a:p>
        </p:txBody>
      </p:sp>
      <p:sp>
        <p:nvSpPr>
          <p:cNvPr id="46" name="Text 44"/>
          <p:cNvSpPr/>
          <p:nvPr/>
        </p:nvSpPr>
        <p:spPr>
          <a:xfrm>
            <a:off x="8732520" y="32004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7" name="Text 45"/>
          <p:cNvSpPr/>
          <p:nvPr/>
        </p:nvSpPr>
        <p:spPr>
          <a:xfrm>
            <a:off x="9829800" y="32004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8" name="Shape 46"/>
          <p:cNvSpPr/>
          <p:nvPr/>
        </p:nvSpPr>
        <p:spPr>
          <a:xfrm>
            <a:off x="548640" y="3538728"/>
            <a:ext cx="11109960" cy="320040"/>
          </a:xfrm>
          <a:prstGeom prst="rect">
            <a:avLst/>
          </a:prstGeom>
          <a:solidFill>
            <a:srgbClr val="FFFFFF"/>
          </a:solidFill>
          <a:ln/>
        </p:spPr>
      </p:sp>
      <p:sp>
        <p:nvSpPr>
          <p:cNvPr id="49" name="Text 47"/>
          <p:cNvSpPr/>
          <p:nvPr/>
        </p:nvSpPr>
        <p:spPr>
          <a:xfrm>
            <a:off x="548640" y="35661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35661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마비노기</a:t>
            </a:r>
            <a:endParaRPr lang="en-US" sz="980" dirty="0"/>
          </a:p>
        </p:txBody>
      </p:sp>
      <p:sp>
        <p:nvSpPr>
          <p:cNvPr id="51" name="Text 49"/>
          <p:cNvSpPr/>
          <p:nvPr/>
        </p:nvSpPr>
        <p:spPr>
          <a:xfrm>
            <a:off x="3794760" y="35661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2" name="Text 50"/>
          <p:cNvSpPr/>
          <p:nvPr/>
        </p:nvSpPr>
        <p:spPr>
          <a:xfrm>
            <a:off x="5349240" y="35661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+ 4사 이벤트 타임라인 보고서</a:t>
            </a:r>
            <a:endParaRPr lang="en-US" sz="980" dirty="0"/>
          </a:p>
        </p:txBody>
      </p:sp>
      <p:sp>
        <p:nvSpPr>
          <p:cNvPr id="53" name="Text 51"/>
          <p:cNvSpPr/>
          <p:nvPr/>
        </p:nvSpPr>
        <p:spPr>
          <a:xfrm>
            <a:off x="8732520" y="35661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54" name="Text 52"/>
          <p:cNvSpPr/>
          <p:nvPr/>
        </p:nvSpPr>
        <p:spPr>
          <a:xfrm>
            <a:off x="9829800" y="35661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55" name="Shape 53"/>
          <p:cNvSpPr/>
          <p:nvPr/>
        </p:nvSpPr>
        <p:spPr>
          <a:xfrm>
            <a:off x="548640" y="3904488"/>
            <a:ext cx="11109960" cy="320040"/>
          </a:xfrm>
          <a:prstGeom prst="rect">
            <a:avLst/>
          </a:prstGeom>
          <a:solidFill>
            <a:srgbClr val="FAFAFB"/>
          </a:solidFill>
          <a:ln/>
        </p:spPr>
      </p:sp>
      <p:sp>
        <p:nvSpPr>
          <p:cNvPr id="56" name="Text 54"/>
          <p:cNvSpPr/>
          <p:nvPr/>
        </p:nvSpPr>
        <p:spPr>
          <a:xfrm>
            <a:off x="548640" y="39319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39319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검은사막</a:t>
            </a:r>
            <a:endParaRPr lang="en-US" sz="980" dirty="0"/>
          </a:p>
        </p:txBody>
      </p:sp>
      <p:sp>
        <p:nvSpPr>
          <p:cNvPr id="58" name="Text 56"/>
          <p:cNvSpPr/>
          <p:nvPr/>
        </p:nvSpPr>
        <p:spPr>
          <a:xfrm>
            <a:off x="3794760" y="39319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9" name="Text 57"/>
          <p:cNvSpPr/>
          <p:nvPr/>
        </p:nvSpPr>
        <p:spPr>
          <a:xfrm>
            <a:off x="5349240" y="39319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+ 4사 이벤트 타임라인 보고서</a:t>
            </a:r>
            <a:endParaRPr lang="en-US" sz="980" dirty="0"/>
          </a:p>
        </p:txBody>
      </p:sp>
      <p:sp>
        <p:nvSpPr>
          <p:cNvPr id="60" name="Text 58"/>
          <p:cNvSpPr/>
          <p:nvPr/>
        </p:nvSpPr>
        <p:spPr>
          <a:xfrm>
            <a:off x="8732520" y="39319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61" name="Text 59"/>
          <p:cNvSpPr/>
          <p:nvPr/>
        </p:nvSpPr>
        <p:spPr>
          <a:xfrm>
            <a:off x="9829800" y="39319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62" name="Shape 60"/>
          <p:cNvSpPr/>
          <p:nvPr/>
        </p:nvSpPr>
        <p:spPr>
          <a:xfrm>
            <a:off x="548640" y="4270248"/>
            <a:ext cx="11109960" cy="320040"/>
          </a:xfrm>
          <a:prstGeom prst="rect">
            <a:avLst/>
          </a:prstGeom>
          <a:solidFill>
            <a:srgbClr val="FFFFFF"/>
          </a:solidFill>
          <a:ln/>
        </p:spPr>
      </p:sp>
      <p:sp>
        <p:nvSpPr>
          <p:cNvPr id="63" name="Text 61"/>
          <p:cNvSpPr/>
          <p:nvPr/>
        </p:nvSpPr>
        <p:spPr>
          <a:xfrm>
            <a:off x="548640" y="42976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42976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아이온2</a:t>
            </a:r>
            <a:endParaRPr lang="en-US" sz="980" dirty="0"/>
          </a:p>
        </p:txBody>
      </p:sp>
      <p:sp>
        <p:nvSpPr>
          <p:cNvPr id="65" name="Text 63"/>
          <p:cNvSpPr/>
          <p:nvPr/>
        </p:nvSpPr>
        <p:spPr>
          <a:xfrm>
            <a:off x="3794760" y="42976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66" name="Text 64"/>
          <p:cNvSpPr/>
          <p:nvPr/>
        </p:nvSpPr>
        <p:spPr>
          <a:xfrm>
            <a:off x="5349240" y="42976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+ 4사 이벤트 타임라인 보고서</a:t>
            </a:r>
            <a:endParaRPr lang="en-US" sz="980" dirty="0"/>
          </a:p>
        </p:txBody>
      </p:sp>
      <p:sp>
        <p:nvSpPr>
          <p:cNvPr id="67" name="Text 65"/>
          <p:cNvSpPr/>
          <p:nvPr/>
        </p:nvSpPr>
        <p:spPr>
          <a:xfrm>
            <a:off x="8732520" y="42976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68" name="Text 66"/>
          <p:cNvSpPr/>
          <p:nvPr/>
        </p:nvSpPr>
        <p:spPr>
          <a:xfrm>
            <a:off x="9829800" y="42976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69" name="Shape 67"/>
          <p:cNvSpPr/>
          <p:nvPr/>
        </p:nvSpPr>
        <p:spPr>
          <a:xfrm>
            <a:off x="548640" y="4636008"/>
            <a:ext cx="11109960" cy="320040"/>
          </a:xfrm>
          <a:prstGeom prst="rect">
            <a:avLst/>
          </a:prstGeom>
          <a:solidFill>
            <a:srgbClr val="FAFAFB"/>
          </a:solidFill>
          <a:ln/>
        </p:spPr>
      </p:sp>
      <p:sp>
        <p:nvSpPr>
          <p:cNvPr id="70" name="Text 68"/>
          <p:cNvSpPr/>
          <p:nvPr/>
        </p:nvSpPr>
        <p:spPr>
          <a:xfrm>
            <a:off x="548640" y="46634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46634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72" name="Text 70"/>
          <p:cNvSpPr/>
          <p:nvPr/>
        </p:nvSpPr>
        <p:spPr>
          <a:xfrm>
            <a:off x="3794760" y="46634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73" name="Text 71"/>
          <p:cNvSpPr/>
          <p:nvPr/>
        </p:nvSpPr>
        <p:spPr>
          <a:xfrm>
            <a:off x="5349240" y="46634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74" name="Text 72"/>
          <p:cNvSpPr/>
          <p:nvPr/>
        </p:nvSpPr>
        <p:spPr>
          <a:xfrm>
            <a:off x="8732520" y="46634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75" name="Text 73"/>
          <p:cNvSpPr/>
          <p:nvPr/>
        </p:nvSpPr>
        <p:spPr>
          <a:xfrm>
            <a:off x="9829800" y="46634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76" name="Shape 74"/>
          <p:cNvSpPr/>
          <p:nvPr/>
        </p:nvSpPr>
        <p:spPr>
          <a:xfrm>
            <a:off x="548640" y="5001768"/>
            <a:ext cx="11109960" cy="320040"/>
          </a:xfrm>
          <a:prstGeom prst="rect">
            <a:avLst/>
          </a:prstGeom>
          <a:solidFill>
            <a:srgbClr val="FFFFFF"/>
          </a:solidFill>
          <a:ln/>
        </p:spPr>
      </p:sp>
      <p:sp>
        <p:nvSpPr>
          <p:cNvPr id="77" name="Text 75"/>
          <p:cNvSpPr/>
          <p:nvPr/>
        </p:nvSpPr>
        <p:spPr>
          <a:xfrm>
            <a:off x="548640" y="50292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T-10</a:t>
            </a:r>
            <a:endParaRPr lang="en-US" sz="1100" dirty="0"/>
          </a:p>
        </p:txBody>
      </p:sp>
      <p:sp>
        <p:nvSpPr>
          <p:cNvPr id="78" name="Text 76"/>
          <p:cNvSpPr/>
          <p:nvPr/>
        </p:nvSpPr>
        <p:spPr>
          <a:xfrm>
            <a:off x="1417320" y="50292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79" name="Text 77"/>
          <p:cNvSpPr/>
          <p:nvPr/>
        </p:nvSpPr>
        <p:spPr>
          <a:xfrm>
            <a:off x="3794760" y="50292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80" name="Text 78"/>
          <p:cNvSpPr/>
          <p:nvPr/>
        </p:nvSpPr>
        <p:spPr>
          <a:xfrm>
            <a:off x="5349240" y="50292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T-09 계산값</a:t>
            </a:r>
            <a:endParaRPr lang="en-US" sz="980" dirty="0"/>
          </a:p>
        </p:txBody>
      </p:sp>
      <p:sp>
        <p:nvSpPr>
          <p:cNvPr id="81" name="Text 79"/>
          <p:cNvSpPr/>
          <p:nvPr/>
        </p:nvSpPr>
        <p:spPr>
          <a:xfrm>
            <a:off x="8732520" y="50292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82" name="Text 80"/>
          <p:cNvSpPr/>
          <p:nvPr/>
        </p:nvSpPr>
        <p:spPr>
          <a:xfrm>
            <a:off x="9829800" y="50292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83" name="Shape 81"/>
          <p:cNvSpPr/>
          <p:nvPr/>
        </p:nvSpPr>
        <p:spPr>
          <a:xfrm>
            <a:off x="548640" y="5367528"/>
            <a:ext cx="11109960" cy="320040"/>
          </a:xfrm>
          <a:prstGeom prst="rect">
            <a:avLst/>
          </a:prstGeom>
          <a:solidFill>
            <a:srgbClr val="FAFAFB"/>
          </a:solidFill>
          <a:ln/>
        </p:spPr>
      </p:sp>
      <p:sp>
        <p:nvSpPr>
          <p:cNvPr id="84" name="Text 82"/>
          <p:cNvSpPr/>
          <p:nvPr/>
        </p:nvSpPr>
        <p:spPr>
          <a:xfrm>
            <a:off x="548640" y="53949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T-11</a:t>
            </a:r>
            <a:endParaRPr lang="en-US" sz="1100" dirty="0"/>
          </a:p>
        </p:txBody>
      </p:sp>
      <p:sp>
        <p:nvSpPr>
          <p:cNvPr id="85" name="Text 83"/>
          <p:cNvSpPr/>
          <p:nvPr/>
        </p:nvSpPr>
        <p:spPr>
          <a:xfrm>
            <a:off x="1417320" y="53949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86" name="Text 84"/>
          <p:cNvSpPr/>
          <p:nvPr/>
        </p:nvSpPr>
        <p:spPr>
          <a:xfrm>
            <a:off x="3794760" y="53949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87" name="Text 85"/>
          <p:cNvSpPr/>
          <p:nvPr/>
        </p:nvSpPr>
        <p:spPr>
          <a:xfrm>
            <a:off x="5349240" y="53949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88" name="Text 86"/>
          <p:cNvSpPr/>
          <p:nvPr/>
        </p:nvSpPr>
        <p:spPr>
          <a:xfrm>
            <a:off x="8732520" y="53949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89" name="Text 87"/>
          <p:cNvSpPr/>
          <p:nvPr/>
        </p:nvSpPr>
        <p:spPr>
          <a:xfrm>
            <a:off x="9829800" y="53949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90" name="Shape 88"/>
          <p:cNvSpPr/>
          <p:nvPr/>
        </p:nvSpPr>
        <p:spPr>
          <a:xfrm>
            <a:off x="548640" y="5733288"/>
            <a:ext cx="11109960" cy="320040"/>
          </a:xfrm>
          <a:prstGeom prst="rect">
            <a:avLst/>
          </a:prstGeom>
          <a:solidFill>
            <a:srgbClr val="FFFFFF"/>
          </a:solidFill>
          <a:ln/>
        </p:spPr>
      </p:sp>
      <p:sp>
        <p:nvSpPr>
          <p:cNvPr id="91" name="Text 89"/>
          <p:cNvSpPr/>
          <p:nvPr/>
        </p:nvSpPr>
        <p:spPr>
          <a:xfrm>
            <a:off x="548640" y="57607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T-12</a:t>
            </a:r>
            <a:endParaRPr lang="en-US" sz="1100" dirty="0"/>
          </a:p>
        </p:txBody>
      </p:sp>
      <p:sp>
        <p:nvSpPr>
          <p:cNvPr id="92" name="Text 90"/>
          <p:cNvSpPr/>
          <p:nvPr/>
        </p:nvSpPr>
        <p:spPr>
          <a:xfrm>
            <a:off x="1417320" y="57607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93" name="Text 91"/>
          <p:cNvSpPr/>
          <p:nvPr/>
        </p:nvSpPr>
        <p:spPr>
          <a:xfrm>
            <a:off x="3794760" y="57607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94" name="Text 92"/>
          <p:cNvSpPr/>
          <p:nvPr/>
        </p:nvSpPr>
        <p:spPr>
          <a:xfrm>
            <a:off x="5349240" y="57607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T-09·T-10 + T-02·T-03 교차</a:t>
            </a:r>
            <a:endParaRPr lang="en-US" sz="980" dirty="0"/>
          </a:p>
        </p:txBody>
      </p:sp>
      <p:sp>
        <p:nvSpPr>
          <p:cNvPr id="95" name="Text 93"/>
          <p:cNvSpPr/>
          <p:nvPr/>
        </p:nvSpPr>
        <p:spPr>
          <a:xfrm>
            <a:off x="8732520" y="57607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96" name="Text 94"/>
          <p:cNvSpPr/>
          <p:nvPr/>
        </p:nvSpPr>
        <p:spPr>
          <a:xfrm>
            <a:off x="9829800" y="57607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2026-08-27T02:24:45Z</dcterms:created>
  <dcterms:modified xsi:type="dcterms:W3CDTF">2026-08-27T02:24:45Z</dcterms:modified>
</cp:coreProperties>
</file>