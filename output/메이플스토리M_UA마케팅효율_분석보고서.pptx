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4.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메이플스토리M</c:v>
                </c:pt>
              </c:strCache>
            </c:strRef>
          </c:tx>
          <c:spPr>
            <a:solidFill>
              <a:srgbClr val="F0692B"/>
            </a:solidFill>
            <a:effectLst/>
          </c:spPr>
          <c:invertIfNegative val="0"/>
          <c:dLbls>
            <c:numFmt formatCode="#,##0" sourceLinked="0"/>
            <c:txPr>
              <a:bodyPr/>
              <a:lstStyle/>
              <a:p>
                <a:pPr>
                  <a:defRPr b="0" i="0" strike="noStrike" sz="1000" u="none">
                    <a:solidFill>
                      <a:srgbClr val="3A3D4A"/>
                    </a:solidFill>
                    <a:latin typeface="Arial"/>
                  </a:defRPr>
                </a:pPr>
              </a:p>
            </c:txPr>
            <c:showLegendKey val="0"/>
            <c:showVal val="1"/>
            <c:showCatName val="0"/>
            <c:showSerName val="0"/>
            <c:showPercent val="0"/>
            <c:showBubbleSize val="0"/>
            <c:showLeaderLines val="0"/>
          </c:dLbls>
          <c:cat>
            <c:multiLvlStrRef>
              <c:f>Sheet1!$A$2:$A$5</c:f>
              <c:multiLvlStrCache>
                <c:ptCount val="4"/>
                <c:lvl>
                  <c:pt idx="0">
                    <c:v>25 Q4</c:v>
                  </c:pt>
                  <c:pt idx="1">
                    <c:v>26 Q1</c:v>
                  </c:pt>
                  <c:pt idx="2">
                    <c:v>26 Q2</c:v>
                  </c:pt>
                  <c:pt idx="3">
                    <c:v>26 Q3</c:v>
                  </c:pt>
                </c:lvl>
              </c:multiLvlStrCache>
            </c:multiLvlStrRef>
          </c:cat>
          <c:val>
            <c:numRef>
              <c:f>Sheet1!$B$2:$B$5</c:f>
              <c:numCache>
                <c:formatCode>General</c:formatCode>
                <c:ptCount val="4"/>
                <c:pt idx="0">
                  <c:v>2</c:v>
                </c:pt>
                <c:pt idx="1">
                  <c:v>2</c:v>
                </c:pt>
                <c:pt idx="2">
                  <c:v>1</c:v>
                </c:pt>
                <c:pt idx="3">
                  <c:v>2</c:v>
                </c:pt>
              </c:numCache>
            </c:numRef>
          </c:val>
        </c:ser>
        <c:ser>
          <c:idx val="1"/>
          <c:order val="1"/>
          <c:tx>
            <c:strRef>
              <c:f>Sheet1!$C$1</c:f>
              <c:strCache>
                <c:ptCount val="1"/>
                <c:pt idx="0">
                  <c:v>마비노기모바일</c:v>
                </c:pt>
              </c:strCache>
            </c:strRef>
          </c:tx>
          <c:spPr>
            <a:solidFill>
              <a:srgbClr val="2FA89A"/>
            </a:solidFill>
            <a:effectLst/>
          </c:spPr>
          <c:invertIfNegative val="0"/>
          <c:dLbls>
            <c:numFmt formatCode="#,##0" sourceLinked="0"/>
            <c:txPr>
              <a:bodyPr/>
              <a:lstStyle/>
              <a:p>
                <a:pPr>
                  <a:defRPr b="0" i="0" strike="noStrike" sz="1000" u="none">
                    <a:solidFill>
                      <a:srgbClr val="3A3D4A"/>
                    </a:solidFill>
                    <a:latin typeface="Arial"/>
                  </a:defRPr>
                </a:pPr>
              </a:p>
            </c:txPr>
            <c:showLegendKey val="0"/>
            <c:showVal val="1"/>
            <c:showCatName val="0"/>
            <c:showSerName val="0"/>
            <c:showPercent val="0"/>
            <c:showBubbleSize val="0"/>
            <c:showLeaderLines val="0"/>
          </c:dLbls>
          <c:cat>
            <c:multiLvlStrRef>
              <c:f>Sheet1!$A$2:$A$5</c:f>
              <c:multiLvlStrCache>
                <c:ptCount val="4"/>
                <c:lvl>
                  <c:pt idx="0">
                    <c:v>25 Q4</c:v>
                  </c:pt>
                  <c:pt idx="1">
                    <c:v>26 Q1</c:v>
                  </c:pt>
                  <c:pt idx="2">
                    <c:v>26 Q2</c:v>
                  </c:pt>
                  <c:pt idx="3">
                    <c:v>26 Q3</c:v>
                  </c:pt>
                </c:lvl>
              </c:multiLvlStrCache>
            </c:multiLvlStrRef>
          </c:cat>
          <c:val>
            <c:numRef>
              <c:f>Sheet1!$C$2:$C$5</c:f>
              <c:numCache>
                <c:formatCode>General</c:formatCode>
                <c:ptCount val="4"/>
                <c:pt idx="0">
                  <c:v>2</c:v>
                </c:pt>
                <c:pt idx="1">
                  <c:v>2</c:v>
                </c:pt>
                <c:pt idx="2">
                  <c:v>2</c:v>
                </c:pt>
                <c:pt idx="3">
                  <c:v>2</c:v>
                </c:pt>
              </c:numCache>
            </c:numRef>
          </c:val>
        </c:ser>
        <c:ser>
          <c:idx val="2"/>
          <c:order val="2"/>
          <c:tx>
            <c:strRef>
              <c:f>Sheet1!$D$1</c:f>
              <c:strCache>
                <c:ptCount val="1"/>
                <c:pt idx="0">
                  <c:v>검은사막모바일</c:v>
                </c:pt>
              </c:strCache>
            </c:strRef>
          </c:tx>
          <c:spPr>
            <a:solidFill>
              <a:srgbClr val="8B2635"/>
            </a:solidFill>
            <a:effectLst/>
          </c:spPr>
          <c:invertIfNegative val="0"/>
          <c:dLbls>
            <c:numFmt formatCode="#,##0" sourceLinked="0"/>
            <c:txPr>
              <a:bodyPr/>
              <a:lstStyle/>
              <a:p>
                <a:pPr>
                  <a:defRPr b="0" i="0" strike="noStrike" sz="1000" u="none">
                    <a:solidFill>
                      <a:srgbClr val="3A3D4A"/>
                    </a:solidFill>
                    <a:latin typeface="Arial"/>
                  </a:defRPr>
                </a:pPr>
              </a:p>
            </c:txPr>
            <c:showLegendKey val="0"/>
            <c:showVal val="1"/>
            <c:showCatName val="0"/>
            <c:showSerName val="0"/>
            <c:showPercent val="0"/>
            <c:showBubbleSize val="0"/>
            <c:showLeaderLines val="0"/>
          </c:dLbls>
          <c:cat>
            <c:multiLvlStrRef>
              <c:f>Sheet1!$A$2:$A$5</c:f>
              <c:multiLvlStrCache>
                <c:ptCount val="4"/>
                <c:lvl>
                  <c:pt idx="0">
                    <c:v>25 Q4</c:v>
                  </c:pt>
                  <c:pt idx="1">
                    <c:v>26 Q1</c:v>
                  </c:pt>
                  <c:pt idx="2">
                    <c:v>26 Q2</c:v>
                  </c:pt>
                  <c:pt idx="3">
                    <c:v>26 Q3</c:v>
                  </c:pt>
                </c:lvl>
              </c:multiLvlStrCache>
            </c:multiLvlStrRef>
          </c:cat>
          <c:val>
            <c:numRef>
              <c:f>Sheet1!$D$2:$D$5</c:f>
              <c:numCache>
                <c:formatCode>General</c:formatCode>
                <c:ptCount val="4"/>
                <c:pt idx="0">
                  <c:v>3</c:v>
                </c:pt>
                <c:pt idx="1">
                  <c:v>2</c:v>
                </c:pt>
                <c:pt idx="2">
                  <c:v>1</c:v>
                </c:pt>
                <c:pt idx="3">
                  <c:v>2</c:v>
                </c:pt>
              </c:numCache>
            </c:numRef>
          </c:val>
        </c:ser>
        <c:ser>
          <c:idx val="3"/>
          <c:order val="3"/>
          <c:tx>
            <c:strRef>
              <c:f>Sheet1!$E$1</c:f>
              <c:strCache>
                <c:ptCount val="1"/>
                <c:pt idx="0">
                  <c:v>아이온2</c:v>
                </c:pt>
              </c:strCache>
            </c:strRef>
          </c:tx>
          <c:spPr>
            <a:solidFill>
              <a:srgbClr val="6B4FA0"/>
            </a:solidFill>
            <a:effectLst/>
          </c:spPr>
          <c:invertIfNegative val="0"/>
          <c:dLbls>
            <c:numFmt formatCode="#,##0" sourceLinked="0"/>
            <c:txPr>
              <a:bodyPr/>
              <a:lstStyle/>
              <a:p>
                <a:pPr>
                  <a:defRPr b="0" i="0" strike="noStrike" sz="1000" u="none">
                    <a:solidFill>
                      <a:srgbClr val="3A3D4A"/>
                    </a:solidFill>
                    <a:latin typeface="Arial"/>
                  </a:defRPr>
                </a:pPr>
              </a:p>
            </c:txPr>
            <c:showLegendKey val="0"/>
            <c:showVal val="1"/>
            <c:showCatName val="0"/>
            <c:showSerName val="0"/>
            <c:showPercent val="0"/>
            <c:showBubbleSize val="0"/>
            <c:showLeaderLines val="0"/>
          </c:dLbls>
          <c:cat>
            <c:multiLvlStrRef>
              <c:f>Sheet1!$A$2:$A$5</c:f>
              <c:multiLvlStrCache>
                <c:ptCount val="4"/>
                <c:lvl>
                  <c:pt idx="0">
                    <c:v>25 Q4</c:v>
                  </c:pt>
                  <c:pt idx="1">
                    <c:v>26 Q1</c:v>
                  </c:pt>
                  <c:pt idx="2">
                    <c:v>26 Q2</c:v>
                  </c:pt>
                  <c:pt idx="3">
                    <c:v>26 Q3</c:v>
                  </c:pt>
                </c:lvl>
              </c:multiLvlStrCache>
            </c:multiLvlStrRef>
          </c:cat>
          <c:val>
            <c:numRef>
              <c:f>Sheet1!$E$2:$E$5</c:f>
              <c:numCache>
                <c:formatCode>General</c:formatCode>
                <c:ptCount val="4"/>
                <c:pt idx="0">
                  <c:v>2</c:v>
                </c:pt>
                <c:pt idx="1">
                  <c:v>2</c:v>
                </c:pt>
                <c:pt idx="2">
                  <c:v>3</c:v>
                </c:pt>
                <c:pt idx="3">
                  <c:v>1</c:v>
                </c:pt>
              </c:numCache>
            </c:numRef>
          </c:val>
        </c:ser>
        <c:dLbls>
          <c:numFmt formatCode="#,##0" sourceLinked="0"/>
          <c:txPr>
            <a:bodyPr/>
            <a:lstStyle/>
            <a:p>
              <a:pPr>
                <a:defRPr b="0" i="0" strike="noStrike" sz="1000" u="none">
                  <a:solidFill>
                    <a:srgbClr val="3A3D4A"/>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8D8E0"/>
            </a:solidFill>
            <a:prstDash val="solid"/>
            <a:round/>
          </a:ln>
        </c:spPr>
        <c:txPr>
          <a:bodyPr/>
          <a:lstStyle/>
          <a:p>
            <a:pPr>
              <a:defRPr sz="1150" b="0" i="0" u="none" strike="noStrike">
                <a:solidFill>
                  <a:srgbClr val="6B6F80"/>
                </a:solidFill>
                <a:latin typeface="Arial"/>
              </a:defRPr>
            </a:pPr>
            <a:endParaRPr lang="en-US"/>
          </a:p>
        </c:txPr>
        <c:crossAx val="2094734552"/>
        <c:crosses val="autoZero"/>
        <c:auto val="1"/>
        <c:lblAlgn val="ctr"/>
        <c:noMultiLvlLbl val="1"/>
      </c:catAx>
      <c:valAx>
        <c:axId val="2094734552"/>
        <c:scaling>
          <c:orientation val="minMax"/>
          <c:max val="4"/>
        </c:scaling>
        <c:delete val="0"/>
        <c:axPos val="l"/>
        <c:majorGridlines>
          <c:spPr>
            <a:ln w="12700" cap="flat">
              <a:solidFill>
                <a:srgbClr val="EDEDF2"/>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50" b="0" i="0" u="none" strike="noStrike">
                <a:solidFill>
                  <a:srgbClr val="6B6F80"/>
                </a:solidFill>
                <a:latin typeface="Arial"/>
              </a:defRPr>
            </a:pPr>
            <a:endParaRPr lang="en-US"/>
          </a:p>
        </c:txPr>
        <c:crossAx val="2094734554"/>
        <c:crosses val="autoZero"/>
        <c:crossBetween val="between"/>
        <c:majorUnit val="1"/>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메이플스토리M</c:v>
                </c:pt>
              </c:strCache>
            </c:strRef>
          </c:tx>
          <c:spPr>
            <a:solidFill>
              <a:srgbClr val="F0692B"/>
            </a:solidFill>
            <a:ln w="28575" cap="flat">
              <a:solidFill>
                <a:srgbClr val="F069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4"/>
            <c:spPr>
              <a:solidFill>
                <a:srgbClr val="F0692B"/>
              </a:solidFill>
              <a:ln w="9525" cap="flat">
                <a:solidFill>
                  <a:srgbClr val="F0692B"/>
                </a:solidFill>
                <a:prstDash val="solid"/>
                <a:round/>
              </a:ln>
              <a:effectLst/>
            </c:spPr>
          </c:marker>
          <c:cat>
            <c:multiLvlStrRef>
              <c:f>Sheet1!$A$2:$A$40</c:f>
              <c:multiLvlStrCache>
                <c:ptCount val="39"/>
                <c:lvl>
                  <c:pt idx="0">
                    <c:v>11/17</c:v>
                  </c:pt>
                  <c:pt idx="1">
                    <c:v/>
                  </c:pt>
                  <c:pt idx="2">
                    <c:v/>
                  </c:pt>
                  <c:pt idx="3">
                    <c:v>12/8</c:v>
                  </c:pt>
                  <c:pt idx="4">
                    <c:v/>
                  </c:pt>
                  <c:pt idx="5">
                    <c:v/>
                  </c:pt>
                  <c:pt idx="6">
                    <c:v>12/29</c:v>
                  </c:pt>
                  <c:pt idx="7">
                    <c:v/>
                  </c:pt>
                  <c:pt idx="8">
                    <c:v/>
                  </c:pt>
                  <c:pt idx="9">
                    <c:v>1/19</c:v>
                  </c:pt>
                  <c:pt idx="10">
                    <c:v/>
                  </c:pt>
                  <c:pt idx="11">
                    <c:v/>
                  </c:pt>
                  <c:pt idx="12">
                    <c:v>2/9</c:v>
                  </c:pt>
                  <c:pt idx="13">
                    <c:v/>
                  </c:pt>
                  <c:pt idx="14">
                    <c:v/>
                  </c:pt>
                  <c:pt idx="15">
                    <c:v>3/2</c:v>
                  </c:pt>
                  <c:pt idx="16">
                    <c:v/>
                  </c:pt>
                  <c:pt idx="17">
                    <c:v/>
                  </c:pt>
                  <c:pt idx="18">
                    <c:v>3/23</c:v>
                  </c:pt>
                  <c:pt idx="19">
                    <c:v/>
                  </c:pt>
                  <c:pt idx="20">
                    <c:v/>
                  </c:pt>
                  <c:pt idx="21">
                    <c:v>4/13</c:v>
                  </c:pt>
                  <c:pt idx="22">
                    <c:v/>
                  </c:pt>
                  <c:pt idx="23">
                    <c:v/>
                  </c:pt>
                  <c:pt idx="24">
                    <c:v>5/4</c:v>
                  </c:pt>
                  <c:pt idx="25">
                    <c:v/>
                  </c:pt>
                  <c:pt idx="26">
                    <c:v/>
                  </c:pt>
                  <c:pt idx="27">
                    <c:v>5/25</c:v>
                  </c:pt>
                  <c:pt idx="28">
                    <c:v/>
                  </c:pt>
                  <c:pt idx="29">
                    <c:v/>
                  </c:pt>
                  <c:pt idx="30">
                    <c:v>6/15</c:v>
                  </c:pt>
                  <c:pt idx="31">
                    <c:v/>
                  </c:pt>
                  <c:pt idx="32">
                    <c:v/>
                  </c:pt>
                  <c:pt idx="33">
                    <c:v>7/6</c:v>
                  </c:pt>
                  <c:pt idx="34">
                    <c:v/>
                  </c:pt>
                  <c:pt idx="35">
                    <c:v/>
                  </c:pt>
                  <c:pt idx="36">
                    <c:v>7/27</c:v>
                  </c:pt>
                  <c:pt idx="37">
                    <c:v/>
                  </c:pt>
                  <c:pt idx="38">
                    <c:v/>
                  </c:pt>
                </c:lvl>
              </c:multiLvlStrCache>
            </c:multiLvlStrRef>
          </c:cat>
          <c:val>
            <c:numRef>
              <c:f>Sheet1!$B$2:$B$40</c:f>
              <c:numCache>
                <c:formatCode>General</c:formatCode>
                <c:ptCount val="39"/>
                <c:pt idx="0">
                  <c:v>71</c:v>
                </c:pt>
                <c:pt idx="1">
                  <c:v>68</c:v>
                </c:pt>
                <c:pt idx="2">
                  <c:v>64</c:v>
                </c:pt>
                <c:pt idx="3">
                  <c:v>60</c:v>
                </c:pt>
                <c:pt idx="4">
                  <c:v>44</c:v>
                </c:pt>
                <c:pt idx="5">
                  <c:v>22</c:v>
                </c:pt>
                <c:pt idx="6">
                  <c:v>34</c:v>
                </c:pt>
                <c:pt idx="7">
                  <c:v>41</c:v>
                </c:pt>
                <c:pt idx="8">
                  <c:v>37</c:v>
                </c:pt>
                <c:pt idx="9">
                  <c:v>38</c:v>
                </c:pt>
                <c:pt idx="10">
                  <c:v>53</c:v>
                </c:pt>
                <c:pt idx="11">
                  <c:v>62</c:v>
                </c:pt>
                <c:pt idx="12">
                  <c:v>58</c:v>
                </c:pt>
                <c:pt idx="13">
                  <c:v>39</c:v>
                </c:pt>
                <c:pt idx="14">
                  <c:v>49</c:v>
                </c:pt>
                <c:pt idx="15">
                  <c:v>63</c:v>
                </c:pt>
                <c:pt idx="16">
                  <c:v>71</c:v>
                </c:pt>
                <c:pt idx="17">
                  <c:v>74</c:v>
                </c:pt>
                <c:pt idx="18">
                  <c:v>78</c:v>
                </c:pt>
                <c:pt idx="19">
                  <c:v>85</c:v>
                </c:pt>
                <c:pt idx="20">
                  <c:v>87</c:v>
                </c:pt>
                <c:pt idx="21">
                  <c:v>76</c:v>
                </c:pt>
                <c:pt idx="22">
                  <c:v>79</c:v>
                </c:pt>
                <c:pt idx="23">
                  <c:v>82</c:v>
                </c:pt>
                <c:pt idx="24">
                  <c:v>80</c:v>
                </c:pt>
                <c:pt idx="25">
                  <c:v>82</c:v>
                </c:pt>
                <c:pt idx="26">
                  <c:v>85</c:v>
                </c:pt>
                <c:pt idx="27">
                  <c:v>85</c:v>
                </c:pt>
                <c:pt idx="28">
                  <c:v>80</c:v>
                </c:pt>
                <c:pt idx="29">
                  <c:v>88</c:v>
                </c:pt>
                <c:pt idx="30">
                  <c:v>86</c:v>
                </c:pt>
                <c:pt idx="31">
                  <c:v>91</c:v>
                </c:pt>
                <c:pt idx="32">
                  <c:v>98</c:v>
                </c:pt>
                <c:pt idx="33">
                  <c:v>83</c:v>
                </c:pt>
                <c:pt idx="34">
                  <c:v>89</c:v>
                </c:pt>
                <c:pt idx="35">
                  <c:v>87</c:v>
                </c:pt>
                <c:pt idx="36">
                  <c:v>34</c:v>
                </c:pt>
                <c:pt idx="37">
                  <c:v>21</c:v>
                </c:pt>
                <c:pt idx="38">
                  <c:v>29</c:v>
                </c:pt>
              </c:numCache>
            </c:numRef>
          </c:val>
          <c:smooth val="0"/>
        </c:ser>
        <c:ser>
          <c:idx val="1"/>
          <c:order val="1"/>
          <c:tx>
            <c:strRef>
              <c:f>Sheet1!$C$1</c:f>
              <c:strCache>
                <c:ptCount val="1"/>
                <c:pt idx="0">
                  <c:v>마비노기모바일</c:v>
                </c:pt>
              </c:strCache>
            </c:strRef>
          </c:tx>
          <c:spPr>
            <a:solidFill>
              <a:srgbClr val="2FA89A"/>
            </a:solidFill>
            <a:ln w="28575" cap="flat">
              <a:solidFill>
                <a:srgbClr val="2FA89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4"/>
            <c:spPr>
              <a:solidFill>
                <a:srgbClr val="2FA89A"/>
              </a:solidFill>
              <a:ln w="9525" cap="flat">
                <a:solidFill>
                  <a:srgbClr val="2FA89A"/>
                </a:solidFill>
                <a:prstDash val="solid"/>
                <a:round/>
              </a:ln>
              <a:effectLst/>
            </c:spPr>
          </c:marker>
          <c:cat>
            <c:multiLvlStrRef>
              <c:f>Sheet1!$A$2:$A$40</c:f>
              <c:multiLvlStrCache>
                <c:ptCount val="39"/>
                <c:lvl>
                  <c:pt idx="0">
                    <c:v>11/17</c:v>
                  </c:pt>
                  <c:pt idx="1">
                    <c:v/>
                  </c:pt>
                  <c:pt idx="2">
                    <c:v/>
                  </c:pt>
                  <c:pt idx="3">
                    <c:v>12/8</c:v>
                  </c:pt>
                  <c:pt idx="4">
                    <c:v/>
                  </c:pt>
                  <c:pt idx="5">
                    <c:v/>
                  </c:pt>
                  <c:pt idx="6">
                    <c:v>12/29</c:v>
                  </c:pt>
                  <c:pt idx="7">
                    <c:v/>
                  </c:pt>
                  <c:pt idx="8">
                    <c:v/>
                  </c:pt>
                  <c:pt idx="9">
                    <c:v>1/19</c:v>
                  </c:pt>
                  <c:pt idx="10">
                    <c:v/>
                  </c:pt>
                  <c:pt idx="11">
                    <c:v/>
                  </c:pt>
                  <c:pt idx="12">
                    <c:v>2/9</c:v>
                  </c:pt>
                  <c:pt idx="13">
                    <c:v/>
                  </c:pt>
                  <c:pt idx="14">
                    <c:v/>
                  </c:pt>
                  <c:pt idx="15">
                    <c:v>3/2</c:v>
                  </c:pt>
                  <c:pt idx="16">
                    <c:v/>
                  </c:pt>
                  <c:pt idx="17">
                    <c:v/>
                  </c:pt>
                  <c:pt idx="18">
                    <c:v>3/23</c:v>
                  </c:pt>
                  <c:pt idx="19">
                    <c:v/>
                  </c:pt>
                  <c:pt idx="20">
                    <c:v/>
                  </c:pt>
                  <c:pt idx="21">
                    <c:v>4/13</c:v>
                  </c:pt>
                  <c:pt idx="22">
                    <c:v/>
                  </c:pt>
                  <c:pt idx="23">
                    <c:v/>
                  </c:pt>
                  <c:pt idx="24">
                    <c:v>5/4</c:v>
                  </c:pt>
                  <c:pt idx="25">
                    <c:v/>
                  </c:pt>
                  <c:pt idx="26">
                    <c:v/>
                  </c:pt>
                  <c:pt idx="27">
                    <c:v>5/25</c:v>
                  </c:pt>
                  <c:pt idx="28">
                    <c:v/>
                  </c:pt>
                  <c:pt idx="29">
                    <c:v/>
                  </c:pt>
                  <c:pt idx="30">
                    <c:v>6/15</c:v>
                  </c:pt>
                  <c:pt idx="31">
                    <c:v/>
                  </c:pt>
                  <c:pt idx="32">
                    <c:v/>
                  </c:pt>
                  <c:pt idx="33">
                    <c:v>7/6</c:v>
                  </c:pt>
                  <c:pt idx="34">
                    <c:v/>
                  </c:pt>
                  <c:pt idx="35">
                    <c:v/>
                  </c:pt>
                  <c:pt idx="36">
                    <c:v>7/27</c:v>
                  </c:pt>
                  <c:pt idx="37">
                    <c:v/>
                  </c:pt>
                  <c:pt idx="38">
                    <c:v/>
                  </c:pt>
                </c:lvl>
              </c:multiLvlStrCache>
            </c:multiLvlStrRef>
          </c:cat>
          <c:val>
            <c:numRef>
              <c:f>Sheet1!$C$2:$C$40</c:f>
              <c:numCache>
                <c:formatCode>General</c:formatCode>
                <c:ptCount val="39"/>
                <c:pt idx="0">
                  <c:v>14</c:v>
                </c:pt>
                <c:pt idx="1">
                  <c:v>11</c:v>
                </c:pt>
                <c:pt idx="2">
                  <c:v>11</c:v>
                </c:pt>
                <c:pt idx="3">
                  <c:v>14</c:v>
                </c:pt>
                <c:pt idx="4">
                  <c:v>10</c:v>
                </c:pt>
                <c:pt idx="5">
                  <c:v>4</c:v>
                </c:pt>
                <c:pt idx="6">
                  <c:v>10</c:v>
                </c:pt>
                <c:pt idx="7">
                  <c:v>12</c:v>
                </c:pt>
                <c:pt idx="8">
                  <c:v>14</c:v>
                </c:pt>
                <c:pt idx="9">
                  <c:v>17</c:v>
                </c:pt>
                <c:pt idx="10">
                  <c:v>18</c:v>
                </c:pt>
                <c:pt idx="11">
                  <c:v>16</c:v>
                </c:pt>
                <c:pt idx="12">
                  <c:v>21</c:v>
                </c:pt>
                <c:pt idx="13">
                  <c:v>15</c:v>
                </c:pt>
                <c:pt idx="14">
                  <c:v>19</c:v>
                </c:pt>
                <c:pt idx="15">
                  <c:v>18</c:v>
                </c:pt>
                <c:pt idx="16">
                  <c:v>27</c:v>
                </c:pt>
                <c:pt idx="17">
                  <c:v>26</c:v>
                </c:pt>
                <c:pt idx="18">
                  <c:v>11</c:v>
                </c:pt>
                <c:pt idx="19">
                  <c:v>6</c:v>
                </c:pt>
                <c:pt idx="20">
                  <c:v>14</c:v>
                </c:pt>
                <c:pt idx="21">
                  <c:v>21</c:v>
                </c:pt>
                <c:pt idx="22">
                  <c:v>16</c:v>
                </c:pt>
                <c:pt idx="23">
                  <c:v>16</c:v>
                </c:pt>
                <c:pt idx="24">
                  <c:v>26</c:v>
                </c:pt>
                <c:pt idx="25">
                  <c:v>32</c:v>
                </c:pt>
                <c:pt idx="26">
                  <c:v>22</c:v>
                </c:pt>
                <c:pt idx="27">
                  <c:v>18</c:v>
                </c:pt>
                <c:pt idx="28">
                  <c:v>21</c:v>
                </c:pt>
                <c:pt idx="29">
                  <c:v>34</c:v>
                </c:pt>
                <c:pt idx="30">
                  <c:v>49</c:v>
                </c:pt>
                <c:pt idx="31">
                  <c:v>13</c:v>
                </c:pt>
                <c:pt idx="32">
                  <c:v>6</c:v>
                </c:pt>
                <c:pt idx="33">
                  <c:v>14</c:v>
                </c:pt>
                <c:pt idx="34">
                  <c:v>17</c:v>
                </c:pt>
                <c:pt idx="35">
                  <c:v>17</c:v>
                </c:pt>
                <c:pt idx="36">
                  <c:v>28</c:v>
                </c:pt>
                <c:pt idx="37">
                  <c:v>23</c:v>
                </c:pt>
                <c:pt idx="38">
                  <c:v>21</c:v>
                </c:pt>
              </c:numCache>
            </c:numRef>
          </c:val>
          <c:smooth val="0"/>
        </c:ser>
        <c:ser>
          <c:idx val="2"/>
          <c:order val="2"/>
          <c:tx>
            <c:strRef>
              <c:f>Sheet1!$D$1</c:f>
              <c:strCache>
                <c:ptCount val="1"/>
                <c:pt idx="0">
                  <c:v>아이온2</c:v>
                </c:pt>
              </c:strCache>
            </c:strRef>
          </c:tx>
          <c:spPr>
            <a:solidFill>
              <a:srgbClr val="6B4FA0"/>
            </a:solidFill>
            <a:ln w="28575" cap="flat">
              <a:solidFill>
                <a:srgbClr val="6B4FA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4"/>
            <c:spPr>
              <a:solidFill>
                <a:srgbClr val="6B4FA0"/>
              </a:solidFill>
              <a:ln w="9525" cap="flat">
                <a:solidFill>
                  <a:srgbClr val="6B4FA0"/>
                </a:solidFill>
                <a:prstDash val="solid"/>
                <a:round/>
              </a:ln>
              <a:effectLst/>
            </c:spPr>
          </c:marker>
          <c:cat>
            <c:multiLvlStrRef>
              <c:f>Sheet1!$A$2:$A$40</c:f>
              <c:multiLvlStrCache>
                <c:ptCount val="39"/>
                <c:lvl>
                  <c:pt idx="0">
                    <c:v>11/17</c:v>
                  </c:pt>
                  <c:pt idx="1">
                    <c:v/>
                  </c:pt>
                  <c:pt idx="2">
                    <c:v/>
                  </c:pt>
                  <c:pt idx="3">
                    <c:v>12/8</c:v>
                  </c:pt>
                  <c:pt idx="4">
                    <c:v/>
                  </c:pt>
                  <c:pt idx="5">
                    <c:v/>
                  </c:pt>
                  <c:pt idx="6">
                    <c:v>12/29</c:v>
                  </c:pt>
                  <c:pt idx="7">
                    <c:v/>
                  </c:pt>
                  <c:pt idx="8">
                    <c:v/>
                  </c:pt>
                  <c:pt idx="9">
                    <c:v>1/19</c:v>
                  </c:pt>
                  <c:pt idx="10">
                    <c:v/>
                  </c:pt>
                  <c:pt idx="11">
                    <c:v/>
                  </c:pt>
                  <c:pt idx="12">
                    <c:v>2/9</c:v>
                  </c:pt>
                  <c:pt idx="13">
                    <c:v/>
                  </c:pt>
                  <c:pt idx="14">
                    <c:v/>
                  </c:pt>
                  <c:pt idx="15">
                    <c:v>3/2</c:v>
                  </c:pt>
                  <c:pt idx="16">
                    <c:v/>
                  </c:pt>
                  <c:pt idx="17">
                    <c:v/>
                  </c:pt>
                  <c:pt idx="18">
                    <c:v>3/23</c:v>
                  </c:pt>
                  <c:pt idx="19">
                    <c:v/>
                  </c:pt>
                  <c:pt idx="20">
                    <c:v/>
                  </c:pt>
                  <c:pt idx="21">
                    <c:v>4/13</c:v>
                  </c:pt>
                  <c:pt idx="22">
                    <c:v/>
                  </c:pt>
                  <c:pt idx="23">
                    <c:v/>
                  </c:pt>
                  <c:pt idx="24">
                    <c:v>5/4</c:v>
                  </c:pt>
                  <c:pt idx="25">
                    <c:v/>
                  </c:pt>
                  <c:pt idx="26">
                    <c:v/>
                  </c:pt>
                  <c:pt idx="27">
                    <c:v>5/25</c:v>
                  </c:pt>
                  <c:pt idx="28">
                    <c:v/>
                  </c:pt>
                  <c:pt idx="29">
                    <c:v/>
                  </c:pt>
                  <c:pt idx="30">
                    <c:v>6/15</c:v>
                  </c:pt>
                  <c:pt idx="31">
                    <c:v/>
                  </c:pt>
                  <c:pt idx="32">
                    <c:v/>
                  </c:pt>
                  <c:pt idx="33">
                    <c:v>7/6</c:v>
                  </c:pt>
                  <c:pt idx="34">
                    <c:v/>
                  </c:pt>
                  <c:pt idx="35">
                    <c:v/>
                  </c:pt>
                  <c:pt idx="36">
                    <c:v>7/27</c:v>
                  </c:pt>
                  <c:pt idx="37">
                    <c:v/>
                  </c:pt>
                  <c:pt idx="38">
                    <c:v/>
                  </c:pt>
                </c:lvl>
              </c:multiLvlStrCache>
            </c:multiLvlStrRef>
          </c:cat>
          <c:val>
            <c:numRef>
              <c:f>Sheet1!$D$2:$D$40</c:f>
              <c:numCache>
                <c:formatCode>General</c:formatCode>
                <c:ptCount val="39"/>
                <c:pt idx="0">
                  <c:v>38</c:v>
                </c:pt>
                <c:pt idx="1">
                  <c:v>8</c:v>
                </c:pt>
                <c:pt idx="2">
                  <c:v>8</c:v>
                </c:pt>
                <c:pt idx="3">
                  <c:v>11</c:v>
                </c:pt>
                <c:pt idx="4">
                  <c:v>9</c:v>
                </c:pt>
                <c:pt idx="5">
                  <c:v>17</c:v>
                </c:pt>
                <c:pt idx="6">
                  <c:v>12</c:v>
                </c:pt>
                <c:pt idx="7">
                  <c:v>15</c:v>
                </c:pt>
                <c:pt idx="8">
                  <c:v>22</c:v>
                </c:pt>
                <c:pt idx="9">
                  <c:v>15</c:v>
                </c:pt>
                <c:pt idx="10">
                  <c:v>10</c:v>
                </c:pt>
                <c:pt idx="11">
                  <c:v>17</c:v>
                </c:pt>
                <c:pt idx="12">
                  <c:v>23</c:v>
                </c:pt>
                <c:pt idx="13">
                  <c:v>23</c:v>
                </c:pt>
                <c:pt idx="14">
                  <c:v>21</c:v>
                </c:pt>
                <c:pt idx="15">
                  <c:v>26</c:v>
                </c:pt>
                <c:pt idx="16">
                  <c:v>19</c:v>
                </c:pt>
                <c:pt idx="17">
                  <c:v>18</c:v>
                </c:pt>
                <c:pt idx="18">
                  <c:v>17</c:v>
                </c:pt>
                <c:pt idx="19">
                  <c:v>17</c:v>
                </c:pt>
                <c:pt idx="20">
                  <c:v>18</c:v>
                </c:pt>
                <c:pt idx="21">
                  <c:v>12</c:v>
                </c:pt>
                <c:pt idx="22">
                  <c:v>31</c:v>
                </c:pt>
                <c:pt idx="23">
                  <c:v>27</c:v>
                </c:pt>
                <c:pt idx="24">
                  <c:v>27</c:v>
                </c:pt>
                <c:pt idx="25">
                  <c:v>31</c:v>
                </c:pt>
                <c:pt idx="26">
                  <c:v>35</c:v>
                </c:pt>
                <c:pt idx="27">
                  <c:v>34</c:v>
                </c:pt>
                <c:pt idx="28">
                  <c:v>49</c:v>
                </c:pt>
                <c:pt idx="29">
                  <c:v>60</c:v>
                </c:pt>
                <c:pt idx="30">
                  <c:v>42</c:v>
                </c:pt>
                <c:pt idx="31">
                  <c:v>58</c:v>
                </c:pt>
                <c:pt idx="32">
                  <c:v>41</c:v>
                </c:pt>
                <c:pt idx="33">
                  <c:v>34</c:v>
                </c:pt>
                <c:pt idx="34">
                  <c:v>44</c:v>
                </c:pt>
                <c:pt idx="35">
                  <c:v>39</c:v>
                </c:pt>
                <c:pt idx="36">
                  <c:v>40</c:v>
                </c:pt>
                <c:pt idx="37">
                  <c:v>36</c:v>
                </c:pt>
                <c:pt idx="38">
                  <c:v>62</c:v>
                </c:pt>
              </c:numCache>
            </c:numRef>
          </c:val>
          <c:smooth val="0"/>
        </c:ser>
        <c:ser>
          <c:idx val="3"/>
          <c:order val="3"/>
          <c:tx>
            <c:strRef>
              <c:f>Sheet1!$E$1</c:f>
              <c:strCache>
                <c:ptCount val="1"/>
                <c:pt idx="0">
                  <c:v>검은사막모바일</c:v>
                </c:pt>
              </c:strCache>
            </c:strRef>
          </c:tx>
          <c:spPr>
            <a:solidFill>
              <a:srgbClr val="8B2635"/>
            </a:solidFill>
            <a:ln w="28575" cap="flat">
              <a:solidFill>
                <a:srgbClr val="8B263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4"/>
            <c:spPr>
              <a:solidFill>
                <a:srgbClr val="8B2635"/>
              </a:solidFill>
              <a:ln w="9525" cap="flat">
                <a:solidFill>
                  <a:srgbClr val="8B2635"/>
                </a:solidFill>
                <a:prstDash val="solid"/>
                <a:round/>
              </a:ln>
              <a:effectLst/>
            </c:spPr>
          </c:marker>
          <c:cat>
            <c:multiLvlStrRef>
              <c:f>Sheet1!$A$2:$A$40</c:f>
              <c:multiLvlStrCache>
                <c:ptCount val="39"/>
                <c:lvl>
                  <c:pt idx="0">
                    <c:v>11/17</c:v>
                  </c:pt>
                  <c:pt idx="1">
                    <c:v/>
                  </c:pt>
                  <c:pt idx="2">
                    <c:v/>
                  </c:pt>
                  <c:pt idx="3">
                    <c:v>12/8</c:v>
                  </c:pt>
                  <c:pt idx="4">
                    <c:v/>
                  </c:pt>
                  <c:pt idx="5">
                    <c:v/>
                  </c:pt>
                  <c:pt idx="6">
                    <c:v>12/29</c:v>
                  </c:pt>
                  <c:pt idx="7">
                    <c:v/>
                  </c:pt>
                  <c:pt idx="8">
                    <c:v/>
                  </c:pt>
                  <c:pt idx="9">
                    <c:v>1/19</c:v>
                  </c:pt>
                  <c:pt idx="10">
                    <c:v/>
                  </c:pt>
                  <c:pt idx="11">
                    <c:v/>
                  </c:pt>
                  <c:pt idx="12">
                    <c:v>2/9</c:v>
                  </c:pt>
                  <c:pt idx="13">
                    <c:v/>
                  </c:pt>
                  <c:pt idx="14">
                    <c:v/>
                  </c:pt>
                  <c:pt idx="15">
                    <c:v>3/2</c:v>
                  </c:pt>
                  <c:pt idx="16">
                    <c:v/>
                  </c:pt>
                  <c:pt idx="17">
                    <c:v/>
                  </c:pt>
                  <c:pt idx="18">
                    <c:v>3/23</c:v>
                  </c:pt>
                  <c:pt idx="19">
                    <c:v/>
                  </c:pt>
                  <c:pt idx="20">
                    <c:v/>
                  </c:pt>
                  <c:pt idx="21">
                    <c:v>4/13</c:v>
                  </c:pt>
                  <c:pt idx="22">
                    <c:v/>
                  </c:pt>
                  <c:pt idx="23">
                    <c:v/>
                  </c:pt>
                  <c:pt idx="24">
                    <c:v>5/4</c:v>
                  </c:pt>
                  <c:pt idx="25">
                    <c:v/>
                  </c:pt>
                  <c:pt idx="26">
                    <c:v/>
                  </c:pt>
                  <c:pt idx="27">
                    <c:v>5/25</c:v>
                  </c:pt>
                  <c:pt idx="28">
                    <c:v/>
                  </c:pt>
                  <c:pt idx="29">
                    <c:v/>
                  </c:pt>
                  <c:pt idx="30">
                    <c:v>6/15</c:v>
                  </c:pt>
                  <c:pt idx="31">
                    <c:v/>
                  </c:pt>
                  <c:pt idx="32">
                    <c:v/>
                  </c:pt>
                  <c:pt idx="33">
                    <c:v>7/6</c:v>
                  </c:pt>
                  <c:pt idx="34">
                    <c:v/>
                  </c:pt>
                  <c:pt idx="35">
                    <c:v/>
                  </c:pt>
                  <c:pt idx="36">
                    <c:v>7/27</c:v>
                  </c:pt>
                  <c:pt idx="37">
                    <c:v/>
                  </c:pt>
                  <c:pt idx="38">
                    <c:v/>
                  </c:pt>
                </c:lvl>
              </c:multiLvlStrCache>
            </c:multiLvlStrRef>
          </c:cat>
          <c:val>
            <c:numRef>
              <c:f>Sheet1!$E$2:$E$40</c:f>
              <c:numCache>
                <c:formatCode>General</c:formatCode>
                <c:ptCount val="39"/>
                <c:pt idx="0">
                  <c:v>144</c:v>
                </c:pt>
                <c:pt idx="1">
                  <c:v>131</c:v>
                </c:pt>
                <c:pt idx="2">
                  <c:v>144</c:v>
                </c:pt>
                <c:pt idx="3">
                  <c:v>198</c:v>
                </c:pt>
                <c:pt idx="4">
                  <c:v>131</c:v>
                </c:pt>
                <c:pt idx="5">
                  <c:v>131</c:v>
                </c:pt>
                <c:pt idx="6">
                  <c:v>136</c:v>
                </c:pt>
                <c:pt idx="7">
                  <c:v>129</c:v>
                </c:pt>
                <c:pt idx="8">
                  <c:v>130</c:v>
                </c:pt>
                <c:pt idx="9">
                  <c:v>133</c:v>
                </c:pt>
                <c:pt idx="10">
                  <c:v>160</c:v>
                </c:pt>
                <c:pt idx="11">
                  <c:v>144</c:v>
                </c:pt>
                <c:pt idx="12">
                  <c:v>133</c:v>
                </c:pt>
                <c:pt idx="13">
                  <c:v>132</c:v>
                </c:pt>
                <c:pt idx="14">
                  <c:v>143</c:v>
                </c:pt>
                <c:pt idx="15">
                  <c:v>112</c:v>
                </c:pt>
                <c:pt idx="16">
                  <c:v>85</c:v>
                </c:pt>
                <c:pt idx="17">
                  <c:v>114</c:v>
                </c:pt>
                <c:pt idx="18">
                  <c:v>135</c:v>
                </c:pt>
                <c:pt idx="19">
                  <c:v>133</c:v>
                </c:pt>
                <c:pt idx="20">
                  <c:v>139</c:v>
                </c:pt>
                <c:pt idx="21">
                  <c:v>140</c:v>
                </c:pt>
                <c:pt idx="22">
                  <c:v>159</c:v>
                </c:pt>
                <c:pt idx="23">
                  <c:v>157</c:v>
                </c:pt>
                <c:pt idx="24">
                  <c:v>155</c:v>
                </c:pt>
                <c:pt idx="25">
                  <c:v>219</c:v>
                </c:pt>
                <c:pt idx="26">
                  <c:v>198</c:v>
                </c:pt>
                <c:pt idx="27">
                  <c:v>138</c:v>
                </c:pt>
                <c:pt idx="28">
                  <c:v>168</c:v>
                </c:pt>
                <c:pt idx="29">
                  <c:v>201</c:v>
                </c:pt>
                <c:pt idx="30">
                  <c:v>198</c:v>
                </c:pt>
                <c:pt idx="31">
                  <c:v>226</c:v>
                </c:pt>
                <c:pt idx="32">
                  <c:v>182</c:v>
                </c:pt>
                <c:pt idx="33">
                  <c:v>204</c:v>
                </c:pt>
                <c:pt idx="34">
                  <c:v>159</c:v>
                </c:pt>
                <c:pt idx="35">
                  <c:v/>
                </c:pt>
                <c:pt idx="36">
                  <c:v/>
                </c:pt>
                <c:pt idx="37">
                  <c:v/>
                </c:pt>
                <c:pt idx="38">
                  <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8D8E0"/>
            </a:solidFill>
            <a:prstDash val="solid"/>
            <a:round/>
          </a:ln>
        </c:spPr>
        <c:txPr>
          <a:bodyPr/>
          <a:lstStyle/>
          <a:p>
            <a:pPr>
              <a:defRPr sz="900" b="0" i="0" u="none" strike="noStrike">
                <a:solidFill>
                  <a:srgbClr val="6B6F80"/>
                </a:solidFill>
                <a:latin typeface="Arial"/>
              </a:defRPr>
            </a:pPr>
            <a:endParaRPr lang="en-US"/>
          </a:p>
        </c:txPr>
        <c:crossAx val="2094734552"/>
        <c:crosses val="autoZero"/>
        <c:auto val="1"/>
        <c:lblAlgn val="ctr"/>
        <c:noMultiLvlLbl val="1"/>
      </c:catAx>
      <c:valAx>
        <c:axId val="2094734552"/>
        <c:scaling>
          <c:orientation val="minMax"/>
          <c:max val="250"/>
          <c:min val="0"/>
        </c:scaling>
        <c:delete val="0"/>
        <c:axPos val="l"/>
        <c:majorGridlines>
          <c:spPr>
            <a:ln w="12700" cap="flat">
              <a:solidFill>
                <a:srgbClr val="EDEDF2"/>
              </a:solidFill>
              <a:prstDash val="solid"/>
              <a:round/>
            </a:ln>
          </c:spPr>
        </c:majorGridlines>
        <c:title>
          <c:tx>
            <c:rich>
              <a:bodyPr/>
              <a:lstStyle/>
              <a:p>
                <a:pPr>
                  <a:defRPr sz="1000" b="0" i="0" u="none" strike="noStrike">
                    <a:solidFill>
                      <a:srgbClr val="8B8FA3"/>
                    </a:solidFill>
                    <a:latin typeface="Arial"/>
                  </a:defRPr>
                </a:pPr>
                <a:r>
                  <a:rPr sz="1000" b="0" i="0" u="none" strike="noStrike">
                    <a:solidFill>
                      <a:srgbClr val="8B8FA3"/>
                    </a:solidFill>
                    <a:latin typeface="Arial"/>
                  </a:rPr>
                  <a:t>순위(낮을수록 상위)</a:t>
                </a:r>
              </a:p>
            </c:rich>
          </c:tx>
          <c:layout/>
          <c:overlay val="0"/>
        </c:title>
        <c:numFmt formatCode="General" sourceLinked="0"/>
        <c:majorTickMark val="out"/>
        <c:minorTickMark val="none"/>
        <c:tickLblPos val="nextTo"/>
        <c:spPr>
          <a:ln w="12700" cap="flat">
            <a:noFill/>
            <a:prstDash val="solid"/>
            <a:round/>
          </a:ln>
        </c:spPr>
        <c:txPr>
          <a:bodyPr/>
          <a:lstStyle/>
          <a:p>
            <a:pPr>
              <a:defRPr sz="1050" b="0" i="0" u="none" strike="noStrike">
                <a:solidFill>
                  <a:srgbClr val="6B6F80"/>
                </a:solidFill>
                <a:latin typeface="Arial"/>
              </a:defRPr>
            </a:pPr>
            <a:endParaRPr lang="en-US"/>
          </a:p>
        </c:txPr>
        <c:crossAx val="2094734554"/>
        <c:crosses val="autoZero"/>
        <c:crossBetween val="between"/>
        <c:majorUnit val="50"/>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메이플스토리M</c:v>
                </c:pt>
              </c:strCache>
            </c:strRef>
          </c:tx>
          <c:spPr>
            <a:solidFill>
              <a:srgbClr val="F0692B"/>
            </a:solidFill>
            <a:ln w="28575" cap="flat">
              <a:solidFill>
                <a:srgbClr val="F069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4"/>
            <c:spPr>
              <a:solidFill>
                <a:srgbClr val="F0692B"/>
              </a:solidFill>
              <a:ln w="9525" cap="flat">
                <a:solidFill>
                  <a:srgbClr val="F0692B"/>
                </a:solidFill>
                <a:prstDash val="solid"/>
                <a:round/>
              </a:ln>
              <a:effectLst/>
            </c:spPr>
          </c:marker>
          <c:cat>
            <c:multiLvlStrRef>
              <c:f>Sheet1!$A$2:$A$40</c:f>
              <c:multiLvlStrCache>
                <c:ptCount val="39"/>
                <c:lvl>
                  <c:pt idx="0">
                    <c:v>11/17</c:v>
                  </c:pt>
                  <c:pt idx="1">
                    <c:v/>
                  </c:pt>
                  <c:pt idx="2">
                    <c:v/>
                  </c:pt>
                  <c:pt idx="3">
                    <c:v>12/8</c:v>
                  </c:pt>
                  <c:pt idx="4">
                    <c:v/>
                  </c:pt>
                  <c:pt idx="5">
                    <c:v/>
                  </c:pt>
                  <c:pt idx="6">
                    <c:v>12/29</c:v>
                  </c:pt>
                  <c:pt idx="7">
                    <c:v/>
                  </c:pt>
                  <c:pt idx="8">
                    <c:v/>
                  </c:pt>
                  <c:pt idx="9">
                    <c:v>1/19</c:v>
                  </c:pt>
                  <c:pt idx="10">
                    <c:v/>
                  </c:pt>
                  <c:pt idx="11">
                    <c:v/>
                  </c:pt>
                  <c:pt idx="12">
                    <c:v>2/9</c:v>
                  </c:pt>
                  <c:pt idx="13">
                    <c:v/>
                  </c:pt>
                  <c:pt idx="14">
                    <c:v/>
                  </c:pt>
                  <c:pt idx="15">
                    <c:v>3/2</c:v>
                  </c:pt>
                  <c:pt idx="16">
                    <c:v/>
                  </c:pt>
                  <c:pt idx="17">
                    <c:v/>
                  </c:pt>
                  <c:pt idx="18">
                    <c:v>3/23</c:v>
                  </c:pt>
                  <c:pt idx="19">
                    <c:v/>
                  </c:pt>
                  <c:pt idx="20">
                    <c:v/>
                  </c:pt>
                  <c:pt idx="21">
                    <c:v>4/13</c:v>
                  </c:pt>
                  <c:pt idx="22">
                    <c:v/>
                  </c:pt>
                  <c:pt idx="23">
                    <c:v/>
                  </c:pt>
                  <c:pt idx="24">
                    <c:v>5/4</c:v>
                  </c:pt>
                  <c:pt idx="25">
                    <c:v/>
                  </c:pt>
                  <c:pt idx="26">
                    <c:v/>
                  </c:pt>
                  <c:pt idx="27">
                    <c:v>5/25</c:v>
                  </c:pt>
                  <c:pt idx="28">
                    <c:v/>
                  </c:pt>
                  <c:pt idx="29">
                    <c:v/>
                  </c:pt>
                  <c:pt idx="30">
                    <c:v>6/15</c:v>
                  </c:pt>
                  <c:pt idx="31">
                    <c:v/>
                  </c:pt>
                  <c:pt idx="32">
                    <c:v/>
                  </c:pt>
                  <c:pt idx="33">
                    <c:v>7/6</c:v>
                  </c:pt>
                  <c:pt idx="34">
                    <c:v/>
                  </c:pt>
                  <c:pt idx="35">
                    <c:v/>
                  </c:pt>
                  <c:pt idx="36">
                    <c:v>7/27</c:v>
                  </c:pt>
                  <c:pt idx="37">
                    <c:v/>
                  </c:pt>
                  <c:pt idx="38">
                    <c:v/>
                  </c:pt>
                </c:lvl>
              </c:multiLvlStrCache>
            </c:multiLvlStrRef>
          </c:cat>
          <c:val>
            <c:numRef>
              <c:f>Sheet1!$B$2:$B$40</c:f>
              <c:numCache>
                <c:formatCode>General</c:formatCode>
                <c:ptCount val="39"/>
                <c:pt idx="0">
                  <c:v>86</c:v>
                </c:pt>
                <c:pt idx="1">
                  <c:v>88</c:v>
                </c:pt>
                <c:pt idx="2">
                  <c:v>84</c:v>
                </c:pt>
                <c:pt idx="3">
                  <c:v>72</c:v>
                </c:pt>
                <c:pt idx="4">
                  <c:v>45</c:v>
                </c:pt>
                <c:pt idx="5">
                  <c:v>46</c:v>
                </c:pt>
                <c:pt idx="6">
                  <c:v>58</c:v>
                </c:pt>
                <c:pt idx="7">
                  <c:v>69</c:v>
                </c:pt>
                <c:pt idx="8">
                  <c:v>74</c:v>
                </c:pt>
                <c:pt idx="9">
                  <c:v>83</c:v>
                </c:pt>
                <c:pt idx="10">
                  <c:v>84</c:v>
                </c:pt>
                <c:pt idx="11">
                  <c:v>86</c:v>
                </c:pt>
                <c:pt idx="12">
                  <c:v>85</c:v>
                </c:pt>
                <c:pt idx="13">
                  <c:v>83</c:v>
                </c:pt>
                <c:pt idx="14">
                  <c:v>85</c:v>
                </c:pt>
                <c:pt idx="15">
                  <c:v>86</c:v>
                </c:pt>
                <c:pt idx="16">
                  <c:v>90</c:v>
                </c:pt>
                <c:pt idx="17">
                  <c:v>89</c:v>
                </c:pt>
                <c:pt idx="18">
                  <c:v>90</c:v>
                </c:pt>
                <c:pt idx="19">
                  <c:v>92</c:v>
                </c:pt>
                <c:pt idx="20">
                  <c:v>96</c:v>
                </c:pt>
                <c:pt idx="21">
                  <c:v>93</c:v>
                </c:pt>
                <c:pt idx="22">
                  <c:v>91</c:v>
                </c:pt>
                <c:pt idx="23">
                  <c:v>95</c:v>
                </c:pt>
                <c:pt idx="24">
                  <c:v>95</c:v>
                </c:pt>
                <c:pt idx="25">
                  <c:v>86</c:v>
                </c:pt>
                <c:pt idx="26">
                  <c:v>92</c:v>
                </c:pt>
                <c:pt idx="27">
                  <c:v>97</c:v>
                </c:pt>
                <c:pt idx="28">
                  <c:v>94</c:v>
                </c:pt>
                <c:pt idx="29">
                  <c:v>96</c:v>
                </c:pt>
                <c:pt idx="30">
                  <c:v>87</c:v>
                </c:pt>
                <c:pt idx="31">
                  <c:v>88</c:v>
                </c:pt>
                <c:pt idx="32">
                  <c:v>87</c:v>
                </c:pt>
                <c:pt idx="33">
                  <c:v>84</c:v>
                </c:pt>
                <c:pt idx="34">
                  <c:v>77</c:v>
                </c:pt>
                <c:pt idx="35">
                  <c:v>69</c:v>
                </c:pt>
                <c:pt idx="36">
                  <c:v>33</c:v>
                </c:pt>
                <c:pt idx="37">
                  <c:v>33</c:v>
                </c:pt>
                <c:pt idx="38">
                  <c:v>41</c:v>
                </c:pt>
              </c:numCache>
            </c:numRef>
          </c:val>
          <c:smooth val="0"/>
        </c:ser>
        <c:ser>
          <c:idx val="1"/>
          <c:order val="1"/>
          <c:tx>
            <c:strRef>
              <c:f>Sheet1!$C$1</c:f>
              <c:strCache>
                <c:ptCount val="1"/>
                <c:pt idx="0">
                  <c:v>마비노기모바일</c:v>
                </c:pt>
              </c:strCache>
            </c:strRef>
          </c:tx>
          <c:spPr>
            <a:solidFill>
              <a:srgbClr val="2FA89A"/>
            </a:solidFill>
            <a:ln w="28575" cap="flat">
              <a:solidFill>
                <a:srgbClr val="2FA89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4"/>
            <c:spPr>
              <a:solidFill>
                <a:srgbClr val="2FA89A"/>
              </a:solidFill>
              <a:ln w="9525" cap="flat">
                <a:solidFill>
                  <a:srgbClr val="2FA89A"/>
                </a:solidFill>
                <a:prstDash val="solid"/>
                <a:round/>
              </a:ln>
              <a:effectLst/>
            </c:spPr>
          </c:marker>
          <c:cat>
            <c:multiLvlStrRef>
              <c:f>Sheet1!$A$2:$A$40</c:f>
              <c:multiLvlStrCache>
                <c:ptCount val="39"/>
                <c:lvl>
                  <c:pt idx="0">
                    <c:v>11/17</c:v>
                  </c:pt>
                  <c:pt idx="1">
                    <c:v/>
                  </c:pt>
                  <c:pt idx="2">
                    <c:v/>
                  </c:pt>
                  <c:pt idx="3">
                    <c:v>12/8</c:v>
                  </c:pt>
                  <c:pt idx="4">
                    <c:v/>
                  </c:pt>
                  <c:pt idx="5">
                    <c:v/>
                  </c:pt>
                  <c:pt idx="6">
                    <c:v>12/29</c:v>
                  </c:pt>
                  <c:pt idx="7">
                    <c:v/>
                  </c:pt>
                  <c:pt idx="8">
                    <c:v/>
                  </c:pt>
                  <c:pt idx="9">
                    <c:v>1/19</c:v>
                  </c:pt>
                  <c:pt idx="10">
                    <c:v/>
                  </c:pt>
                  <c:pt idx="11">
                    <c:v/>
                  </c:pt>
                  <c:pt idx="12">
                    <c:v>2/9</c:v>
                  </c:pt>
                  <c:pt idx="13">
                    <c:v/>
                  </c:pt>
                  <c:pt idx="14">
                    <c:v/>
                  </c:pt>
                  <c:pt idx="15">
                    <c:v>3/2</c:v>
                  </c:pt>
                  <c:pt idx="16">
                    <c:v/>
                  </c:pt>
                  <c:pt idx="17">
                    <c:v/>
                  </c:pt>
                  <c:pt idx="18">
                    <c:v>3/23</c:v>
                  </c:pt>
                  <c:pt idx="19">
                    <c:v/>
                  </c:pt>
                  <c:pt idx="20">
                    <c:v/>
                  </c:pt>
                  <c:pt idx="21">
                    <c:v>4/13</c:v>
                  </c:pt>
                  <c:pt idx="22">
                    <c:v/>
                  </c:pt>
                  <c:pt idx="23">
                    <c:v/>
                  </c:pt>
                  <c:pt idx="24">
                    <c:v>5/4</c:v>
                  </c:pt>
                  <c:pt idx="25">
                    <c:v/>
                  </c:pt>
                  <c:pt idx="26">
                    <c:v/>
                  </c:pt>
                  <c:pt idx="27">
                    <c:v>5/25</c:v>
                  </c:pt>
                  <c:pt idx="28">
                    <c:v/>
                  </c:pt>
                  <c:pt idx="29">
                    <c:v/>
                  </c:pt>
                  <c:pt idx="30">
                    <c:v>6/15</c:v>
                  </c:pt>
                  <c:pt idx="31">
                    <c:v/>
                  </c:pt>
                  <c:pt idx="32">
                    <c:v/>
                  </c:pt>
                  <c:pt idx="33">
                    <c:v>7/6</c:v>
                  </c:pt>
                  <c:pt idx="34">
                    <c:v/>
                  </c:pt>
                  <c:pt idx="35">
                    <c:v/>
                  </c:pt>
                  <c:pt idx="36">
                    <c:v>7/27</c:v>
                  </c:pt>
                  <c:pt idx="37">
                    <c:v/>
                  </c:pt>
                  <c:pt idx="38">
                    <c:v/>
                  </c:pt>
                </c:lvl>
              </c:multiLvlStrCache>
            </c:multiLvlStrRef>
          </c:cat>
          <c:val>
            <c:numRef>
              <c:f>Sheet1!$C$2:$C$40</c:f>
              <c:numCache>
                <c:formatCode>General</c:formatCode>
                <c:ptCount val="39"/>
                <c:pt idx="0">
                  <c:v>15</c:v>
                </c:pt>
                <c:pt idx="1">
                  <c:v>13</c:v>
                </c:pt>
                <c:pt idx="2">
                  <c:v>14</c:v>
                </c:pt>
                <c:pt idx="3">
                  <c:v>15</c:v>
                </c:pt>
                <c:pt idx="4">
                  <c:v>15</c:v>
                </c:pt>
                <c:pt idx="5">
                  <c:v>18</c:v>
                </c:pt>
                <c:pt idx="6">
                  <c:v>17</c:v>
                </c:pt>
                <c:pt idx="7">
                  <c:v>17</c:v>
                </c:pt>
                <c:pt idx="8">
                  <c:v>18</c:v>
                </c:pt>
                <c:pt idx="9">
                  <c:v>24</c:v>
                </c:pt>
                <c:pt idx="10">
                  <c:v>23</c:v>
                </c:pt>
                <c:pt idx="11">
                  <c:v>23</c:v>
                </c:pt>
                <c:pt idx="12">
                  <c:v>18</c:v>
                </c:pt>
                <c:pt idx="13">
                  <c:v>21</c:v>
                </c:pt>
                <c:pt idx="14">
                  <c:v>20</c:v>
                </c:pt>
                <c:pt idx="15">
                  <c:v>22</c:v>
                </c:pt>
                <c:pt idx="16">
                  <c:v>23</c:v>
                </c:pt>
                <c:pt idx="17">
                  <c:v>23</c:v>
                </c:pt>
                <c:pt idx="18">
                  <c:v>20</c:v>
                </c:pt>
                <c:pt idx="19">
                  <c:v>20</c:v>
                </c:pt>
                <c:pt idx="20">
                  <c:v>22</c:v>
                </c:pt>
                <c:pt idx="21">
                  <c:v>24</c:v>
                </c:pt>
                <c:pt idx="22">
                  <c:v>27</c:v>
                </c:pt>
                <c:pt idx="23">
                  <c:v>26</c:v>
                </c:pt>
                <c:pt idx="24">
                  <c:v>33</c:v>
                </c:pt>
                <c:pt idx="25">
                  <c:v>39</c:v>
                </c:pt>
                <c:pt idx="26">
                  <c:v>34</c:v>
                </c:pt>
                <c:pt idx="27">
                  <c:v>42</c:v>
                </c:pt>
                <c:pt idx="28">
                  <c:v>51</c:v>
                </c:pt>
                <c:pt idx="29">
                  <c:v>36</c:v>
                </c:pt>
                <c:pt idx="30">
                  <c:v>36</c:v>
                </c:pt>
                <c:pt idx="31">
                  <c:v>22</c:v>
                </c:pt>
                <c:pt idx="32">
                  <c:v>23</c:v>
                </c:pt>
                <c:pt idx="33">
                  <c:v>31</c:v>
                </c:pt>
                <c:pt idx="34">
                  <c:v>35</c:v>
                </c:pt>
                <c:pt idx="35">
                  <c:v>39</c:v>
                </c:pt>
                <c:pt idx="36">
                  <c:v>55</c:v>
                </c:pt>
                <c:pt idx="37">
                  <c:v>56</c:v>
                </c:pt>
                <c:pt idx="38">
                  <c:v>51</c:v>
                </c:pt>
              </c:numCache>
            </c:numRef>
          </c:val>
          <c:smooth val="0"/>
        </c:ser>
        <c:ser>
          <c:idx val="2"/>
          <c:order val="2"/>
          <c:tx>
            <c:strRef>
              <c:f>Sheet1!$D$1</c:f>
              <c:strCache>
                <c:ptCount val="1"/>
                <c:pt idx="0">
                  <c:v>아이온2</c:v>
                </c:pt>
              </c:strCache>
            </c:strRef>
          </c:tx>
          <c:spPr>
            <a:solidFill>
              <a:srgbClr val="6B4FA0"/>
            </a:solidFill>
            <a:ln w="28575" cap="flat">
              <a:solidFill>
                <a:srgbClr val="6B4FA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4"/>
            <c:spPr>
              <a:solidFill>
                <a:srgbClr val="6B4FA0"/>
              </a:solidFill>
              <a:ln w="9525" cap="flat">
                <a:solidFill>
                  <a:srgbClr val="6B4FA0"/>
                </a:solidFill>
                <a:prstDash val="solid"/>
                <a:round/>
              </a:ln>
              <a:effectLst/>
            </c:spPr>
          </c:marker>
          <c:cat>
            <c:multiLvlStrRef>
              <c:f>Sheet1!$A$2:$A$40</c:f>
              <c:multiLvlStrCache>
                <c:ptCount val="39"/>
                <c:lvl>
                  <c:pt idx="0">
                    <c:v>11/17</c:v>
                  </c:pt>
                  <c:pt idx="1">
                    <c:v/>
                  </c:pt>
                  <c:pt idx="2">
                    <c:v/>
                  </c:pt>
                  <c:pt idx="3">
                    <c:v>12/8</c:v>
                  </c:pt>
                  <c:pt idx="4">
                    <c:v/>
                  </c:pt>
                  <c:pt idx="5">
                    <c:v/>
                  </c:pt>
                  <c:pt idx="6">
                    <c:v>12/29</c:v>
                  </c:pt>
                  <c:pt idx="7">
                    <c:v/>
                  </c:pt>
                  <c:pt idx="8">
                    <c:v/>
                  </c:pt>
                  <c:pt idx="9">
                    <c:v>1/19</c:v>
                  </c:pt>
                  <c:pt idx="10">
                    <c:v/>
                  </c:pt>
                  <c:pt idx="11">
                    <c:v/>
                  </c:pt>
                  <c:pt idx="12">
                    <c:v>2/9</c:v>
                  </c:pt>
                  <c:pt idx="13">
                    <c:v/>
                  </c:pt>
                  <c:pt idx="14">
                    <c:v/>
                  </c:pt>
                  <c:pt idx="15">
                    <c:v>3/2</c:v>
                  </c:pt>
                  <c:pt idx="16">
                    <c:v/>
                  </c:pt>
                  <c:pt idx="17">
                    <c:v/>
                  </c:pt>
                  <c:pt idx="18">
                    <c:v>3/23</c:v>
                  </c:pt>
                  <c:pt idx="19">
                    <c:v/>
                  </c:pt>
                  <c:pt idx="20">
                    <c:v/>
                  </c:pt>
                  <c:pt idx="21">
                    <c:v>4/13</c:v>
                  </c:pt>
                  <c:pt idx="22">
                    <c:v/>
                  </c:pt>
                  <c:pt idx="23">
                    <c:v/>
                  </c:pt>
                  <c:pt idx="24">
                    <c:v>5/4</c:v>
                  </c:pt>
                  <c:pt idx="25">
                    <c:v/>
                  </c:pt>
                  <c:pt idx="26">
                    <c:v/>
                  </c:pt>
                  <c:pt idx="27">
                    <c:v>5/25</c:v>
                  </c:pt>
                  <c:pt idx="28">
                    <c:v/>
                  </c:pt>
                  <c:pt idx="29">
                    <c:v/>
                  </c:pt>
                  <c:pt idx="30">
                    <c:v>6/15</c:v>
                  </c:pt>
                  <c:pt idx="31">
                    <c:v/>
                  </c:pt>
                  <c:pt idx="32">
                    <c:v/>
                  </c:pt>
                  <c:pt idx="33">
                    <c:v>7/6</c:v>
                  </c:pt>
                  <c:pt idx="34">
                    <c:v/>
                  </c:pt>
                  <c:pt idx="35">
                    <c:v/>
                  </c:pt>
                  <c:pt idx="36">
                    <c:v>7/27</c:v>
                  </c:pt>
                  <c:pt idx="37">
                    <c:v/>
                  </c:pt>
                  <c:pt idx="38">
                    <c:v/>
                  </c:pt>
                </c:lvl>
              </c:multiLvlStrCache>
            </c:multiLvlStrRef>
          </c:cat>
          <c:val>
            <c:numRef>
              <c:f>Sheet1!$D$2:$D$40</c:f>
              <c:numCache>
                <c:formatCode>General</c:formatCode>
                <c:ptCount val="39"/>
                <c:pt idx="0">
                  <c:v>6</c:v>
                </c:pt>
                <c:pt idx="1">
                  <c:v>12</c:v>
                </c:pt>
                <c:pt idx="2">
                  <c:v>20</c:v>
                </c:pt>
                <c:pt idx="3">
                  <c:v>21</c:v>
                </c:pt>
                <c:pt idx="4">
                  <c:v>27</c:v>
                </c:pt>
                <c:pt idx="5">
                  <c:v>26</c:v>
                </c:pt>
                <c:pt idx="6">
                  <c:v>30</c:v>
                </c:pt>
                <c:pt idx="7">
                  <c:v>31</c:v>
                </c:pt>
                <c:pt idx="8">
                  <c:v>36</c:v>
                </c:pt>
                <c:pt idx="9">
                  <c:v>36</c:v>
                </c:pt>
                <c:pt idx="10">
                  <c:v>41</c:v>
                </c:pt>
                <c:pt idx="11">
                  <c:v>44</c:v>
                </c:pt>
                <c:pt idx="12">
                  <c:v>45</c:v>
                </c:pt>
                <c:pt idx="13">
                  <c:v>45</c:v>
                </c:pt>
                <c:pt idx="14">
                  <c:v>41</c:v>
                </c:pt>
                <c:pt idx="15">
                  <c:v>43</c:v>
                </c:pt>
                <c:pt idx="16">
                  <c:v>47</c:v>
                </c:pt>
                <c:pt idx="17">
                  <c:v>49</c:v>
                </c:pt>
                <c:pt idx="18">
                  <c:v>51</c:v>
                </c:pt>
                <c:pt idx="19">
                  <c:v>57</c:v>
                </c:pt>
                <c:pt idx="20">
                  <c:v>59</c:v>
                </c:pt>
                <c:pt idx="21">
                  <c:v>62</c:v>
                </c:pt>
                <c:pt idx="22">
                  <c:v>66</c:v>
                </c:pt>
                <c:pt idx="23">
                  <c:v>70</c:v>
                </c:pt>
                <c:pt idx="24">
                  <c:v>75</c:v>
                </c:pt>
                <c:pt idx="25">
                  <c:v>78</c:v>
                </c:pt>
                <c:pt idx="26">
                  <c:v>84</c:v>
                </c:pt>
                <c:pt idx="27">
                  <c:v>87</c:v>
                </c:pt>
                <c:pt idx="28">
                  <c:v>92</c:v>
                </c:pt>
                <c:pt idx="29">
                  <c:v>92</c:v>
                </c:pt>
                <c:pt idx="30">
                  <c:v>98</c:v>
                </c:pt>
                <c:pt idx="31">
                  <c:v>106</c:v>
                </c:pt>
                <c:pt idx="32">
                  <c:v>79</c:v>
                </c:pt>
                <c:pt idx="33">
                  <c:v>76</c:v>
                </c:pt>
                <c:pt idx="34">
                  <c:v>80</c:v>
                </c:pt>
                <c:pt idx="35">
                  <c:v>77</c:v>
                </c:pt>
                <c:pt idx="36">
                  <c:v>86</c:v>
                </c:pt>
                <c:pt idx="37">
                  <c:v>105</c:v>
                </c:pt>
                <c:pt idx="38">
                  <c:v>101</c:v>
                </c:pt>
              </c:numCache>
            </c:numRef>
          </c:val>
          <c:smooth val="0"/>
        </c:ser>
        <c:ser>
          <c:idx val="3"/>
          <c:order val="3"/>
          <c:tx>
            <c:strRef>
              <c:f>Sheet1!$E$1</c:f>
              <c:strCache>
                <c:ptCount val="1"/>
                <c:pt idx="0">
                  <c:v>검은사막모바일</c:v>
                </c:pt>
              </c:strCache>
            </c:strRef>
          </c:tx>
          <c:spPr>
            <a:solidFill>
              <a:srgbClr val="8B2635"/>
            </a:solidFill>
            <a:ln w="28575" cap="flat">
              <a:solidFill>
                <a:srgbClr val="8B263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4"/>
            <c:spPr>
              <a:solidFill>
                <a:srgbClr val="8B2635"/>
              </a:solidFill>
              <a:ln w="9525" cap="flat">
                <a:solidFill>
                  <a:srgbClr val="8B2635"/>
                </a:solidFill>
                <a:prstDash val="solid"/>
                <a:round/>
              </a:ln>
              <a:effectLst/>
            </c:spPr>
          </c:marker>
          <c:cat>
            <c:multiLvlStrRef>
              <c:f>Sheet1!$A$2:$A$40</c:f>
              <c:multiLvlStrCache>
                <c:ptCount val="39"/>
                <c:lvl>
                  <c:pt idx="0">
                    <c:v>11/17</c:v>
                  </c:pt>
                  <c:pt idx="1">
                    <c:v/>
                  </c:pt>
                  <c:pt idx="2">
                    <c:v/>
                  </c:pt>
                  <c:pt idx="3">
                    <c:v>12/8</c:v>
                  </c:pt>
                  <c:pt idx="4">
                    <c:v/>
                  </c:pt>
                  <c:pt idx="5">
                    <c:v/>
                  </c:pt>
                  <c:pt idx="6">
                    <c:v>12/29</c:v>
                  </c:pt>
                  <c:pt idx="7">
                    <c:v/>
                  </c:pt>
                  <c:pt idx="8">
                    <c:v/>
                  </c:pt>
                  <c:pt idx="9">
                    <c:v>1/19</c:v>
                  </c:pt>
                  <c:pt idx="10">
                    <c:v/>
                  </c:pt>
                  <c:pt idx="11">
                    <c:v/>
                  </c:pt>
                  <c:pt idx="12">
                    <c:v>2/9</c:v>
                  </c:pt>
                  <c:pt idx="13">
                    <c:v/>
                  </c:pt>
                  <c:pt idx="14">
                    <c:v/>
                  </c:pt>
                  <c:pt idx="15">
                    <c:v>3/2</c:v>
                  </c:pt>
                  <c:pt idx="16">
                    <c:v/>
                  </c:pt>
                  <c:pt idx="17">
                    <c:v/>
                  </c:pt>
                  <c:pt idx="18">
                    <c:v>3/23</c:v>
                  </c:pt>
                  <c:pt idx="19">
                    <c:v/>
                  </c:pt>
                  <c:pt idx="20">
                    <c:v/>
                  </c:pt>
                  <c:pt idx="21">
                    <c:v>4/13</c:v>
                  </c:pt>
                  <c:pt idx="22">
                    <c:v/>
                  </c:pt>
                  <c:pt idx="23">
                    <c:v/>
                  </c:pt>
                  <c:pt idx="24">
                    <c:v>5/4</c:v>
                  </c:pt>
                  <c:pt idx="25">
                    <c:v/>
                  </c:pt>
                  <c:pt idx="26">
                    <c:v/>
                  </c:pt>
                  <c:pt idx="27">
                    <c:v>5/25</c:v>
                  </c:pt>
                  <c:pt idx="28">
                    <c:v/>
                  </c:pt>
                  <c:pt idx="29">
                    <c:v/>
                  </c:pt>
                  <c:pt idx="30">
                    <c:v>6/15</c:v>
                  </c:pt>
                  <c:pt idx="31">
                    <c:v/>
                  </c:pt>
                  <c:pt idx="32">
                    <c:v/>
                  </c:pt>
                  <c:pt idx="33">
                    <c:v>7/6</c:v>
                  </c:pt>
                  <c:pt idx="34">
                    <c:v/>
                  </c:pt>
                  <c:pt idx="35">
                    <c:v/>
                  </c:pt>
                  <c:pt idx="36">
                    <c:v>7/27</c:v>
                  </c:pt>
                  <c:pt idx="37">
                    <c:v/>
                  </c:pt>
                  <c:pt idx="38">
                    <c:v/>
                  </c:pt>
                </c:lvl>
              </c:multiLvlStrCache>
            </c:multiLvlStrRef>
          </c:cat>
          <c:val>
            <c:numRef>
              <c:f>Sheet1!$E$2:$E$40</c:f>
              <c:numCache>
                <c:formatCode>General</c:formatCode>
                <c:ptCount val="39"/>
                <c:pt idx="0">
                  <c:v/>
                </c:pt>
                <c:pt idx="1">
                  <c:v/>
                </c:pt>
                <c:pt idx="2">
                  <c:v/>
                </c:pt>
                <c:pt idx="3">
                  <c:v>269</c:v>
                </c:pt>
                <c:pt idx="4">
                  <c:v>200</c:v>
                </c:pt>
                <c:pt idx="5">
                  <c:v>199</c:v>
                </c:pt>
                <c:pt idx="6">
                  <c:v/>
                </c:pt>
                <c:pt idx="7">
                  <c:v/>
                </c:pt>
                <c:pt idx="8">
                  <c:v/>
                </c:pt>
                <c:pt idx="9">
                  <c:v/>
                </c:pt>
                <c:pt idx="10">
                  <c:v/>
                </c:pt>
                <c:pt idx="11">
                  <c:v/>
                </c:pt>
                <c:pt idx="12">
                  <c:v/>
                </c:pt>
                <c:pt idx="13">
                  <c:v/>
                </c:pt>
                <c:pt idx="14">
                  <c:v/>
                </c:pt>
                <c:pt idx="15">
                  <c:v>159</c:v>
                </c:pt>
                <c:pt idx="16">
                  <c:v>165</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8D8E0"/>
            </a:solidFill>
            <a:prstDash val="solid"/>
            <a:round/>
          </a:ln>
        </c:spPr>
        <c:txPr>
          <a:bodyPr/>
          <a:lstStyle/>
          <a:p>
            <a:pPr>
              <a:defRPr sz="900" b="0" i="0" u="none" strike="noStrike">
                <a:solidFill>
                  <a:srgbClr val="6B6F80"/>
                </a:solidFill>
                <a:latin typeface="Arial"/>
              </a:defRPr>
            </a:pPr>
            <a:endParaRPr lang="en-US"/>
          </a:p>
        </c:txPr>
        <c:crossAx val="2094734552"/>
        <c:crosses val="autoZero"/>
        <c:auto val="1"/>
        <c:lblAlgn val="ctr"/>
        <c:noMultiLvlLbl val="1"/>
      </c:catAx>
      <c:valAx>
        <c:axId val="2094734552"/>
        <c:scaling>
          <c:orientation val="minMax"/>
          <c:max val="120"/>
          <c:min val="0"/>
        </c:scaling>
        <c:delete val="0"/>
        <c:axPos val="l"/>
        <c:majorGridlines>
          <c:spPr>
            <a:ln w="12700" cap="flat">
              <a:solidFill>
                <a:srgbClr val="EDEDF2"/>
              </a:solidFill>
              <a:prstDash val="solid"/>
              <a:round/>
            </a:ln>
          </c:spPr>
        </c:majorGridlines>
        <c:title>
          <c:tx>
            <c:rich>
              <a:bodyPr/>
              <a:lstStyle/>
              <a:p>
                <a:pPr>
                  <a:defRPr sz="1000" b="0" i="0" u="none" strike="noStrike">
                    <a:solidFill>
                      <a:srgbClr val="8B8FA3"/>
                    </a:solidFill>
                    <a:latin typeface="Arial"/>
                  </a:defRPr>
                </a:pPr>
                <a:r>
                  <a:rPr sz="1000" b="0" i="0" u="none" strike="noStrike">
                    <a:solidFill>
                      <a:srgbClr val="8B8FA3"/>
                    </a:solidFill>
                    <a:latin typeface="Arial"/>
                  </a:rPr>
                  <a:t>순위(낮을수록 상위)</a:t>
                </a:r>
              </a:p>
            </c:rich>
          </c:tx>
          <c:layout/>
          <c:overlay val="0"/>
        </c:title>
        <c:numFmt formatCode="General" sourceLinked="0"/>
        <c:majorTickMark val="out"/>
        <c:minorTickMark val="none"/>
        <c:tickLblPos val="nextTo"/>
        <c:spPr>
          <a:ln w="12700" cap="flat">
            <a:noFill/>
            <a:prstDash val="solid"/>
            <a:round/>
          </a:ln>
        </c:spPr>
        <c:txPr>
          <a:bodyPr/>
          <a:lstStyle/>
          <a:p>
            <a:pPr>
              <a:defRPr sz="1050" b="0" i="0" u="none" strike="noStrike">
                <a:solidFill>
                  <a:srgbClr val="6B6F80"/>
                </a:solidFill>
                <a:latin typeface="Arial"/>
              </a:defRPr>
            </a:pPr>
            <a:endParaRPr lang="en-US"/>
          </a:p>
        </c:txPr>
        <c:crossAx val="2094734554"/>
        <c:crosses val="autoZero"/>
        <c:crossBetween val="between"/>
        <c:majorUnit val="20"/>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FY2024</c:v>
                </c:pt>
              </c:strCache>
            </c:strRef>
          </c:tx>
          <c:spPr>
            <a:solidFill>
              <a:srgbClr val="C7CADA"/>
            </a:solidFill>
            <a:effectLst/>
          </c:spPr>
          <c:invertIfNegative val="0"/>
          <c:dLbls>
            <c:numFmt formatCode="#,##0" sourceLinked="0"/>
            <c:txPr>
              <a:bodyPr/>
              <a:lstStyle/>
              <a:p>
                <a:pPr>
                  <a:defRPr b="0" i="0" strike="noStrike" sz="1000" u="none">
                    <a:solidFill>
                      <a:srgbClr val="3A3D4A"/>
                    </a:solidFill>
                    <a:latin typeface="Arial"/>
                  </a:defRPr>
                </a:pPr>
              </a:p>
            </c:txPr>
            <c:showLegendKey val="0"/>
            <c:showVal val="1"/>
            <c:showCatName val="0"/>
            <c:showSerName val="0"/>
            <c:showPercent val="0"/>
            <c:showBubbleSize val="0"/>
            <c:showLeaderLines val="0"/>
          </c:dLbls>
          <c:cat>
            <c:multiLvlStrRef>
              <c:f>Sheet1!$A$2:$A$4</c:f>
              <c:multiLvlStrCache>
                <c:ptCount val="3"/>
                <c:lvl>
                  <c:pt idx="0">
                    <c:v>넥슨코리아
(메이플M 등)</c:v>
                  </c:pt>
                  <c:pt idx="1">
                    <c:v>펄어비스
(검은사막)</c:v>
                  </c:pt>
                  <c:pt idx="2">
                    <c:v>엔씨/NC
(아이온2)</c:v>
                  </c:pt>
                </c:lvl>
              </c:multiLvlStrCache>
            </c:multiLvlStrRef>
          </c:cat>
          <c:val>
            <c:numRef>
              <c:f>Sheet1!$B$2:$B$4</c:f>
              <c:numCache>
                <c:formatCode>General</c:formatCode>
                <c:ptCount val="3"/>
                <c:pt idx="0">
                  <c:v>2214</c:v>
                </c:pt>
                <c:pt idx="1">
                  <c:v>125</c:v>
                </c:pt>
                <c:pt idx="2">
                  <c:v>1352</c:v>
                </c:pt>
              </c:numCache>
            </c:numRef>
          </c:val>
        </c:ser>
        <c:ser>
          <c:idx val="1"/>
          <c:order val="1"/>
          <c:tx>
            <c:strRef>
              <c:f>Sheet1!$C$1</c:f>
              <c:strCache>
                <c:ptCount val="1"/>
                <c:pt idx="0">
                  <c:v>FY2025</c:v>
                </c:pt>
              </c:strCache>
            </c:strRef>
          </c:tx>
          <c:spPr>
            <a:solidFill>
              <a:srgbClr val="F0692B"/>
            </a:solidFill>
            <a:effectLst/>
          </c:spPr>
          <c:invertIfNegative val="0"/>
          <c:dLbls>
            <c:numFmt formatCode="#,##0" sourceLinked="0"/>
            <c:txPr>
              <a:bodyPr/>
              <a:lstStyle/>
              <a:p>
                <a:pPr>
                  <a:defRPr b="0" i="0" strike="noStrike" sz="1000" u="none">
                    <a:solidFill>
                      <a:srgbClr val="3A3D4A"/>
                    </a:solidFill>
                    <a:latin typeface="Arial"/>
                  </a:defRPr>
                </a:pPr>
              </a:p>
            </c:txPr>
            <c:showLegendKey val="0"/>
            <c:showVal val="1"/>
            <c:showCatName val="0"/>
            <c:showSerName val="0"/>
            <c:showPercent val="0"/>
            <c:showBubbleSize val="0"/>
            <c:showLeaderLines val="0"/>
          </c:dLbls>
          <c:cat>
            <c:multiLvlStrRef>
              <c:f>Sheet1!$A$2:$A$4</c:f>
              <c:multiLvlStrCache>
                <c:ptCount val="3"/>
                <c:lvl>
                  <c:pt idx="0">
                    <c:v>넥슨코리아
(메이플M 등)</c:v>
                  </c:pt>
                  <c:pt idx="1">
                    <c:v>펄어비스
(검은사막)</c:v>
                  </c:pt>
                  <c:pt idx="2">
                    <c:v>엔씨/NC
(아이온2)</c:v>
                  </c:pt>
                </c:lvl>
              </c:multiLvlStrCache>
            </c:multiLvlStrRef>
          </c:cat>
          <c:val>
            <c:numRef>
              <c:f>Sheet1!$C$2:$C$4</c:f>
              <c:numCache>
                <c:formatCode>General</c:formatCode>
                <c:ptCount val="3"/>
                <c:pt idx="0">
                  <c:v>2866</c:v>
                </c:pt>
                <c:pt idx="1">
                  <c:v>117</c:v>
                </c:pt>
                <c:pt idx="2">
                  <c:v>836</c:v>
                </c:pt>
              </c:numCache>
            </c:numRef>
          </c:val>
        </c:ser>
        <c:dLbls>
          <c:numFmt formatCode="#,##0" sourceLinked="0"/>
          <c:txPr>
            <a:bodyPr/>
            <a:lstStyle/>
            <a:p>
              <a:pPr>
                <a:defRPr b="0" i="0" strike="noStrike" sz="1000" u="none">
                  <a:solidFill>
                    <a:srgbClr val="3A3D4A"/>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8D8E0"/>
            </a:solidFill>
            <a:prstDash val="solid"/>
            <a:round/>
          </a:ln>
        </c:spPr>
        <c:txPr>
          <a:bodyPr/>
          <a:lstStyle/>
          <a:p>
            <a:pPr>
              <a:defRPr sz="1100" b="0" i="0" u="none" strike="noStrike">
                <a:solidFill>
                  <a:srgbClr val="6B6F8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DEDF2"/>
              </a:solidFill>
              <a:prstDash val="solid"/>
              <a:round/>
            </a:ln>
          </c:spPr>
        </c:majorGridlines>
        <c:title>
          <c:tx>
            <c:rich>
              <a:bodyPr/>
              <a:lstStyle/>
              <a:p>
                <a:pPr>
                  <a:defRPr sz="1000" b="0" i="0" u="none" strike="noStrike">
                    <a:solidFill>
                      <a:srgbClr val="8B8FA3"/>
                    </a:solidFill>
                    <a:latin typeface="Arial"/>
                  </a:defRPr>
                </a:pPr>
                <a:r>
                  <a:rPr sz="1000" b="0" i="0" u="none" strike="noStrike">
                    <a:solidFill>
                      <a:srgbClr val="8B8FA3"/>
                    </a:solidFill>
                    <a:latin typeface="Arial"/>
                  </a:rPr>
                  <a:t>억원</a:t>
                </a:r>
              </a:p>
            </c:rich>
          </c:tx>
          <c:layout/>
          <c:overlay val="0"/>
        </c:title>
        <c:numFmt formatCode="General" sourceLinked="0"/>
        <c:majorTickMark val="out"/>
        <c:minorTickMark val="none"/>
        <c:tickLblPos val="nextTo"/>
        <c:spPr>
          <a:ln w="12700" cap="flat">
            <a:noFill/>
            <a:prstDash val="solid"/>
            <a:round/>
          </a:ln>
        </c:spPr>
        <c:txPr>
          <a:bodyPr/>
          <a:lstStyle/>
          <a:p>
            <a:pPr>
              <a:defRPr sz="1050" b="0" i="0" u="none" strike="noStrike">
                <a:solidFill>
                  <a:srgbClr val="6B6F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매출액(억원)</c:v>
                </c:pt>
              </c:strCache>
            </c:strRef>
          </c:tx>
          <c:spPr>
            <a:solidFill>
              <a:srgbClr val="8B2635"/>
            </a:solidFill>
            <a:effectLst/>
          </c:spPr>
          <c:invertIfNegative val="0"/>
          <c:dLbls>
            <c:numFmt formatCode="#,##0" sourceLinked="0"/>
            <c:txPr>
              <a:bodyPr/>
              <a:lstStyle/>
              <a:p>
                <a:pPr>
                  <a:defRPr b="0" i="0" strike="noStrike" sz="900" u="none">
                    <a:solidFill>
                      <a:srgbClr val="3A3D4A"/>
                    </a:solidFill>
                    <a:latin typeface="Arial"/>
                  </a:defRPr>
                </a:pPr>
              </a:p>
            </c:txPr>
            <c:showLegendKey val="0"/>
            <c:showVal val="1"/>
            <c:showCatName val="0"/>
            <c:showSerName val="0"/>
            <c:showPercent val="0"/>
            <c:showBubbleSize val="0"/>
            <c:showLeaderLines val="0"/>
          </c:dLbls>
          <c:cat>
            <c:multiLvlStrRef>
              <c:f>Sheet1!$A$2:$A$4</c:f>
              <c:multiLvlStrCache>
                <c:ptCount val="3"/>
                <c:lvl>
                  <c:pt idx="0">
                    <c:v>FY24</c:v>
                  </c:pt>
                  <c:pt idx="1">
                    <c:v>FY25</c:v>
                  </c:pt>
                  <c:pt idx="2">
                    <c:v>26 H1</c:v>
                  </c:pt>
                </c:lvl>
              </c:multiLvlStrCache>
            </c:multiLvlStrRef>
          </c:cat>
          <c:val>
            <c:numRef>
              <c:f>Sheet1!$B$2:$B$4</c:f>
              <c:numCache>
                <c:formatCode>General</c:formatCode>
                <c:ptCount val="3"/>
                <c:pt idx="0">
                  <c:v>3319</c:v>
                </c:pt>
                <c:pt idx="1">
                  <c:v>3532</c:v>
                </c:pt>
                <c:pt idx="2">
                  <c:v>5509</c:v>
                </c:pt>
              </c:numCache>
            </c:numRef>
          </c:val>
        </c:ser>
        <c:ser>
          <c:idx val="1"/>
          <c:order val="1"/>
          <c:tx>
            <c:strRef>
              <c:f>Sheet1!$C$1</c:f>
              <c:strCache>
                <c:ptCount val="1"/>
                <c:pt idx="0">
                  <c:v>광고선전비 연결(억원)</c:v>
                </c:pt>
              </c:strCache>
            </c:strRef>
          </c:tx>
          <c:spPr>
            <a:solidFill>
              <a:srgbClr val="E8B84B"/>
            </a:solidFill>
            <a:effectLst/>
          </c:spPr>
          <c:invertIfNegative val="0"/>
          <c:dLbls>
            <c:numFmt formatCode="#,##0" sourceLinked="0"/>
            <c:txPr>
              <a:bodyPr/>
              <a:lstStyle/>
              <a:p>
                <a:pPr>
                  <a:defRPr b="0" i="0" strike="noStrike" sz="900" u="none">
                    <a:solidFill>
                      <a:srgbClr val="3A3D4A"/>
                    </a:solidFill>
                    <a:latin typeface="Arial"/>
                  </a:defRPr>
                </a:pPr>
              </a:p>
            </c:txPr>
            <c:showLegendKey val="0"/>
            <c:showVal val="1"/>
            <c:showCatName val="0"/>
            <c:showSerName val="0"/>
            <c:showPercent val="0"/>
            <c:showBubbleSize val="0"/>
            <c:showLeaderLines val="0"/>
          </c:dLbls>
          <c:cat>
            <c:multiLvlStrRef>
              <c:f>Sheet1!$A$2:$A$4</c:f>
              <c:multiLvlStrCache>
                <c:ptCount val="3"/>
                <c:lvl>
                  <c:pt idx="0">
                    <c:v>FY24</c:v>
                  </c:pt>
                  <c:pt idx="1">
                    <c:v>FY25</c:v>
                  </c:pt>
                  <c:pt idx="2">
                    <c:v>26 H1</c:v>
                  </c:pt>
                </c:lvl>
              </c:multiLvlStrCache>
            </c:multiLvlStrRef>
          </c:cat>
          <c:val>
            <c:numRef>
              <c:f>Sheet1!$C$2:$C$4</c:f>
              <c:numCache>
                <c:formatCode>General</c:formatCode>
                <c:ptCount val="3"/>
                <c:pt idx="0">
                  <c:v>336</c:v>
                </c:pt>
                <c:pt idx="1">
                  <c:v>437</c:v>
                </c:pt>
                <c:pt idx="2">
                  <c:v>325</c:v>
                </c:pt>
              </c:numCache>
            </c:numRef>
          </c:val>
        </c:ser>
        <c:dLbls>
          <c:numFmt formatCode="#,##0" sourceLinked="0"/>
          <c:txPr>
            <a:bodyPr/>
            <a:lstStyle/>
            <a:p>
              <a:pPr>
                <a:defRPr b="0" i="0" strike="noStrike" sz="900" u="none">
                  <a:solidFill>
                    <a:srgbClr val="3A3D4A"/>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8D8E0"/>
            </a:solidFill>
            <a:prstDash val="solid"/>
            <a:round/>
          </a:ln>
        </c:spPr>
        <c:txPr>
          <a:bodyPr/>
          <a:lstStyle/>
          <a:p>
            <a:pPr>
              <a:defRPr sz="1050" b="0" i="0" u="none" strike="noStrike">
                <a:solidFill>
                  <a:srgbClr val="6B6F8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연결 영업이익(억원)</c:v>
                </c:pt>
              </c:strCache>
            </c:strRef>
          </c:tx>
          <c:spPr>
            <a:solidFill>
              <a:srgbClr val="6B4FA0"/>
            </a:solidFill>
            <a:effectLst/>
          </c:spPr>
          <c:invertIfNegative val="0"/>
          <c:dLbls>
            <c:numFmt formatCode="#,##0" sourceLinked="0"/>
            <c:txPr>
              <a:bodyPr/>
              <a:lstStyle/>
              <a:p>
                <a:pPr>
                  <a:defRPr b="0" i="0" strike="noStrike" sz="850" u="none">
                    <a:solidFill>
                      <a:srgbClr val="3A3D4A"/>
                    </a:solidFill>
                    <a:latin typeface="Arial"/>
                  </a:defRPr>
                </a:pPr>
              </a:p>
            </c:txPr>
            <c:showLegendKey val="0"/>
            <c:showVal val="1"/>
            <c:showCatName val="0"/>
            <c:showSerName val="0"/>
            <c:showPercent val="0"/>
            <c:showBubbleSize val="0"/>
            <c:showLeaderLines val="0"/>
          </c:dLbls>
          <c:cat>
            <c:multiLvlStrRef>
              <c:f>Sheet1!$A$2:$A$4</c:f>
              <c:multiLvlStrCache>
                <c:ptCount val="3"/>
                <c:lvl>
                  <c:pt idx="0">
                    <c:v>FY24</c:v>
                  </c:pt>
                  <c:pt idx="1">
                    <c:v>FY25</c:v>
                  </c:pt>
                  <c:pt idx="2">
                    <c:v>26H1</c:v>
                  </c:pt>
                </c:lvl>
              </c:multiLvlStrCache>
            </c:multiLvlStrRef>
          </c:cat>
          <c:val>
            <c:numRef>
              <c:f>Sheet1!$B$2:$B$4</c:f>
              <c:numCache>
                <c:formatCode>General</c:formatCode>
                <c:ptCount val="3"/>
                <c:pt idx="0">
                  <c:v>-1092</c:v>
                </c:pt>
                <c:pt idx="1">
                  <c:v>161</c:v>
                </c:pt>
                <c:pt idx="2">
                  <c:v>2871</c:v>
                </c:pt>
              </c:numCache>
            </c:numRef>
          </c:val>
        </c:ser>
        <c:ser>
          <c:idx val="1"/>
          <c:order val="1"/>
          <c:tx>
            <c:strRef>
              <c:f>Sheet1!$C$1</c:f>
              <c:strCache>
                <c:ptCount val="1"/>
                <c:pt idx="0">
                  <c:v>광고선전비 별도(억원)</c:v>
                </c:pt>
              </c:strCache>
            </c:strRef>
          </c:tx>
          <c:spPr>
            <a:solidFill>
              <a:srgbClr val="E8B84B"/>
            </a:solidFill>
            <a:effectLst/>
          </c:spPr>
          <c:invertIfNegative val="0"/>
          <c:dLbls>
            <c:numFmt formatCode="#,##0" sourceLinked="0"/>
            <c:txPr>
              <a:bodyPr/>
              <a:lstStyle/>
              <a:p>
                <a:pPr>
                  <a:defRPr b="0" i="0" strike="noStrike" sz="850" u="none">
                    <a:solidFill>
                      <a:srgbClr val="3A3D4A"/>
                    </a:solidFill>
                    <a:latin typeface="Arial"/>
                  </a:defRPr>
                </a:pPr>
              </a:p>
            </c:txPr>
            <c:showLegendKey val="0"/>
            <c:showVal val="1"/>
            <c:showCatName val="0"/>
            <c:showSerName val="0"/>
            <c:showPercent val="0"/>
            <c:showBubbleSize val="0"/>
            <c:showLeaderLines val="0"/>
          </c:dLbls>
          <c:cat>
            <c:multiLvlStrRef>
              <c:f>Sheet1!$A$2:$A$4</c:f>
              <c:multiLvlStrCache>
                <c:ptCount val="3"/>
                <c:lvl>
                  <c:pt idx="0">
                    <c:v>FY24</c:v>
                  </c:pt>
                  <c:pt idx="1">
                    <c:v>FY25</c:v>
                  </c:pt>
                  <c:pt idx="2">
                    <c:v>26H1</c:v>
                  </c:pt>
                </c:lvl>
              </c:multiLvlStrCache>
            </c:multiLvlStrRef>
          </c:cat>
          <c:val>
            <c:numRef>
              <c:f>Sheet1!$C$2:$C$4</c:f>
              <c:numCache>
                <c:formatCode>General</c:formatCode>
                <c:ptCount val="3"/>
                <c:pt idx="0">
                  <c:v>1352</c:v>
                </c:pt>
                <c:pt idx="1">
                  <c:v>836</c:v>
                </c:pt>
                <c:pt idx="2">
                  <c:v>369</c:v>
                </c:pt>
              </c:numCache>
            </c:numRef>
          </c:val>
        </c:ser>
        <c:dLbls>
          <c:numFmt formatCode="#,##0" sourceLinked="0"/>
          <c:txPr>
            <a:bodyPr/>
            <a:lstStyle/>
            <a:p>
              <a:pPr>
                <a:defRPr b="0" i="0" strike="noStrike" sz="850" u="none">
                  <a:solidFill>
                    <a:srgbClr val="3A3D4A"/>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8D8E0"/>
            </a:solidFill>
            <a:prstDash val="solid"/>
            <a:round/>
          </a:ln>
        </c:spPr>
        <c:txPr>
          <a:bodyPr/>
          <a:lstStyle/>
          <a:p>
            <a:pPr>
              <a:defRPr sz="1000" b="0" i="0" u="none" strike="noStrike">
                <a:solidFill>
                  <a:srgbClr val="6B6F8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5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61F"/>
        </a:solidFill>
      </p:bgPr>
    </p:bg>
    <p:spTree>
      <p:nvGrpSpPr>
        <p:cNvPr id="1" name=""/>
        <p:cNvGrpSpPr/>
        <p:nvPr/>
      </p:nvGrpSpPr>
      <p:grpSpPr>
        <a:xfrm>
          <a:off x="0" y="0"/>
          <a:ext cx="0" cy="0"/>
          <a:chOff x="0" y="0"/>
          <a:chExt cx="0" cy="0"/>
        </a:xfrm>
      </p:grpSpPr>
      <p:sp>
        <p:nvSpPr>
          <p:cNvPr id="2" name="Shape 0"/>
          <p:cNvSpPr/>
          <p:nvPr/>
        </p:nvSpPr>
        <p:spPr>
          <a:xfrm>
            <a:off x="8778240" y="-2194560"/>
            <a:ext cx="5486400" cy="5486400"/>
          </a:xfrm>
          <a:prstGeom prst="ellipse">
            <a:avLst/>
          </a:prstGeom>
          <a:solidFill>
            <a:srgbClr val="1B1E2C"/>
          </a:solidFill>
          <a:ln/>
        </p:spPr>
      </p:sp>
      <p:sp>
        <p:nvSpPr>
          <p:cNvPr id="3" name="Shape 1"/>
          <p:cNvSpPr/>
          <p:nvPr/>
        </p:nvSpPr>
        <p:spPr>
          <a:xfrm>
            <a:off x="9692640" y="-1463040"/>
            <a:ext cx="3291840" cy="3291840"/>
          </a:xfrm>
          <a:prstGeom prst="ellipse">
            <a:avLst/>
          </a:prstGeom>
          <a:solidFill>
            <a:srgbClr val="241A16"/>
          </a:solidFill>
          <a:ln/>
        </p:spPr>
      </p:sp>
      <p:sp>
        <p:nvSpPr>
          <p:cNvPr id="4" name="Text 2"/>
          <p:cNvSpPr/>
          <p:nvPr/>
        </p:nvSpPr>
        <p:spPr>
          <a:xfrm>
            <a:off x="822960" y="1325880"/>
            <a:ext cx="8229600" cy="365760"/>
          </a:xfrm>
          <a:prstGeom prst="rect">
            <a:avLst/>
          </a:prstGeom>
          <a:noFill/>
          <a:ln/>
        </p:spPr>
        <p:txBody>
          <a:bodyPr wrap="square" lIns="0" tIns="0" rIns="0" bIns="0" rtlCol="0" anchor="ctr"/>
          <a:lstStyle/>
          <a:p>
            <a:pPr indent="0" marL="0">
              <a:buNone/>
            </a:pPr>
            <a:r>
              <a:rPr lang="en-US" sz="1300" b="1" spc="300" kern="0" dirty="0">
                <a:solidFill>
                  <a:srgbClr val="E8B84B"/>
                </a:solidFill>
                <a:latin typeface="Calibri" pitchFamily="34" charset="0"/>
                <a:ea typeface="Calibri" pitchFamily="34" charset="-122"/>
                <a:cs typeface="Calibri" pitchFamily="34" charset="-120"/>
              </a:rPr>
              <a:t>NEXON KOREA · MARKETING ANALYTICS REPORT</a:t>
            </a:r>
            <a:endParaRPr lang="en-US" sz="1300" dirty="0"/>
          </a:p>
        </p:txBody>
      </p:sp>
      <p:sp>
        <p:nvSpPr>
          <p:cNvPr id="5" name="Text 3"/>
          <p:cNvSpPr/>
          <p:nvPr/>
        </p:nvSpPr>
        <p:spPr>
          <a:xfrm>
            <a:off x="777240" y="1783080"/>
            <a:ext cx="10698480" cy="13716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메이플스토리M UA·마케팅 효율 분석</a:t>
            </a:r>
            <a:endParaRPr lang="en-US" sz="4000" dirty="0"/>
          </a:p>
        </p:txBody>
      </p:sp>
      <p:sp>
        <p:nvSpPr>
          <p:cNvPr id="6" name="Text 4"/>
          <p:cNvSpPr/>
          <p:nvPr/>
        </p:nvSpPr>
        <p:spPr>
          <a:xfrm>
            <a:off x="822960" y="2697480"/>
            <a:ext cx="10058400" cy="457200"/>
          </a:xfrm>
          <a:prstGeom prst="rect">
            <a:avLst/>
          </a:prstGeom>
          <a:noFill/>
          <a:ln/>
        </p:spPr>
        <p:txBody>
          <a:bodyPr wrap="square" lIns="0" tIns="0" rIns="0" bIns="0" rtlCol="0" anchor="ctr"/>
          <a:lstStyle/>
          <a:p>
            <a:pPr indent="0" marL="0">
              <a:buNone/>
            </a:pPr>
            <a:r>
              <a:rPr lang="en-US" sz="1650" b="1" dirty="0">
                <a:solidFill>
                  <a:srgbClr val="F0692B"/>
                </a:solidFill>
                <a:latin typeface="Calibri" pitchFamily="34" charset="0"/>
                <a:ea typeface="Calibri" pitchFamily="34" charset="-122"/>
                <a:cs typeface="Calibri" pitchFamily="34" charset="-120"/>
              </a:rPr>
              <a:t>광고선전비 공시자료 기반 UA 효율 지표 정의 · 대시보드 연동용 보고서</a:t>
            </a:r>
            <a:endParaRPr lang="en-US" sz="1650" dirty="0"/>
          </a:p>
        </p:txBody>
      </p:sp>
      <p:sp>
        <p:nvSpPr>
          <p:cNvPr id="7" name="Text 5"/>
          <p:cNvSpPr/>
          <p:nvPr/>
        </p:nvSpPr>
        <p:spPr>
          <a:xfrm>
            <a:off x="822960" y="3154680"/>
            <a:ext cx="10058400" cy="457200"/>
          </a:xfrm>
          <a:prstGeom prst="rect">
            <a:avLst/>
          </a:prstGeom>
          <a:noFill/>
          <a:ln/>
        </p:spPr>
        <p:txBody>
          <a:bodyPr wrap="square" lIns="0" tIns="0" rIns="0" bIns="0" rtlCol="0" anchor="ctr"/>
          <a:lstStyle/>
          <a:p>
            <a:pPr indent="0" marL="0">
              <a:buNone/>
            </a:pPr>
            <a:r>
              <a:rPr lang="en-US" sz="1400" dirty="0">
                <a:solidFill>
                  <a:srgbClr val="C7CADA"/>
                </a:solidFill>
                <a:latin typeface="Calibri" pitchFamily="34" charset="0"/>
                <a:ea typeface="Calibri" pitchFamily="34" charset="-122"/>
                <a:cs typeface="Calibri" pitchFamily="34" charset="-120"/>
              </a:rPr>
              <a:t>자사(넥슨코리아·마비노기모바일) · 타사(펄어비스·검은사막모바일, 엔씨소프트/엔씨·아이온2) 4사 비교</a:t>
            </a:r>
            <a:endParaRPr lang="en-US" sz="1400" dirty="0"/>
          </a:p>
        </p:txBody>
      </p:sp>
      <p:sp>
        <p:nvSpPr>
          <p:cNvPr id="8" name="Text 6"/>
          <p:cNvSpPr/>
          <p:nvPr/>
        </p:nvSpPr>
        <p:spPr>
          <a:xfrm>
            <a:off x="822960" y="4160520"/>
            <a:ext cx="3566160" cy="274320"/>
          </a:xfrm>
          <a:prstGeom prst="rect">
            <a:avLst/>
          </a:prstGeom>
          <a:noFill/>
          <a:ln/>
        </p:spPr>
        <p:txBody>
          <a:bodyPr wrap="square" lIns="0" tIns="0" rIns="0" bIns="0" rtlCol="0" anchor="ctr"/>
          <a:lstStyle/>
          <a:p>
            <a:pPr indent="0" marL="0">
              <a:buNone/>
            </a:pPr>
            <a:r>
              <a:rPr lang="en-US" sz="1050" b="1" spc="100" kern="0" dirty="0">
                <a:solidFill>
                  <a:srgbClr val="8B8FA3"/>
                </a:solidFill>
                <a:latin typeface="Calibri" pitchFamily="34" charset="0"/>
                <a:ea typeface="Calibri" pitchFamily="34" charset="-122"/>
                <a:cs typeface="Calibri" pitchFamily="34" charset="-120"/>
              </a:rPr>
              <a:t>분석 기간</a:t>
            </a:r>
            <a:endParaRPr lang="en-US" sz="1050" dirty="0"/>
          </a:p>
        </p:txBody>
      </p:sp>
      <p:sp>
        <p:nvSpPr>
          <p:cNvPr id="9" name="Text 7"/>
          <p:cNvSpPr/>
          <p:nvPr/>
        </p:nvSpPr>
        <p:spPr>
          <a:xfrm>
            <a:off x="822960" y="4434840"/>
            <a:ext cx="3566160" cy="502920"/>
          </a:xfrm>
          <a:prstGeom prst="rect">
            <a:avLst/>
          </a:prstGeom>
          <a:noFill/>
          <a:ln/>
        </p:spPr>
        <p:txBody>
          <a:bodyPr wrap="square" lIns="0" tIns="0" rIns="0" bIns="0" rtlCol="0" anchor="ctr"/>
          <a:lstStyle/>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FY2024~2025 연간 · 2026 상반기 (광고비) / 2025.11~2026.08 (순위)</a:t>
            </a:r>
            <a:endParaRPr lang="en-US" sz="1150" dirty="0"/>
          </a:p>
        </p:txBody>
      </p:sp>
      <p:sp>
        <p:nvSpPr>
          <p:cNvPr id="10" name="Text 8"/>
          <p:cNvSpPr/>
          <p:nvPr/>
        </p:nvSpPr>
        <p:spPr>
          <a:xfrm>
            <a:off x="4480560" y="4160520"/>
            <a:ext cx="3566160" cy="274320"/>
          </a:xfrm>
          <a:prstGeom prst="rect">
            <a:avLst/>
          </a:prstGeom>
          <a:noFill/>
          <a:ln/>
        </p:spPr>
        <p:txBody>
          <a:bodyPr wrap="square" lIns="0" tIns="0" rIns="0" bIns="0" rtlCol="0" anchor="ctr"/>
          <a:lstStyle/>
          <a:p>
            <a:pPr indent="0" marL="0">
              <a:buNone/>
            </a:pPr>
            <a:r>
              <a:rPr lang="en-US" sz="1050" b="1" spc="100" kern="0" dirty="0">
                <a:solidFill>
                  <a:srgbClr val="8B8FA3"/>
                </a:solidFill>
                <a:latin typeface="Calibri" pitchFamily="34" charset="0"/>
                <a:ea typeface="Calibri" pitchFamily="34" charset="-122"/>
                <a:cs typeface="Calibri" pitchFamily="34" charset="-120"/>
              </a:rPr>
              <a:t>작성</a:t>
            </a:r>
            <a:endParaRPr lang="en-US" sz="1050" dirty="0"/>
          </a:p>
        </p:txBody>
      </p:sp>
      <p:sp>
        <p:nvSpPr>
          <p:cNvPr id="11" name="Text 9"/>
          <p:cNvSpPr/>
          <p:nvPr/>
        </p:nvSpPr>
        <p:spPr>
          <a:xfrm>
            <a:off x="4480560" y="4434840"/>
            <a:ext cx="3566160" cy="502920"/>
          </a:xfrm>
          <a:prstGeom prst="rect">
            <a:avLst/>
          </a:prstGeom>
          <a:noFill/>
          <a:ln/>
        </p:spPr>
        <p:txBody>
          <a:bodyPr wrap="square" lIns="0" tIns="0" rIns="0" bIns="0" rtlCol="0" anchor="ctr"/>
          <a:lstStyle/>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메이플스토리M 마케팅팀</a:t>
            </a:r>
            <a:endParaRPr lang="en-US" sz="1150" dirty="0"/>
          </a:p>
        </p:txBody>
      </p:sp>
      <p:sp>
        <p:nvSpPr>
          <p:cNvPr id="12" name="Text 10"/>
          <p:cNvSpPr/>
          <p:nvPr/>
        </p:nvSpPr>
        <p:spPr>
          <a:xfrm>
            <a:off x="8138160" y="4160520"/>
            <a:ext cx="3566160" cy="274320"/>
          </a:xfrm>
          <a:prstGeom prst="rect">
            <a:avLst/>
          </a:prstGeom>
          <a:noFill/>
          <a:ln/>
        </p:spPr>
        <p:txBody>
          <a:bodyPr wrap="square" lIns="0" tIns="0" rIns="0" bIns="0" rtlCol="0" anchor="ctr"/>
          <a:lstStyle/>
          <a:p>
            <a:pPr indent="0" marL="0">
              <a:buNone/>
            </a:pPr>
            <a:r>
              <a:rPr lang="en-US" sz="1050" b="1" spc="100" kern="0" dirty="0">
                <a:solidFill>
                  <a:srgbClr val="8B8FA3"/>
                </a:solidFill>
                <a:latin typeface="Calibri" pitchFamily="34" charset="0"/>
                <a:ea typeface="Calibri" pitchFamily="34" charset="-122"/>
                <a:cs typeface="Calibri" pitchFamily="34" charset="-120"/>
              </a:rPr>
              <a:t>기준일</a:t>
            </a:r>
            <a:endParaRPr lang="en-US" sz="1050" dirty="0"/>
          </a:p>
        </p:txBody>
      </p:sp>
      <p:sp>
        <p:nvSpPr>
          <p:cNvPr id="13" name="Text 11"/>
          <p:cNvSpPr/>
          <p:nvPr/>
        </p:nvSpPr>
        <p:spPr>
          <a:xfrm>
            <a:off x="8138160" y="4434840"/>
            <a:ext cx="3566160" cy="502920"/>
          </a:xfrm>
          <a:prstGeom prst="rect">
            <a:avLst/>
          </a:prstGeom>
          <a:noFill/>
          <a:ln/>
        </p:spPr>
        <p:txBody>
          <a:bodyPr wrap="square" lIns="0" tIns="0" rIns="0" bIns="0" rtlCol="0" anchor="ctr"/>
          <a:lstStyle/>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2026.08.26</a:t>
            </a:r>
            <a:endParaRPr lang="en-US" sz="1150" dirty="0"/>
          </a:p>
        </p:txBody>
      </p:sp>
      <p:sp>
        <p:nvSpPr>
          <p:cNvPr id="14" name="Shape 12"/>
          <p:cNvSpPr/>
          <p:nvPr/>
        </p:nvSpPr>
        <p:spPr>
          <a:xfrm>
            <a:off x="822960" y="5257800"/>
            <a:ext cx="10515600" cy="868680"/>
          </a:xfrm>
          <a:prstGeom prst="roundRect">
            <a:avLst>
              <a:gd name="adj" fmla="val 6316"/>
            </a:avLst>
          </a:prstGeom>
          <a:solidFill>
            <a:srgbClr val="1B1E2C"/>
          </a:solidFill>
          <a:ln/>
        </p:spPr>
      </p:sp>
      <p:sp>
        <p:nvSpPr>
          <p:cNvPr id="15" name="Text 13"/>
          <p:cNvSpPr/>
          <p:nvPr/>
        </p:nvSpPr>
        <p:spPr>
          <a:xfrm>
            <a:off x="1097280" y="5257800"/>
            <a:ext cx="10058400" cy="868680"/>
          </a:xfrm>
          <a:prstGeom prst="rect">
            <a:avLst/>
          </a:prstGeom>
          <a:noFill/>
          <a:ln/>
        </p:spPr>
        <p:txBody>
          <a:bodyPr wrap="square" lIns="0" tIns="0" rIns="0" bIns="0" rtlCol="0" anchor="ctr"/>
          <a:lstStyle/>
          <a:p>
            <a:pPr indent="0" marL="0">
              <a:buNone/>
            </a:pPr>
            <a:r>
              <a:rPr lang="en-US" sz="1200" dirty="0">
                <a:solidFill>
                  <a:srgbClr val="D3D5E0"/>
                </a:solidFill>
                <a:latin typeface="Calibri" pitchFamily="34" charset="0"/>
                <a:ea typeface="Calibri" pitchFamily="34" charset="-122"/>
                <a:cs typeface="Calibri" pitchFamily="34" charset="-120"/>
              </a:rPr>
              <a:t>이 보고서는 각 지표의 정의·산출식·데이터 출처를 명시하여, 추후 대시보드 타일로 그대로 연동할 수 있도록 구성했습니다.</a:t>
            </a:r>
            <a:endParaRPr lang="en-US" sz="1200" dirty="0"/>
          </a:p>
        </p:txBody>
      </p:sp>
      <p:sp>
        <p:nvSpPr>
          <p:cNvPr id="16" name="Text 14"/>
          <p:cNvSpPr/>
          <p:nvPr/>
        </p:nvSpPr>
        <p:spPr>
          <a:xfrm>
            <a:off x="11365992" y="6446520"/>
            <a:ext cx="548640" cy="274320"/>
          </a:xfrm>
          <a:prstGeom prst="rect">
            <a:avLst/>
          </a:prstGeom>
          <a:noFill/>
          <a:ln/>
        </p:spPr>
        <p:txBody>
          <a:bodyPr wrap="square" lIns="0" tIns="0" rIns="0" bIns="0" rtlCol="0" anchor="ctr"/>
          <a:lstStyle/>
          <a:p>
            <a:pPr algn="r" indent="0" marL="0">
              <a:buNone/>
            </a:pPr>
            <a:r>
              <a:rPr lang="en-US" sz="900" dirty="0">
                <a:solidFill>
                  <a:srgbClr val="6A6E80"/>
                </a:solidFill>
                <a:latin typeface="Calibri" pitchFamily="34" charset="0"/>
                <a:ea typeface="Calibri" pitchFamily="34" charset="-122"/>
                <a:cs typeface="Calibri"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lIns="0" tIns="0" rIns="0" bIns="0" rtlCol="0" anchor="ctr"/>
          <a:lstStyle/>
          <a:p>
            <a:pPr indent="0" marL="0">
              <a:buNone/>
            </a:pPr>
            <a:r>
              <a:rPr lang="en-US" sz="1250" b="1" spc="200" kern="0" dirty="0">
                <a:solidFill>
                  <a:srgbClr val="F0692B"/>
                </a:solidFill>
                <a:latin typeface="Calibri" pitchFamily="34" charset="0"/>
                <a:ea typeface="Calibri" pitchFamily="34" charset="-122"/>
                <a:cs typeface="Calibri" pitchFamily="34" charset="-120"/>
              </a:rPr>
              <a:t>EXECUTIVE SUMMARY</a:t>
            </a:r>
            <a:endParaRPr lang="en-US" sz="1250" dirty="0"/>
          </a:p>
        </p:txBody>
      </p:sp>
      <p:sp>
        <p:nvSpPr>
          <p:cNvPr id="3" name="Text 1"/>
          <p:cNvSpPr/>
          <p:nvPr/>
        </p:nvSpPr>
        <p:spPr>
          <a:xfrm>
            <a:off x="548640" y="749808"/>
            <a:ext cx="10789920" cy="640080"/>
          </a:xfrm>
          <a:prstGeom prst="rect">
            <a:avLst/>
          </a:prstGeom>
          <a:noFill/>
          <a:ln/>
        </p:spPr>
        <p:txBody>
          <a:bodyPr wrap="square" lIns="0" tIns="0" rIns="0" bIns="0" rtlCol="0" anchor="ctr"/>
          <a:lstStyle/>
          <a:p>
            <a:pPr indent="0" marL="0">
              <a:buNone/>
            </a:pPr>
            <a:r>
              <a:rPr lang="en-US" sz="2800" b="1" dirty="0">
                <a:solidFill>
                  <a:srgbClr val="1C1E29"/>
                </a:solidFill>
                <a:latin typeface="Cambria" pitchFamily="34" charset="0"/>
                <a:ea typeface="Cambria" pitchFamily="34" charset="-122"/>
                <a:cs typeface="Cambria" pitchFamily="34" charset="-120"/>
              </a:rPr>
              <a:t>핵심 요약</a:t>
            </a:r>
            <a:endParaRPr lang="en-US" sz="2800" dirty="0"/>
          </a:p>
        </p:txBody>
      </p:sp>
      <p:sp>
        <p:nvSpPr>
          <p:cNvPr id="4" name="Text 2"/>
          <p:cNvSpPr/>
          <p:nvPr/>
        </p:nvSpPr>
        <p:spPr>
          <a:xfrm>
            <a:off x="548640" y="6400800"/>
            <a:ext cx="10332720" cy="274320"/>
          </a:xfrm>
          <a:prstGeom prst="rect">
            <a:avLst/>
          </a:prstGeom>
          <a:noFill/>
          <a:ln/>
        </p:spPr>
        <p:txBody>
          <a:bodyPr wrap="square" lIns="0" tIns="0" rIns="0" bIns="0" rtlCol="0" anchor="ctr"/>
          <a:lstStyle/>
          <a:p>
            <a:pPr indent="0" marL="0">
              <a:buNone/>
            </a:pPr>
            <a:r>
              <a:rPr lang="en-US" sz="900" dirty="0">
                <a:solidFill>
                  <a:srgbClr val="9A9DAC"/>
                </a:solidFill>
                <a:latin typeface="Calibri" pitchFamily="34" charset="0"/>
                <a:ea typeface="Calibri" pitchFamily="34" charset="-122"/>
                <a:cs typeface="Calibri" pitchFamily="34" charset="-120"/>
              </a:rPr>
              <a:t>출처: DART 사업보고서·반기보고서·감사보고서, mobileindex.com, Meta Ads Library, 4사 이벤트 타임라인 비교 보고서</a:t>
            </a:r>
            <a:endParaRPr lang="en-US" sz="900" dirty="0"/>
          </a:p>
        </p:txBody>
      </p:sp>
      <p:sp>
        <p:nvSpPr>
          <p:cNvPr id="5" name="Text 3"/>
          <p:cNvSpPr/>
          <p:nvPr/>
        </p:nvSpPr>
        <p:spPr>
          <a:xfrm>
            <a:off x="11365992" y="6446520"/>
            <a:ext cx="548640" cy="274320"/>
          </a:xfrm>
          <a:prstGeom prst="rect">
            <a:avLst/>
          </a:prstGeom>
          <a:noFill/>
          <a:ln/>
        </p:spPr>
        <p:txBody>
          <a:bodyPr wrap="square" lIns="0" tIns="0" rIns="0" bIns="0" rtlCol="0" anchor="ctr"/>
          <a:lstStyle/>
          <a:p>
            <a:pPr algn="r" indent="0" marL="0">
              <a:buNone/>
            </a:pPr>
            <a:r>
              <a:rPr lang="en-US" sz="900" dirty="0">
                <a:solidFill>
                  <a:srgbClr val="A8ABB8"/>
                </a:solidFill>
                <a:latin typeface="Calibri" pitchFamily="34" charset="0"/>
                <a:ea typeface="Calibri" pitchFamily="34" charset="-122"/>
                <a:cs typeface="Calibri" pitchFamily="34" charset="-120"/>
              </a:rPr>
              <a:t>02</a:t>
            </a:r>
            <a:endParaRPr lang="en-US" sz="900" dirty="0"/>
          </a:p>
        </p:txBody>
      </p:sp>
      <p:sp>
        <p:nvSpPr>
          <p:cNvPr id="6" name="Shape 4"/>
          <p:cNvSpPr/>
          <p:nvPr/>
        </p:nvSpPr>
        <p:spPr>
          <a:xfrm>
            <a:off x="548640" y="1645920"/>
            <a:ext cx="2651760" cy="4206240"/>
          </a:xfrm>
          <a:prstGeom prst="roundRect">
            <a:avLst>
              <a:gd name="adj" fmla="val 2759"/>
            </a:avLst>
          </a:prstGeom>
          <a:solidFill>
            <a:srgbClr val="F7F7F9"/>
          </a:solidFill>
          <a:ln w="12700">
            <a:solidFill>
              <a:srgbClr val="EBEBF0"/>
            </a:solidFill>
            <a:prstDash val="solid"/>
          </a:ln>
        </p:spPr>
      </p:sp>
      <p:sp>
        <p:nvSpPr>
          <p:cNvPr id="7" name="Shape 5"/>
          <p:cNvSpPr/>
          <p:nvPr/>
        </p:nvSpPr>
        <p:spPr>
          <a:xfrm>
            <a:off x="804672" y="1920240"/>
            <a:ext cx="685800" cy="685800"/>
          </a:xfrm>
          <a:prstGeom prst="roundRect">
            <a:avLst>
              <a:gd name="adj" fmla="val 13333"/>
            </a:avLst>
          </a:prstGeom>
          <a:solidFill>
            <a:srgbClr val="F0692B"/>
          </a:solidFill>
          <a:ln/>
        </p:spPr>
      </p:sp>
      <p:sp>
        <p:nvSpPr>
          <p:cNvPr id="8" name="Text 6"/>
          <p:cNvSpPr/>
          <p:nvPr/>
        </p:nvSpPr>
        <p:spPr>
          <a:xfrm>
            <a:off x="804672" y="1920240"/>
            <a:ext cx="685800" cy="685800"/>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01</a:t>
            </a:r>
            <a:endParaRPr lang="en-US" sz="2100" dirty="0"/>
          </a:p>
        </p:txBody>
      </p:sp>
      <p:sp>
        <p:nvSpPr>
          <p:cNvPr id="9" name="Text 7"/>
          <p:cNvSpPr/>
          <p:nvPr/>
        </p:nvSpPr>
        <p:spPr>
          <a:xfrm>
            <a:off x="804672" y="2743200"/>
            <a:ext cx="2139696" cy="960120"/>
          </a:xfrm>
          <a:prstGeom prst="rect">
            <a:avLst/>
          </a:prstGeom>
          <a:noFill/>
          <a:ln/>
        </p:spPr>
        <p:txBody>
          <a:bodyPr wrap="square" lIns="0" tIns="0" rIns="0" bIns="0" rtlCol="0" anchor="ctr"/>
          <a:lstStyle/>
          <a:p>
            <a:pPr indent="0" marL="0">
              <a:lnSpc>
                <a:spcPct val="112000"/>
              </a:lnSpc>
              <a:buNone/>
            </a:pPr>
            <a:r>
              <a:rPr lang="en-US" sz="1450" b="1" dirty="0">
                <a:solidFill>
                  <a:srgbClr val="1C1E29"/>
                </a:solidFill>
                <a:latin typeface="Cambria" pitchFamily="34" charset="0"/>
                <a:ea typeface="Cambria" pitchFamily="34" charset="-122"/>
                <a:cs typeface="Cambria" pitchFamily="34" charset="-120"/>
              </a:rPr>
              <a:t>업데이트가 곧 순위다</a:t>
            </a:r>
            <a:endParaRPr lang="en-US" sz="1450" dirty="0"/>
          </a:p>
        </p:txBody>
      </p:sp>
      <p:sp>
        <p:nvSpPr>
          <p:cNvPr id="10" name="Text 8"/>
          <p:cNvSpPr/>
          <p:nvPr/>
        </p:nvSpPr>
        <p:spPr>
          <a:xfrm>
            <a:off x="804672" y="3749040"/>
            <a:ext cx="2139696" cy="1828800"/>
          </a:xfrm>
          <a:prstGeom prst="rect">
            <a:avLst/>
          </a:prstGeom>
          <a:noFill/>
          <a:ln/>
        </p:spPr>
        <p:txBody>
          <a:bodyPr wrap="square" lIns="0" tIns="0" rIns="0" bIns="0" rtlCol="0" anchor="ctr"/>
          <a:lstStyle/>
          <a:p>
            <a:pPr indent="0" marL="0">
              <a:lnSpc>
                <a:spcPct val="125000"/>
              </a:lnSpc>
              <a:buNone/>
            </a:pPr>
            <a:r>
              <a:rPr lang="en-US" sz="1080" dirty="0">
                <a:solidFill>
                  <a:srgbClr val="444858"/>
                </a:solidFill>
                <a:latin typeface="Calibri" pitchFamily="34" charset="0"/>
                <a:ea typeface="Calibri" pitchFamily="34" charset="-122"/>
                <a:cs typeface="Calibri" pitchFamily="34" charset="-120"/>
              </a:rPr>
              <a:t>7/31 RE:BOOST 이후 매출순위 87→21위 급등, 그러나 후속 업데이트 부재로 8월 재하락 조짐.</a:t>
            </a:r>
            <a:endParaRPr lang="en-US" sz="1080" dirty="0"/>
          </a:p>
        </p:txBody>
      </p:sp>
      <p:sp>
        <p:nvSpPr>
          <p:cNvPr id="11" name="Shape 9"/>
          <p:cNvSpPr/>
          <p:nvPr/>
        </p:nvSpPr>
        <p:spPr>
          <a:xfrm>
            <a:off x="3383280" y="1645920"/>
            <a:ext cx="2651760" cy="4206240"/>
          </a:xfrm>
          <a:prstGeom prst="roundRect">
            <a:avLst>
              <a:gd name="adj" fmla="val 2759"/>
            </a:avLst>
          </a:prstGeom>
          <a:solidFill>
            <a:srgbClr val="F7F7F9"/>
          </a:solidFill>
          <a:ln w="12700">
            <a:solidFill>
              <a:srgbClr val="EBEBF0"/>
            </a:solidFill>
            <a:prstDash val="solid"/>
          </a:ln>
        </p:spPr>
      </p:sp>
      <p:sp>
        <p:nvSpPr>
          <p:cNvPr id="12" name="Shape 10"/>
          <p:cNvSpPr/>
          <p:nvPr/>
        </p:nvSpPr>
        <p:spPr>
          <a:xfrm>
            <a:off x="3639312" y="1920240"/>
            <a:ext cx="685800" cy="685800"/>
          </a:xfrm>
          <a:prstGeom prst="roundRect">
            <a:avLst>
              <a:gd name="adj" fmla="val 13333"/>
            </a:avLst>
          </a:prstGeom>
          <a:solidFill>
            <a:srgbClr val="2FA89A"/>
          </a:solidFill>
          <a:ln/>
        </p:spPr>
      </p:sp>
      <p:sp>
        <p:nvSpPr>
          <p:cNvPr id="13" name="Text 11"/>
          <p:cNvSpPr/>
          <p:nvPr/>
        </p:nvSpPr>
        <p:spPr>
          <a:xfrm>
            <a:off x="3639312" y="1920240"/>
            <a:ext cx="685800" cy="685800"/>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02</a:t>
            </a:r>
            <a:endParaRPr lang="en-US" sz="2100" dirty="0"/>
          </a:p>
        </p:txBody>
      </p:sp>
      <p:sp>
        <p:nvSpPr>
          <p:cNvPr id="14" name="Text 12"/>
          <p:cNvSpPr/>
          <p:nvPr/>
        </p:nvSpPr>
        <p:spPr>
          <a:xfrm>
            <a:off x="3639312" y="2743200"/>
            <a:ext cx="2139696" cy="960120"/>
          </a:xfrm>
          <a:prstGeom prst="rect">
            <a:avLst/>
          </a:prstGeom>
          <a:noFill/>
          <a:ln/>
        </p:spPr>
        <p:txBody>
          <a:bodyPr wrap="square" lIns="0" tIns="0" rIns="0" bIns="0" rtlCol="0" anchor="ctr"/>
          <a:lstStyle/>
          <a:p>
            <a:pPr indent="0" marL="0">
              <a:lnSpc>
                <a:spcPct val="112000"/>
              </a:lnSpc>
              <a:buNone/>
            </a:pPr>
            <a:r>
              <a:rPr lang="en-US" sz="1450" b="1" dirty="0">
                <a:solidFill>
                  <a:srgbClr val="1C1E29"/>
                </a:solidFill>
                <a:latin typeface="Cambria" pitchFamily="34" charset="0"/>
                <a:ea typeface="Cambria" pitchFamily="34" charset="-122"/>
                <a:cs typeface="Cambria" pitchFamily="34" charset="-120"/>
              </a:rPr>
              <a:t>공백의 대가는 재무제표에 찍힌다</a:t>
            </a:r>
            <a:endParaRPr lang="en-US" sz="1450" dirty="0"/>
          </a:p>
        </p:txBody>
      </p:sp>
      <p:sp>
        <p:nvSpPr>
          <p:cNvPr id="15" name="Text 13"/>
          <p:cNvSpPr/>
          <p:nvPr/>
        </p:nvSpPr>
        <p:spPr>
          <a:xfrm>
            <a:off x="3639312" y="3749040"/>
            <a:ext cx="2139696" cy="1828800"/>
          </a:xfrm>
          <a:prstGeom prst="rect">
            <a:avLst/>
          </a:prstGeom>
          <a:noFill/>
          <a:ln/>
        </p:spPr>
        <p:txBody>
          <a:bodyPr wrap="square" lIns="0" tIns="0" rIns="0" bIns="0" rtlCol="0" anchor="ctr"/>
          <a:lstStyle/>
          <a:p>
            <a:pPr indent="0" marL="0">
              <a:lnSpc>
                <a:spcPct val="125000"/>
              </a:lnSpc>
              <a:buNone/>
            </a:pPr>
            <a:r>
              <a:rPr lang="en-US" sz="1080" dirty="0">
                <a:solidFill>
                  <a:srgbClr val="444858"/>
                </a:solidFill>
                <a:latin typeface="Calibri" pitchFamily="34" charset="0"/>
                <a:ea typeface="Calibri" pitchFamily="34" charset="-122"/>
                <a:cs typeface="Calibri" pitchFamily="34" charset="-120"/>
              </a:rPr>
              <a:t>마비노기모바일 4월 공백 → 개발사 매출 -31%·흑자→적자. 6월 업데이트로 순위 반등.</a:t>
            </a:r>
            <a:endParaRPr lang="en-US" sz="1080" dirty="0"/>
          </a:p>
        </p:txBody>
      </p:sp>
      <p:sp>
        <p:nvSpPr>
          <p:cNvPr id="16" name="Shape 14"/>
          <p:cNvSpPr/>
          <p:nvPr/>
        </p:nvSpPr>
        <p:spPr>
          <a:xfrm>
            <a:off x="6217920" y="1645920"/>
            <a:ext cx="2651760" cy="4206240"/>
          </a:xfrm>
          <a:prstGeom prst="roundRect">
            <a:avLst>
              <a:gd name="adj" fmla="val 2759"/>
            </a:avLst>
          </a:prstGeom>
          <a:solidFill>
            <a:srgbClr val="F7F7F9"/>
          </a:solidFill>
          <a:ln w="12700">
            <a:solidFill>
              <a:srgbClr val="EBEBF0"/>
            </a:solidFill>
            <a:prstDash val="solid"/>
          </a:ln>
        </p:spPr>
      </p:sp>
      <p:sp>
        <p:nvSpPr>
          <p:cNvPr id="17" name="Shape 15"/>
          <p:cNvSpPr/>
          <p:nvPr/>
        </p:nvSpPr>
        <p:spPr>
          <a:xfrm>
            <a:off x="6473952" y="1920240"/>
            <a:ext cx="685800" cy="685800"/>
          </a:xfrm>
          <a:prstGeom prst="roundRect">
            <a:avLst>
              <a:gd name="adj" fmla="val 13333"/>
            </a:avLst>
          </a:prstGeom>
          <a:solidFill>
            <a:srgbClr val="6B4FA0"/>
          </a:solidFill>
          <a:ln/>
        </p:spPr>
      </p:sp>
      <p:sp>
        <p:nvSpPr>
          <p:cNvPr id="18" name="Text 16"/>
          <p:cNvSpPr/>
          <p:nvPr/>
        </p:nvSpPr>
        <p:spPr>
          <a:xfrm>
            <a:off x="6473952" y="1920240"/>
            <a:ext cx="685800" cy="685800"/>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03</a:t>
            </a:r>
            <a:endParaRPr lang="en-US" sz="2100" dirty="0"/>
          </a:p>
        </p:txBody>
      </p:sp>
      <p:sp>
        <p:nvSpPr>
          <p:cNvPr id="19" name="Text 17"/>
          <p:cNvSpPr/>
          <p:nvPr/>
        </p:nvSpPr>
        <p:spPr>
          <a:xfrm>
            <a:off x="6473952" y="2743200"/>
            <a:ext cx="2139696" cy="960120"/>
          </a:xfrm>
          <a:prstGeom prst="rect">
            <a:avLst/>
          </a:prstGeom>
          <a:noFill/>
          <a:ln/>
        </p:spPr>
        <p:txBody>
          <a:bodyPr wrap="square" lIns="0" tIns="0" rIns="0" bIns="0" rtlCol="0" anchor="ctr"/>
          <a:lstStyle/>
          <a:p>
            <a:pPr indent="0" marL="0">
              <a:lnSpc>
                <a:spcPct val="112000"/>
              </a:lnSpc>
              <a:buNone/>
            </a:pPr>
            <a:r>
              <a:rPr lang="en-US" sz="1450" b="1" dirty="0">
                <a:solidFill>
                  <a:srgbClr val="1C1E29"/>
                </a:solidFill>
                <a:latin typeface="Cambria" pitchFamily="34" charset="0"/>
                <a:ea typeface="Cambria" pitchFamily="34" charset="-122"/>
                <a:cs typeface="Cambria" pitchFamily="34" charset="-120"/>
              </a:rPr>
              <a:t>지출보다 리듬이 이긴다</a:t>
            </a:r>
            <a:endParaRPr lang="en-US" sz="1450" dirty="0"/>
          </a:p>
        </p:txBody>
      </p:sp>
      <p:sp>
        <p:nvSpPr>
          <p:cNvPr id="20" name="Text 18"/>
          <p:cNvSpPr/>
          <p:nvPr/>
        </p:nvSpPr>
        <p:spPr>
          <a:xfrm>
            <a:off x="6473952" y="3749040"/>
            <a:ext cx="2139696" cy="1828800"/>
          </a:xfrm>
          <a:prstGeom prst="rect">
            <a:avLst/>
          </a:prstGeom>
          <a:noFill/>
          <a:ln/>
        </p:spPr>
        <p:txBody>
          <a:bodyPr wrap="square" lIns="0" tIns="0" rIns="0" bIns="0" rtlCol="0" anchor="ctr"/>
          <a:lstStyle/>
          <a:p>
            <a:pPr indent="0" marL="0">
              <a:lnSpc>
                <a:spcPct val="125000"/>
              </a:lnSpc>
              <a:buNone/>
            </a:pPr>
            <a:r>
              <a:rPr lang="en-US" sz="1080" dirty="0">
                <a:solidFill>
                  <a:srgbClr val="444858"/>
                </a:solidFill>
                <a:latin typeface="Calibri" pitchFamily="34" charset="0"/>
                <a:ea typeface="Calibri" pitchFamily="34" charset="-122"/>
                <a:cs typeface="Calibri" pitchFamily="34" charset="-120"/>
              </a:rPr>
              <a:t>NC(아이온2)는 광고선전비를 -38.2%(별도) 줄이고도 실적 개선 — 4사 중 마케팅 효율 최상위.</a:t>
            </a:r>
            <a:endParaRPr lang="en-US" sz="1080" dirty="0"/>
          </a:p>
        </p:txBody>
      </p:sp>
      <p:sp>
        <p:nvSpPr>
          <p:cNvPr id="21" name="Shape 19"/>
          <p:cNvSpPr/>
          <p:nvPr/>
        </p:nvSpPr>
        <p:spPr>
          <a:xfrm>
            <a:off x="9052560" y="1645920"/>
            <a:ext cx="2651760" cy="4206240"/>
          </a:xfrm>
          <a:prstGeom prst="roundRect">
            <a:avLst>
              <a:gd name="adj" fmla="val 2759"/>
            </a:avLst>
          </a:prstGeom>
          <a:solidFill>
            <a:srgbClr val="F7F7F9"/>
          </a:solidFill>
          <a:ln w="12700">
            <a:solidFill>
              <a:srgbClr val="EBEBF0"/>
            </a:solidFill>
            <a:prstDash val="solid"/>
          </a:ln>
        </p:spPr>
      </p:sp>
      <p:sp>
        <p:nvSpPr>
          <p:cNvPr id="22" name="Shape 20"/>
          <p:cNvSpPr/>
          <p:nvPr/>
        </p:nvSpPr>
        <p:spPr>
          <a:xfrm>
            <a:off x="9308592" y="1920240"/>
            <a:ext cx="685800" cy="685800"/>
          </a:xfrm>
          <a:prstGeom prst="roundRect">
            <a:avLst>
              <a:gd name="adj" fmla="val 13333"/>
            </a:avLst>
          </a:prstGeom>
          <a:solidFill>
            <a:srgbClr val="E8B84B"/>
          </a:solidFill>
          <a:ln/>
        </p:spPr>
      </p:sp>
      <p:sp>
        <p:nvSpPr>
          <p:cNvPr id="23" name="Text 21"/>
          <p:cNvSpPr/>
          <p:nvPr/>
        </p:nvSpPr>
        <p:spPr>
          <a:xfrm>
            <a:off x="9308592" y="1920240"/>
            <a:ext cx="685800" cy="685800"/>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04</a:t>
            </a:r>
            <a:endParaRPr lang="en-US" sz="2100" dirty="0"/>
          </a:p>
        </p:txBody>
      </p:sp>
      <p:sp>
        <p:nvSpPr>
          <p:cNvPr id="24" name="Text 22"/>
          <p:cNvSpPr/>
          <p:nvPr/>
        </p:nvSpPr>
        <p:spPr>
          <a:xfrm>
            <a:off x="9308592" y="2743200"/>
            <a:ext cx="2139696" cy="960120"/>
          </a:xfrm>
          <a:prstGeom prst="rect">
            <a:avLst/>
          </a:prstGeom>
          <a:noFill/>
          <a:ln/>
        </p:spPr>
        <p:txBody>
          <a:bodyPr wrap="square" lIns="0" tIns="0" rIns="0" bIns="0" rtlCol="0" anchor="ctr"/>
          <a:lstStyle/>
          <a:p>
            <a:pPr indent="0" marL="0">
              <a:lnSpc>
                <a:spcPct val="112000"/>
              </a:lnSpc>
              <a:buNone/>
            </a:pPr>
            <a:r>
              <a:rPr lang="en-US" sz="1450" b="1" dirty="0">
                <a:solidFill>
                  <a:srgbClr val="1C1E29"/>
                </a:solidFill>
                <a:latin typeface="Cambria" pitchFamily="34" charset="0"/>
                <a:ea typeface="Cambria" pitchFamily="34" charset="-122"/>
                <a:cs typeface="Cambria" pitchFamily="34" charset="-120"/>
              </a:rPr>
              <a:t>실제 CPI는 존재하지 않는다</a:t>
            </a:r>
            <a:endParaRPr lang="en-US" sz="1450" dirty="0"/>
          </a:p>
        </p:txBody>
      </p:sp>
      <p:sp>
        <p:nvSpPr>
          <p:cNvPr id="25" name="Text 23"/>
          <p:cNvSpPr/>
          <p:nvPr/>
        </p:nvSpPr>
        <p:spPr>
          <a:xfrm>
            <a:off x="9308592" y="3749040"/>
            <a:ext cx="2139696" cy="1828800"/>
          </a:xfrm>
          <a:prstGeom prst="rect">
            <a:avLst/>
          </a:prstGeom>
          <a:noFill/>
          <a:ln/>
        </p:spPr>
        <p:txBody>
          <a:bodyPr wrap="square" lIns="0" tIns="0" rIns="0" bIns="0" rtlCol="0" anchor="ctr"/>
          <a:lstStyle/>
          <a:p>
            <a:pPr indent="0" marL="0">
              <a:lnSpc>
                <a:spcPct val="125000"/>
              </a:lnSpc>
              <a:buNone/>
            </a:pPr>
            <a:r>
              <a:rPr lang="en-US" sz="1080" dirty="0">
                <a:solidFill>
                  <a:srgbClr val="444858"/>
                </a:solidFill>
                <a:latin typeface="Calibri" pitchFamily="34" charset="0"/>
                <a:ea typeface="Calibri" pitchFamily="34" charset="-122"/>
                <a:cs typeface="Calibri" pitchFamily="34" charset="-120"/>
              </a:rPr>
              <a:t>타이틀별 설치수·집행액이 비공개라 원화 CPI는 산출 불가. 본 보고서는 대체 지표와 산출법을 투명하게 제시.</a:t>
            </a:r>
            <a:endParaRPr lang="en-US" sz="10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lIns="0" tIns="0" rIns="0" bIns="0" rtlCol="0" anchor="ctr"/>
          <a:lstStyle/>
          <a:p>
            <a:pPr indent="0" marL="0">
              <a:buNone/>
            </a:pPr>
            <a:r>
              <a:rPr lang="en-US" sz="1250" b="1" spc="200" kern="0" dirty="0">
                <a:solidFill>
                  <a:srgbClr val="F0692B"/>
                </a:solidFill>
                <a:latin typeface="Calibri" pitchFamily="34" charset="0"/>
                <a:ea typeface="Calibri" pitchFamily="34" charset="-122"/>
                <a:cs typeface="Calibri" pitchFamily="34" charset="-120"/>
              </a:rPr>
              <a:t>AGENDA</a:t>
            </a:r>
            <a:endParaRPr lang="en-US" sz="1250" dirty="0"/>
          </a:p>
        </p:txBody>
      </p:sp>
      <p:sp>
        <p:nvSpPr>
          <p:cNvPr id="3" name="Text 1"/>
          <p:cNvSpPr/>
          <p:nvPr/>
        </p:nvSpPr>
        <p:spPr>
          <a:xfrm>
            <a:off x="548640" y="749808"/>
            <a:ext cx="10789920" cy="640080"/>
          </a:xfrm>
          <a:prstGeom prst="rect">
            <a:avLst/>
          </a:prstGeom>
          <a:noFill/>
          <a:ln/>
        </p:spPr>
        <p:txBody>
          <a:bodyPr wrap="square" lIns="0" tIns="0" rIns="0" bIns="0" rtlCol="0" anchor="ctr"/>
          <a:lstStyle/>
          <a:p>
            <a:pPr indent="0" marL="0">
              <a:buNone/>
            </a:pPr>
            <a:r>
              <a:rPr lang="en-US" sz="2800" b="1" dirty="0">
                <a:solidFill>
                  <a:srgbClr val="1C1E29"/>
                </a:solidFill>
                <a:latin typeface="Cambria" pitchFamily="34" charset="0"/>
                <a:ea typeface="Cambria" pitchFamily="34" charset="-122"/>
                <a:cs typeface="Cambria" pitchFamily="34" charset="-120"/>
              </a:rPr>
              <a:t>목차</a:t>
            </a:r>
            <a:endParaRPr lang="en-US" sz="2800" dirty="0"/>
          </a:p>
        </p:txBody>
      </p:sp>
      <p:sp>
        <p:nvSpPr>
          <p:cNvPr id="4" name="Text 2"/>
          <p:cNvSpPr/>
          <p:nvPr/>
        </p:nvSpPr>
        <p:spPr>
          <a:xfrm>
            <a:off x="11365992" y="6446520"/>
            <a:ext cx="548640" cy="274320"/>
          </a:xfrm>
          <a:prstGeom prst="rect">
            <a:avLst/>
          </a:prstGeom>
          <a:noFill/>
          <a:ln/>
        </p:spPr>
        <p:txBody>
          <a:bodyPr wrap="square" lIns="0" tIns="0" rIns="0" bIns="0" rtlCol="0" anchor="ctr"/>
          <a:lstStyle/>
          <a:p>
            <a:pPr algn="r" indent="0" marL="0">
              <a:buNone/>
            </a:pPr>
            <a:r>
              <a:rPr lang="en-US" sz="900" dirty="0">
                <a:solidFill>
                  <a:srgbClr val="A8ABB8"/>
                </a:solidFill>
                <a:latin typeface="Calibri" pitchFamily="34" charset="0"/>
                <a:ea typeface="Calibri" pitchFamily="34" charset="-122"/>
                <a:cs typeface="Calibri" pitchFamily="34" charset="-120"/>
              </a:rPr>
              <a:t>03</a:t>
            </a:r>
            <a:endParaRPr lang="en-US" sz="900" dirty="0"/>
          </a:p>
        </p:txBody>
      </p:sp>
      <p:sp>
        <p:nvSpPr>
          <p:cNvPr id="5" name="Text 3"/>
          <p:cNvSpPr/>
          <p:nvPr/>
        </p:nvSpPr>
        <p:spPr>
          <a:xfrm>
            <a:off x="640080" y="1554480"/>
            <a:ext cx="822960" cy="594360"/>
          </a:xfrm>
          <a:prstGeom prst="rect">
            <a:avLst/>
          </a:prstGeom>
          <a:noFill/>
          <a:ln/>
        </p:spPr>
        <p:txBody>
          <a:bodyPr wrap="square" lIns="0" tIns="0" rIns="0" bIns="0" rtlCol="0" anchor="ctr"/>
          <a:lstStyle/>
          <a:p>
            <a:pPr indent="0" marL="0">
              <a:buNone/>
            </a:pPr>
            <a:r>
              <a:rPr lang="en-US" sz="2200" b="1" dirty="0">
                <a:solidFill>
                  <a:srgbClr val="D8D9E0"/>
                </a:solidFill>
                <a:latin typeface="Cambria" pitchFamily="34" charset="0"/>
                <a:ea typeface="Cambria" pitchFamily="34" charset="-122"/>
                <a:cs typeface="Cambria" pitchFamily="34" charset="-120"/>
              </a:rPr>
              <a:t>00</a:t>
            </a:r>
            <a:endParaRPr lang="en-US" sz="2200" dirty="0"/>
          </a:p>
        </p:txBody>
      </p:sp>
      <p:sp>
        <p:nvSpPr>
          <p:cNvPr id="6" name="Text 4"/>
          <p:cNvSpPr/>
          <p:nvPr/>
        </p:nvSpPr>
        <p:spPr>
          <a:xfrm>
            <a:off x="1600200" y="1554480"/>
            <a:ext cx="3749040" cy="594360"/>
          </a:xfrm>
          <a:prstGeom prst="rect">
            <a:avLst/>
          </a:prstGeom>
          <a:noFill/>
          <a:ln/>
        </p:spPr>
        <p:txBody>
          <a:bodyPr wrap="square" lIns="0" tIns="0" rIns="0" bIns="0" rtlCol="0" anchor="ctr"/>
          <a:lstStyle/>
          <a:p>
            <a:pPr indent="0" marL="0">
              <a:buNone/>
            </a:pPr>
            <a:r>
              <a:rPr lang="en-US" sz="1500" b="1" dirty="0">
                <a:solidFill>
                  <a:srgbClr val="1C1E29"/>
                </a:solidFill>
                <a:latin typeface="Calibri" pitchFamily="34" charset="0"/>
                <a:ea typeface="Calibri" pitchFamily="34" charset="-122"/>
                <a:cs typeface="Calibri" pitchFamily="34" charset="-120"/>
              </a:rPr>
              <a:t>지표 정의</a:t>
            </a:r>
            <a:endParaRPr lang="en-US" sz="1500" dirty="0"/>
          </a:p>
        </p:txBody>
      </p:sp>
      <p:sp>
        <p:nvSpPr>
          <p:cNvPr id="7" name="Text 5"/>
          <p:cNvSpPr/>
          <p:nvPr/>
        </p:nvSpPr>
        <p:spPr>
          <a:xfrm>
            <a:off x="5486400" y="1554480"/>
            <a:ext cx="6035040" cy="594360"/>
          </a:xfrm>
          <a:prstGeom prst="rect">
            <a:avLst/>
          </a:prstGeom>
          <a:noFill/>
          <a:ln/>
        </p:spPr>
        <p:txBody>
          <a:bodyPr wrap="square" lIns="0" tIns="0" rIns="0" bIns="0" rtlCol="0" anchor="ctr"/>
          <a:lstStyle/>
          <a:p>
            <a:pPr indent="0" marL="0">
              <a:buNone/>
            </a:pPr>
            <a:r>
              <a:rPr lang="en-US" sz="1150" dirty="0">
                <a:solidFill>
                  <a:srgbClr val="6B6F80"/>
                </a:solidFill>
                <a:latin typeface="Calibri" pitchFamily="34" charset="0"/>
                <a:ea typeface="Calibri" pitchFamily="34" charset="-122"/>
                <a:cs typeface="Calibri" pitchFamily="34" charset="-120"/>
              </a:rPr>
              <a:t>실측 지표 vs 추정·프록시 지표 — 산출식과 한계를 먼저 규정</a:t>
            </a:r>
            <a:endParaRPr lang="en-US" sz="1150" dirty="0"/>
          </a:p>
        </p:txBody>
      </p:sp>
      <p:sp>
        <p:nvSpPr>
          <p:cNvPr id="8" name="Shape 6"/>
          <p:cNvSpPr/>
          <p:nvPr/>
        </p:nvSpPr>
        <p:spPr>
          <a:xfrm>
            <a:off x="640080" y="2185416"/>
            <a:ext cx="10881360" cy="0"/>
          </a:xfrm>
          <a:prstGeom prst="line">
            <a:avLst/>
          </a:prstGeom>
          <a:noFill/>
          <a:ln w="12700">
            <a:solidFill>
              <a:srgbClr val="E4E4EA"/>
            </a:solidFill>
            <a:prstDash val="solid"/>
          </a:ln>
        </p:spPr>
      </p:sp>
      <p:sp>
        <p:nvSpPr>
          <p:cNvPr id="9" name="Text 7"/>
          <p:cNvSpPr/>
          <p:nvPr/>
        </p:nvSpPr>
        <p:spPr>
          <a:xfrm>
            <a:off x="640080" y="2240280"/>
            <a:ext cx="822960" cy="594360"/>
          </a:xfrm>
          <a:prstGeom prst="rect">
            <a:avLst/>
          </a:prstGeom>
          <a:noFill/>
          <a:ln/>
        </p:spPr>
        <p:txBody>
          <a:bodyPr wrap="square" lIns="0" tIns="0" rIns="0" bIns="0" rtlCol="0" anchor="ctr"/>
          <a:lstStyle/>
          <a:p>
            <a:pPr indent="0" marL="0">
              <a:buNone/>
            </a:pPr>
            <a:r>
              <a:rPr lang="en-US" sz="2200" b="1" dirty="0">
                <a:solidFill>
                  <a:srgbClr val="D8D9E0"/>
                </a:solidFill>
                <a:latin typeface="Cambria" pitchFamily="34" charset="0"/>
                <a:ea typeface="Cambria" pitchFamily="34" charset="-122"/>
                <a:cs typeface="Cambria" pitchFamily="34" charset="-120"/>
              </a:rPr>
              <a:t>01</a:t>
            </a:r>
            <a:endParaRPr lang="en-US" sz="2200" dirty="0"/>
          </a:p>
        </p:txBody>
      </p:sp>
      <p:sp>
        <p:nvSpPr>
          <p:cNvPr id="10" name="Text 8"/>
          <p:cNvSpPr/>
          <p:nvPr/>
        </p:nvSpPr>
        <p:spPr>
          <a:xfrm>
            <a:off x="1600200" y="2240280"/>
            <a:ext cx="3749040" cy="594360"/>
          </a:xfrm>
          <a:prstGeom prst="rect">
            <a:avLst/>
          </a:prstGeom>
          <a:noFill/>
          <a:ln/>
        </p:spPr>
        <p:txBody>
          <a:bodyPr wrap="square" lIns="0" tIns="0" rIns="0" bIns="0" rtlCol="0" anchor="ctr"/>
          <a:lstStyle/>
          <a:p>
            <a:pPr indent="0" marL="0">
              <a:buNone/>
            </a:pPr>
            <a:r>
              <a:rPr lang="en-US" sz="1500" b="1" dirty="0">
                <a:solidFill>
                  <a:srgbClr val="1C1E29"/>
                </a:solidFill>
                <a:latin typeface="Calibri" pitchFamily="34" charset="0"/>
                <a:ea typeface="Calibri" pitchFamily="34" charset="-122"/>
                <a:cs typeface="Calibri" pitchFamily="34" charset="-120"/>
              </a:rPr>
              <a:t>분석 대상 개요</a:t>
            </a:r>
            <a:endParaRPr lang="en-US" sz="1500" dirty="0"/>
          </a:p>
        </p:txBody>
      </p:sp>
      <p:sp>
        <p:nvSpPr>
          <p:cNvPr id="11" name="Text 9"/>
          <p:cNvSpPr/>
          <p:nvPr/>
        </p:nvSpPr>
        <p:spPr>
          <a:xfrm>
            <a:off x="5486400" y="2240280"/>
            <a:ext cx="6035040" cy="594360"/>
          </a:xfrm>
          <a:prstGeom prst="rect">
            <a:avLst/>
          </a:prstGeom>
          <a:noFill/>
          <a:ln/>
        </p:spPr>
        <p:txBody>
          <a:bodyPr wrap="square" lIns="0" tIns="0" rIns="0" bIns="0" rtlCol="0" anchor="ctr"/>
          <a:lstStyle/>
          <a:p>
            <a:pPr indent="0" marL="0">
              <a:buNone/>
            </a:pPr>
            <a:r>
              <a:rPr lang="en-US" sz="1150" dirty="0">
                <a:solidFill>
                  <a:srgbClr val="6B6F80"/>
                </a:solidFill>
                <a:latin typeface="Calibri" pitchFamily="34" charset="0"/>
                <a:ea typeface="Calibri" pitchFamily="34" charset="-122"/>
                <a:cs typeface="Calibri" pitchFamily="34" charset="-120"/>
              </a:rPr>
              <a:t>4개 타이틀 포지셔닝과 업데이트 리듬</a:t>
            </a:r>
            <a:endParaRPr lang="en-US" sz="1150" dirty="0"/>
          </a:p>
        </p:txBody>
      </p:sp>
      <p:sp>
        <p:nvSpPr>
          <p:cNvPr id="12" name="Shape 10"/>
          <p:cNvSpPr/>
          <p:nvPr/>
        </p:nvSpPr>
        <p:spPr>
          <a:xfrm>
            <a:off x="640080" y="2871216"/>
            <a:ext cx="10881360" cy="0"/>
          </a:xfrm>
          <a:prstGeom prst="line">
            <a:avLst/>
          </a:prstGeom>
          <a:noFill/>
          <a:ln w="12700">
            <a:solidFill>
              <a:srgbClr val="E4E4EA"/>
            </a:solidFill>
            <a:prstDash val="solid"/>
          </a:ln>
        </p:spPr>
      </p:sp>
      <p:sp>
        <p:nvSpPr>
          <p:cNvPr id="13" name="Text 11"/>
          <p:cNvSpPr/>
          <p:nvPr/>
        </p:nvSpPr>
        <p:spPr>
          <a:xfrm>
            <a:off x="640080" y="2926080"/>
            <a:ext cx="822960" cy="594360"/>
          </a:xfrm>
          <a:prstGeom prst="rect">
            <a:avLst/>
          </a:prstGeom>
          <a:noFill/>
          <a:ln/>
        </p:spPr>
        <p:txBody>
          <a:bodyPr wrap="square" lIns="0" tIns="0" rIns="0" bIns="0" rtlCol="0" anchor="ctr"/>
          <a:lstStyle/>
          <a:p>
            <a:pPr indent="0" marL="0">
              <a:buNone/>
            </a:pPr>
            <a:r>
              <a:rPr lang="en-US" sz="2200" b="1" dirty="0">
                <a:solidFill>
                  <a:srgbClr val="D8D9E0"/>
                </a:solidFill>
                <a:latin typeface="Cambria" pitchFamily="34" charset="0"/>
                <a:ea typeface="Cambria" pitchFamily="34" charset="-122"/>
                <a:cs typeface="Cambria" pitchFamily="34" charset="-120"/>
              </a:rPr>
              <a:t>02</a:t>
            </a:r>
            <a:endParaRPr lang="en-US" sz="2200" dirty="0"/>
          </a:p>
        </p:txBody>
      </p:sp>
      <p:sp>
        <p:nvSpPr>
          <p:cNvPr id="14" name="Text 12"/>
          <p:cNvSpPr/>
          <p:nvPr/>
        </p:nvSpPr>
        <p:spPr>
          <a:xfrm>
            <a:off x="1600200" y="2926080"/>
            <a:ext cx="3749040" cy="594360"/>
          </a:xfrm>
          <a:prstGeom prst="rect">
            <a:avLst/>
          </a:prstGeom>
          <a:noFill/>
          <a:ln/>
        </p:spPr>
        <p:txBody>
          <a:bodyPr wrap="square" lIns="0" tIns="0" rIns="0" bIns="0" rtlCol="0" anchor="ctr"/>
          <a:lstStyle/>
          <a:p>
            <a:pPr indent="0" marL="0">
              <a:buNone/>
            </a:pPr>
            <a:r>
              <a:rPr lang="en-US" sz="1500" b="1" dirty="0">
                <a:solidFill>
                  <a:srgbClr val="1C1E29"/>
                </a:solidFill>
                <a:latin typeface="Calibri" pitchFamily="34" charset="0"/>
                <a:ea typeface="Calibri" pitchFamily="34" charset="-122"/>
                <a:cs typeface="Calibri" pitchFamily="34" charset="-120"/>
              </a:rPr>
              <a:t>성과 지표</a:t>
            </a:r>
            <a:endParaRPr lang="en-US" sz="1500" dirty="0"/>
          </a:p>
        </p:txBody>
      </p:sp>
      <p:sp>
        <p:nvSpPr>
          <p:cNvPr id="15" name="Text 13"/>
          <p:cNvSpPr/>
          <p:nvPr/>
        </p:nvSpPr>
        <p:spPr>
          <a:xfrm>
            <a:off x="5486400" y="2926080"/>
            <a:ext cx="6035040" cy="594360"/>
          </a:xfrm>
          <a:prstGeom prst="rect">
            <a:avLst/>
          </a:prstGeom>
          <a:noFill/>
          <a:ln/>
        </p:spPr>
        <p:txBody>
          <a:bodyPr wrap="square" lIns="0" tIns="0" rIns="0" bIns="0" rtlCol="0" anchor="ctr"/>
          <a:lstStyle/>
          <a:p>
            <a:pPr indent="0" marL="0">
              <a:buNone/>
            </a:pPr>
            <a:r>
              <a:rPr lang="en-US" sz="1150" dirty="0">
                <a:solidFill>
                  <a:srgbClr val="6B6F80"/>
                </a:solidFill>
                <a:latin typeface="Calibri" pitchFamily="34" charset="0"/>
                <a:ea typeface="Calibri" pitchFamily="34" charset="-122"/>
                <a:cs typeface="Calibri" pitchFamily="34" charset="-120"/>
              </a:rPr>
              <a:t>매출순위·이용자순위 주간 추이</a:t>
            </a:r>
            <a:endParaRPr lang="en-US" sz="1150" dirty="0"/>
          </a:p>
        </p:txBody>
      </p:sp>
      <p:sp>
        <p:nvSpPr>
          <p:cNvPr id="16" name="Shape 14"/>
          <p:cNvSpPr/>
          <p:nvPr/>
        </p:nvSpPr>
        <p:spPr>
          <a:xfrm>
            <a:off x="640080" y="3557016"/>
            <a:ext cx="10881360" cy="0"/>
          </a:xfrm>
          <a:prstGeom prst="line">
            <a:avLst/>
          </a:prstGeom>
          <a:noFill/>
          <a:ln w="12700">
            <a:solidFill>
              <a:srgbClr val="E4E4EA"/>
            </a:solidFill>
            <a:prstDash val="solid"/>
          </a:ln>
        </p:spPr>
      </p:sp>
      <p:sp>
        <p:nvSpPr>
          <p:cNvPr id="17" name="Text 15"/>
          <p:cNvSpPr/>
          <p:nvPr/>
        </p:nvSpPr>
        <p:spPr>
          <a:xfrm>
            <a:off x="640080" y="3611880"/>
            <a:ext cx="822960" cy="594360"/>
          </a:xfrm>
          <a:prstGeom prst="rect">
            <a:avLst/>
          </a:prstGeom>
          <a:noFill/>
          <a:ln/>
        </p:spPr>
        <p:txBody>
          <a:bodyPr wrap="square" lIns="0" tIns="0" rIns="0" bIns="0" rtlCol="0" anchor="ctr"/>
          <a:lstStyle/>
          <a:p>
            <a:pPr indent="0" marL="0">
              <a:buNone/>
            </a:pPr>
            <a:r>
              <a:rPr lang="en-US" sz="2200" b="1" dirty="0">
                <a:solidFill>
                  <a:srgbClr val="D8D9E0"/>
                </a:solidFill>
                <a:latin typeface="Cambria" pitchFamily="34" charset="0"/>
                <a:ea typeface="Cambria" pitchFamily="34" charset="-122"/>
                <a:cs typeface="Cambria" pitchFamily="34" charset="-120"/>
              </a:rPr>
              <a:t>03</a:t>
            </a:r>
            <a:endParaRPr lang="en-US" sz="2200" dirty="0"/>
          </a:p>
        </p:txBody>
      </p:sp>
      <p:sp>
        <p:nvSpPr>
          <p:cNvPr id="18" name="Text 16"/>
          <p:cNvSpPr/>
          <p:nvPr/>
        </p:nvSpPr>
        <p:spPr>
          <a:xfrm>
            <a:off x="1600200" y="3611880"/>
            <a:ext cx="3749040" cy="594360"/>
          </a:xfrm>
          <a:prstGeom prst="rect">
            <a:avLst/>
          </a:prstGeom>
          <a:noFill/>
          <a:ln/>
        </p:spPr>
        <p:txBody>
          <a:bodyPr wrap="square" lIns="0" tIns="0" rIns="0" bIns="0" rtlCol="0" anchor="ctr"/>
          <a:lstStyle/>
          <a:p>
            <a:pPr indent="0" marL="0">
              <a:buNone/>
            </a:pPr>
            <a:r>
              <a:rPr lang="en-US" sz="1500" b="1" dirty="0">
                <a:solidFill>
                  <a:srgbClr val="1C1E29"/>
                </a:solidFill>
                <a:latin typeface="Calibri" pitchFamily="34" charset="0"/>
                <a:ea typeface="Calibri" pitchFamily="34" charset="-122"/>
                <a:cs typeface="Calibri" pitchFamily="34" charset="-120"/>
              </a:rPr>
              <a:t>광고비·마케팅 효율</a:t>
            </a:r>
            <a:endParaRPr lang="en-US" sz="1500" dirty="0"/>
          </a:p>
        </p:txBody>
      </p:sp>
      <p:sp>
        <p:nvSpPr>
          <p:cNvPr id="19" name="Text 17"/>
          <p:cNvSpPr/>
          <p:nvPr/>
        </p:nvSpPr>
        <p:spPr>
          <a:xfrm>
            <a:off x="5486400" y="3611880"/>
            <a:ext cx="6035040" cy="594360"/>
          </a:xfrm>
          <a:prstGeom prst="rect">
            <a:avLst/>
          </a:prstGeom>
          <a:noFill/>
          <a:ln/>
        </p:spPr>
        <p:txBody>
          <a:bodyPr wrap="square" lIns="0" tIns="0" rIns="0" bIns="0" rtlCol="0" anchor="ctr"/>
          <a:lstStyle/>
          <a:p>
            <a:pPr indent="0" marL="0">
              <a:buNone/>
            </a:pPr>
            <a:r>
              <a:rPr lang="en-US" sz="1150" dirty="0">
                <a:solidFill>
                  <a:srgbClr val="6B6F80"/>
                </a:solidFill>
                <a:latin typeface="Calibri" pitchFamily="34" charset="0"/>
                <a:ea typeface="Calibri" pitchFamily="34" charset="-122"/>
                <a:cs typeface="Calibri" pitchFamily="34" charset="-120"/>
              </a:rPr>
              <a:t>공시된 광고선전비로 UA 지출과 효율을 진단</a:t>
            </a:r>
            <a:endParaRPr lang="en-US" sz="1150" dirty="0"/>
          </a:p>
        </p:txBody>
      </p:sp>
      <p:sp>
        <p:nvSpPr>
          <p:cNvPr id="20" name="Shape 18"/>
          <p:cNvSpPr/>
          <p:nvPr/>
        </p:nvSpPr>
        <p:spPr>
          <a:xfrm>
            <a:off x="640080" y="4242816"/>
            <a:ext cx="10881360" cy="0"/>
          </a:xfrm>
          <a:prstGeom prst="line">
            <a:avLst/>
          </a:prstGeom>
          <a:noFill/>
          <a:ln w="12700">
            <a:solidFill>
              <a:srgbClr val="E4E4EA"/>
            </a:solidFill>
            <a:prstDash val="solid"/>
          </a:ln>
        </p:spPr>
      </p:sp>
      <p:sp>
        <p:nvSpPr>
          <p:cNvPr id="21" name="Text 19"/>
          <p:cNvSpPr/>
          <p:nvPr/>
        </p:nvSpPr>
        <p:spPr>
          <a:xfrm>
            <a:off x="640080" y="4297680"/>
            <a:ext cx="822960" cy="594360"/>
          </a:xfrm>
          <a:prstGeom prst="rect">
            <a:avLst/>
          </a:prstGeom>
          <a:noFill/>
          <a:ln/>
        </p:spPr>
        <p:txBody>
          <a:bodyPr wrap="square" lIns="0" tIns="0" rIns="0" bIns="0" rtlCol="0" anchor="ctr"/>
          <a:lstStyle/>
          <a:p>
            <a:pPr indent="0" marL="0">
              <a:buNone/>
            </a:pPr>
            <a:r>
              <a:rPr lang="en-US" sz="2200" b="1" dirty="0">
                <a:solidFill>
                  <a:srgbClr val="D8D9E0"/>
                </a:solidFill>
                <a:latin typeface="Cambria" pitchFamily="34" charset="0"/>
                <a:ea typeface="Cambria" pitchFamily="34" charset="-122"/>
                <a:cs typeface="Cambria" pitchFamily="34" charset="-120"/>
              </a:rPr>
              <a:t>04</a:t>
            </a:r>
            <a:endParaRPr lang="en-US" sz="2200" dirty="0"/>
          </a:p>
        </p:txBody>
      </p:sp>
      <p:sp>
        <p:nvSpPr>
          <p:cNvPr id="22" name="Text 20"/>
          <p:cNvSpPr/>
          <p:nvPr/>
        </p:nvSpPr>
        <p:spPr>
          <a:xfrm>
            <a:off x="1600200" y="4297680"/>
            <a:ext cx="3749040" cy="594360"/>
          </a:xfrm>
          <a:prstGeom prst="rect">
            <a:avLst/>
          </a:prstGeom>
          <a:noFill/>
          <a:ln/>
        </p:spPr>
        <p:txBody>
          <a:bodyPr wrap="square" lIns="0" tIns="0" rIns="0" bIns="0" rtlCol="0" anchor="ctr"/>
          <a:lstStyle/>
          <a:p>
            <a:pPr indent="0" marL="0">
              <a:buNone/>
            </a:pPr>
            <a:r>
              <a:rPr lang="en-US" sz="1500" b="1" dirty="0">
                <a:solidFill>
                  <a:srgbClr val="1C1E29"/>
                </a:solidFill>
                <a:latin typeface="Calibri" pitchFamily="34" charset="0"/>
                <a:ea typeface="Calibri" pitchFamily="34" charset="-122"/>
                <a:cs typeface="Calibri" pitchFamily="34" charset="-120"/>
              </a:rPr>
              <a:t>UA 채널 비교</a:t>
            </a:r>
            <a:endParaRPr lang="en-US" sz="1500" dirty="0"/>
          </a:p>
        </p:txBody>
      </p:sp>
      <p:sp>
        <p:nvSpPr>
          <p:cNvPr id="23" name="Text 21"/>
          <p:cNvSpPr/>
          <p:nvPr/>
        </p:nvSpPr>
        <p:spPr>
          <a:xfrm>
            <a:off x="5486400" y="4297680"/>
            <a:ext cx="6035040" cy="594360"/>
          </a:xfrm>
          <a:prstGeom prst="rect">
            <a:avLst/>
          </a:prstGeom>
          <a:noFill/>
          <a:ln/>
        </p:spPr>
        <p:txBody>
          <a:bodyPr wrap="square" lIns="0" tIns="0" rIns="0" bIns="0" rtlCol="0" anchor="ctr"/>
          <a:lstStyle/>
          <a:p>
            <a:pPr indent="0" marL="0">
              <a:buNone/>
            </a:pPr>
            <a:r>
              <a:rPr lang="en-US" sz="1150" dirty="0">
                <a:solidFill>
                  <a:srgbClr val="6B6F80"/>
                </a:solidFill>
                <a:latin typeface="Calibri" pitchFamily="34" charset="0"/>
                <a:ea typeface="Calibri" pitchFamily="34" charset="-122"/>
                <a:cs typeface="Calibri" pitchFamily="34" charset="-120"/>
              </a:rPr>
              <a:t>Meta 광고 라이브러리 노출강도 분석</a:t>
            </a:r>
            <a:endParaRPr lang="en-US" sz="1150" dirty="0"/>
          </a:p>
        </p:txBody>
      </p:sp>
      <p:sp>
        <p:nvSpPr>
          <p:cNvPr id="24" name="Shape 22"/>
          <p:cNvSpPr/>
          <p:nvPr/>
        </p:nvSpPr>
        <p:spPr>
          <a:xfrm>
            <a:off x="640080" y="4928616"/>
            <a:ext cx="10881360" cy="0"/>
          </a:xfrm>
          <a:prstGeom prst="line">
            <a:avLst/>
          </a:prstGeom>
          <a:noFill/>
          <a:ln w="12700">
            <a:solidFill>
              <a:srgbClr val="E4E4EA"/>
            </a:solidFill>
            <a:prstDash val="solid"/>
          </a:ln>
        </p:spPr>
      </p:sp>
      <p:sp>
        <p:nvSpPr>
          <p:cNvPr id="25" name="Text 23"/>
          <p:cNvSpPr/>
          <p:nvPr/>
        </p:nvSpPr>
        <p:spPr>
          <a:xfrm>
            <a:off x="640080" y="4983480"/>
            <a:ext cx="822960" cy="594360"/>
          </a:xfrm>
          <a:prstGeom prst="rect">
            <a:avLst/>
          </a:prstGeom>
          <a:noFill/>
          <a:ln/>
        </p:spPr>
        <p:txBody>
          <a:bodyPr wrap="square" lIns="0" tIns="0" rIns="0" bIns="0" rtlCol="0" anchor="ctr"/>
          <a:lstStyle/>
          <a:p>
            <a:pPr indent="0" marL="0">
              <a:buNone/>
            </a:pPr>
            <a:r>
              <a:rPr lang="en-US" sz="2200" b="1" dirty="0">
                <a:solidFill>
                  <a:srgbClr val="D8D9E0"/>
                </a:solidFill>
                <a:latin typeface="Cambria" pitchFamily="34" charset="0"/>
                <a:ea typeface="Cambria" pitchFamily="34" charset="-122"/>
                <a:cs typeface="Cambria" pitchFamily="34" charset="-120"/>
              </a:rPr>
              <a:t>05</a:t>
            </a:r>
            <a:endParaRPr lang="en-US" sz="2200" dirty="0"/>
          </a:p>
        </p:txBody>
      </p:sp>
      <p:sp>
        <p:nvSpPr>
          <p:cNvPr id="26" name="Text 24"/>
          <p:cNvSpPr/>
          <p:nvPr/>
        </p:nvSpPr>
        <p:spPr>
          <a:xfrm>
            <a:off x="1600200" y="4983480"/>
            <a:ext cx="3749040" cy="594360"/>
          </a:xfrm>
          <a:prstGeom prst="rect">
            <a:avLst/>
          </a:prstGeom>
          <a:noFill/>
          <a:ln/>
        </p:spPr>
        <p:txBody>
          <a:bodyPr wrap="square" lIns="0" tIns="0" rIns="0" bIns="0" rtlCol="0" anchor="ctr"/>
          <a:lstStyle/>
          <a:p>
            <a:pPr indent="0" marL="0">
              <a:buNone/>
            </a:pPr>
            <a:r>
              <a:rPr lang="en-US" sz="1500" b="1" dirty="0">
                <a:solidFill>
                  <a:srgbClr val="1C1E29"/>
                </a:solidFill>
                <a:latin typeface="Calibri" pitchFamily="34" charset="0"/>
                <a:ea typeface="Calibri" pitchFamily="34" charset="-122"/>
                <a:cs typeface="Calibri" pitchFamily="34" charset="-120"/>
              </a:rPr>
              <a:t>케이스 딥다이브</a:t>
            </a:r>
            <a:endParaRPr lang="en-US" sz="1500" dirty="0"/>
          </a:p>
        </p:txBody>
      </p:sp>
      <p:sp>
        <p:nvSpPr>
          <p:cNvPr id="27" name="Text 25"/>
          <p:cNvSpPr/>
          <p:nvPr/>
        </p:nvSpPr>
        <p:spPr>
          <a:xfrm>
            <a:off x="5486400" y="4983480"/>
            <a:ext cx="6035040" cy="594360"/>
          </a:xfrm>
          <a:prstGeom prst="rect">
            <a:avLst/>
          </a:prstGeom>
          <a:noFill/>
          <a:ln/>
        </p:spPr>
        <p:txBody>
          <a:bodyPr wrap="square" lIns="0" tIns="0" rIns="0" bIns="0" rtlCol="0" anchor="ctr"/>
          <a:lstStyle/>
          <a:p>
            <a:pPr indent="0" marL="0">
              <a:buNone/>
            </a:pPr>
            <a:r>
              <a:rPr lang="en-US" sz="1150" dirty="0">
                <a:solidFill>
                  <a:srgbClr val="6B6F80"/>
                </a:solidFill>
                <a:latin typeface="Calibri" pitchFamily="34" charset="0"/>
                <a:ea typeface="Calibri" pitchFamily="34" charset="-122"/>
                <a:cs typeface="Calibri" pitchFamily="34" charset="-120"/>
              </a:rPr>
              <a:t>메이플M 반등 · 마비노기M 공백 · 검은사막/아이온2</a:t>
            </a:r>
            <a:endParaRPr lang="en-US" sz="1150" dirty="0"/>
          </a:p>
        </p:txBody>
      </p:sp>
      <p:sp>
        <p:nvSpPr>
          <p:cNvPr id="28" name="Shape 26"/>
          <p:cNvSpPr/>
          <p:nvPr/>
        </p:nvSpPr>
        <p:spPr>
          <a:xfrm>
            <a:off x="640080" y="5614416"/>
            <a:ext cx="10881360" cy="0"/>
          </a:xfrm>
          <a:prstGeom prst="line">
            <a:avLst/>
          </a:prstGeom>
          <a:noFill/>
          <a:ln w="12700">
            <a:solidFill>
              <a:srgbClr val="E4E4EA"/>
            </a:solidFill>
            <a:prstDash val="solid"/>
          </a:ln>
        </p:spPr>
      </p:sp>
      <p:sp>
        <p:nvSpPr>
          <p:cNvPr id="29" name="Text 27"/>
          <p:cNvSpPr/>
          <p:nvPr/>
        </p:nvSpPr>
        <p:spPr>
          <a:xfrm>
            <a:off x="640080" y="5669280"/>
            <a:ext cx="822960" cy="594360"/>
          </a:xfrm>
          <a:prstGeom prst="rect">
            <a:avLst/>
          </a:prstGeom>
          <a:noFill/>
          <a:ln/>
        </p:spPr>
        <p:txBody>
          <a:bodyPr wrap="square" lIns="0" tIns="0" rIns="0" bIns="0" rtlCol="0" anchor="ctr"/>
          <a:lstStyle/>
          <a:p>
            <a:pPr indent="0" marL="0">
              <a:buNone/>
            </a:pPr>
            <a:r>
              <a:rPr lang="en-US" sz="2200" b="1" dirty="0">
                <a:solidFill>
                  <a:srgbClr val="D8D9E0"/>
                </a:solidFill>
                <a:latin typeface="Cambria" pitchFamily="34" charset="0"/>
                <a:ea typeface="Cambria" pitchFamily="34" charset="-122"/>
                <a:cs typeface="Cambria" pitchFamily="34" charset="-120"/>
              </a:rPr>
              <a:t>06</a:t>
            </a:r>
            <a:endParaRPr lang="en-US" sz="2200" dirty="0"/>
          </a:p>
        </p:txBody>
      </p:sp>
      <p:sp>
        <p:nvSpPr>
          <p:cNvPr id="30" name="Text 28"/>
          <p:cNvSpPr/>
          <p:nvPr/>
        </p:nvSpPr>
        <p:spPr>
          <a:xfrm>
            <a:off x="1600200" y="5669280"/>
            <a:ext cx="3749040" cy="594360"/>
          </a:xfrm>
          <a:prstGeom prst="rect">
            <a:avLst/>
          </a:prstGeom>
          <a:noFill/>
          <a:ln/>
        </p:spPr>
        <p:txBody>
          <a:bodyPr wrap="square" lIns="0" tIns="0" rIns="0" bIns="0" rtlCol="0" anchor="ctr"/>
          <a:lstStyle/>
          <a:p>
            <a:pPr indent="0" marL="0">
              <a:buNone/>
            </a:pPr>
            <a:r>
              <a:rPr lang="en-US" sz="1500" b="1" dirty="0">
                <a:solidFill>
                  <a:srgbClr val="1C1E29"/>
                </a:solidFill>
                <a:latin typeface="Calibri" pitchFamily="34" charset="0"/>
                <a:ea typeface="Calibri" pitchFamily="34" charset="-122"/>
                <a:cs typeface="Calibri" pitchFamily="34" charset="-120"/>
              </a:rPr>
              <a:t>SWOT·전략 제언 / 대시보드 명세</a:t>
            </a:r>
            <a:endParaRPr lang="en-US" sz="1500" dirty="0"/>
          </a:p>
        </p:txBody>
      </p:sp>
      <p:sp>
        <p:nvSpPr>
          <p:cNvPr id="31" name="Text 29"/>
          <p:cNvSpPr/>
          <p:nvPr/>
        </p:nvSpPr>
        <p:spPr>
          <a:xfrm>
            <a:off x="5486400" y="5669280"/>
            <a:ext cx="6035040" cy="594360"/>
          </a:xfrm>
          <a:prstGeom prst="rect">
            <a:avLst/>
          </a:prstGeom>
          <a:noFill/>
          <a:ln/>
        </p:spPr>
        <p:txBody>
          <a:bodyPr wrap="square" lIns="0" tIns="0" rIns="0" bIns="0" rtlCol="0" anchor="ctr"/>
          <a:lstStyle/>
          <a:p>
            <a:pPr indent="0" marL="0">
              <a:buNone/>
            </a:pPr>
            <a:r>
              <a:rPr lang="en-US" sz="1150" dirty="0">
                <a:solidFill>
                  <a:srgbClr val="6B6F80"/>
                </a:solidFill>
                <a:latin typeface="Calibri" pitchFamily="34" charset="0"/>
                <a:ea typeface="Calibri" pitchFamily="34" charset="-122"/>
                <a:cs typeface="Calibri" pitchFamily="34" charset="-120"/>
              </a:rPr>
              <a:t>전략 방향과 대시보드 타일 스펙</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61F"/>
        </a:solidFill>
      </p:bgPr>
    </p:bg>
    <p:spTree>
      <p:nvGrpSpPr>
        <p:cNvPr id="1" name=""/>
        <p:cNvGrpSpPr/>
        <p:nvPr/>
      </p:nvGrpSpPr>
      <p:grpSpPr>
        <a:xfrm>
          <a:off x="0" y="0"/>
          <a:ext cx="0" cy="0"/>
          <a:chOff x="0" y="0"/>
          <a:chExt cx="0" cy="0"/>
        </a:xfrm>
      </p:grpSpPr>
      <p:sp>
        <p:nvSpPr>
          <p:cNvPr id="2" name="Shape 0"/>
          <p:cNvSpPr/>
          <p:nvPr/>
        </p:nvSpPr>
        <p:spPr>
          <a:xfrm>
            <a:off x="-2377440" y="4206240"/>
            <a:ext cx="5943600" cy="5943600"/>
          </a:xfrm>
          <a:prstGeom prst="ellipse">
            <a:avLst/>
          </a:prstGeom>
          <a:solidFill>
            <a:srgbClr val="1B1E2C"/>
          </a:solidFill>
          <a:ln/>
        </p:spPr>
      </p:sp>
      <p:sp>
        <p:nvSpPr>
          <p:cNvPr id="3" name="Text 1"/>
          <p:cNvSpPr/>
          <p:nvPr/>
        </p:nvSpPr>
        <p:spPr>
          <a:xfrm>
            <a:off x="822960" y="2286000"/>
            <a:ext cx="3657600" cy="1463040"/>
          </a:xfrm>
          <a:prstGeom prst="rect">
            <a:avLst/>
          </a:prstGeom>
          <a:noFill/>
          <a:ln/>
        </p:spPr>
        <p:txBody>
          <a:bodyPr wrap="square" lIns="0" tIns="0" rIns="0" bIns="0" rtlCol="0" anchor="ctr"/>
          <a:lstStyle/>
          <a:p>
            <a:pPr indent="0" marL="0">
              <a:buNone/>
            </a:pPr>
            <a:r>
              <a:rPr lang="en-US" sz="9000" b="1" dirty="0">
                <a:solidFill>
                  <a:srgbClr val="2A2E42"/>
                </a:solidFill>
                <a:latin typeface="Cambria" pitchFamily="34" charset="0"/>
                <a:ea typeface="Cambria" pitchFamily="34" charset="-122"/>
                <a:cs typeface="Cambria" pitchFamily="34" charset="-120"/>
              </a:rPr>
              <a:t>00</a:t>
            </a:r>
            <a:endParaRPr lang="en-US" sz="9000" dirty="0"/>
          </a:p>
        </p:txBody>
      </p:sp>
      <p:sp>
        <p:nvSpPr>
          <p:cNvPr id="4" name="Text 2"/>
          <p:cNvSpPr/>
          <p:nvPr/>
        </p:nvSpPr>
        <p:spPr>
          <a:xfrm>
            <a:off x="868680" y="3246120"/>
            <a:ext cx="9144000" cy="365760"/>
          </a:xfrm>
          <a:prstGeom prst="rect">
            <a:avLst/>
          </a:prstGeom>
          <a:noFill/>
          <a:ln/>
        </p:spPr>
        <p:txBody>
          <a:bodyPr wrap="square" lIns="0" tIns="0" rIns="0" bIns="0" rtlCol="0" anchor="ctr"/>
          <a:lstStyle/>
          <a:p>
            <a:pPr indent="0" marL="0">
              <a:buNone/>
            </a:pPr>
            <a:r>
              <a:rPr lang="en-US" sz="1300" b="1" spc="300" kern="0" dirty="0">
                <a:solidFill>
                  <a:srgbClr val="F0692B"/>
                </a:solidFill>
                <a:latin typeface="Calibri" pitchFamily="34" charset="0"/>
                <a:ea typeface="Calibri" pitchFamily="34" charset="-122"/>
                <a:cs typeface="Calibri" pitchFamily="34" charset="-120"/>
              </a:rPr>
              <a:t>METRIC GLOSSARY</a:t>
            </a:r>
            <a:endParaRPr lang="en-US" sz="1300" dirty="0"/>
          </a:p>
        </p:txBody>
      </p:sp>
      <p:sp>
        <p:nvSpPr>
          <p:cNvPr id="5" name="Text 3"/>
          <p:cNvSpPr/>
          <p:nvPr/>
        </p:nvSpPr>
        <p:spPr>
          <a:xfrm>
            <a:off x="822960" y="3611880"/>
            <a:ext cx="10058400" cy="10058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지표 정의</a:t>
            </a:r>
            <a:endParaRPr lang="en-US" sz="3400" dirty="0"/>
          </a:p>
        </p:txBody>
      </p:sp>
      <p:sp>
        <p:nvSpPr>
          <p:cNvPr id="6" name="Text 4"/>
          <p:cNvSpPr/>
          <p:nvPr/>
        </p:nvSpPr>
        <p:spPr>
          <a:xfrm>
            <a:off x="11365992" y="6446520"/>
            <a:ext cx="548640" cy="274320"/>
          </a:xfrm>
          <a:prstGeom prst="rect">
            <a:avLst/>
          </a:prstGeom>
          <a:noFill/>
          <a:ln/>
        </p:spPr>
        <p:txBody>
          <a:bodyPr wrap="square" lIns="0" tIns="0" rIns="0" bIns="0" rtlCol="0" anchor="ctr"/>
          <a:lstStyle/>
          <a:p>
            <a:pPr algn="r" indent="0" marL="0">
              <a:buNone/>
            </a:pPr>
            <a:r>
              <a:rPr lang="en-US" sz="900" dirty="0">
                <a:solidFill>
                  <a:srgbClr val="6A6E80"/>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lIns="0" tIns="0" rIns="0" bIns="0" rtlCol="0" anchor="ctr"/>
          <a:lstStyle/>
          <a:p>
            <a:pPr indent="0" marL="0">
              <a:buNone/>
            </a:pPr>
            <a:r>
              <a:rPr lang="en-US" sz="1250" b="1" spc="200" kern="0" dirty="0">
                <a:solidFill>
                  <a:srgbClr val="F0692B"/>
                </a:solidFill>
                <a:latin typeface="Calibri" pitchFamily="34" charset="0"/>
                <a:ea typeface="Calibri" pitchFamily="34" charset="-122"/>
                <a:cs typeface="Calibri" pitchFamily="34" charset="-120"/>
              </a:rPr>
              <a:t>00 · METRIC GLOSSARY</a:t>
            </a:r>
            <a:endParaRPr lang="en-US" sz="1250" dirty="0"/>
          </a:p>
        </p:txBody>
      </p:sp>
      <p:sp>
        <p:nvSpPr>
          <p:cNvPr id="3" name="Text 1"/>
          <p:cNvSpPr/>
          <p:nvPr/>
        </p:nvSpPr>
        <p:spPr>
          <a:xfrm>
            <a:off x="548640" y="749808"/>
            <a:ext cx="10789920" cy="640080"/>
          </a:xfrm>
          <a:prstGeom prst="rect">
            <a:avLst/>
          </a:prstGeom>
          <a:noFill/>
          <a:ln/>
        </p:spPr>
        <p:txBody>
          <a:bodyPr wrap="square" lIns="0" tIns="0" rIns="0" bIns="0" rtlCol="0" anchor="ctr"/>
          <a:lstStyle/>
          <a:p>
            <a:pPr indent="0" marL="0">
              <a:buNone/>
            </a:pPr>
            <a:r>
              <a:rPr lang="en-US" sz="2800" b="1" dirty="0">
                <a:solidFill>
                  <a:srgbClr val="1C1E29"/>
                </a:solidFill>
                <a:latin typeface="Cambria" pitchFamily="34" charset="0"/>
                <a:ea typeface="Cambria" pitchFamily="34" charset="-122"/>
                <a:cs typeface="Cambria" pitchFamily="34" charset="-120"/>
              </a:rPr>
              <a:t>지표 정의서 ① — 실측 지표 (공시·관측 데이터)</a:t>
            </a:r>
            <a:endParaRPr lang="en-US" sz="2800" dirty="0"/>
          </a:p>
        </p:txBody>
      </p:sp>
      <p:sp>
        <p:nvSpPr>
          <p:cNvPr id="4" name="Text 2"/>
          <p:cNvSpPr/>
          <p:nvPr/>
        </p:nvSpPr>
        <p:spPr>
          <a:xfrm>
            <a:off x="548640" y="6400800"/>
            <a:ext cx="10332720" cy="274320"/>
          </a:xfrm>
          <a:prstGeom prst="rect">
            <a:avLst/>
          </a:prstGeom>
          <a:noFill/>
          <a:ln/>
        </p:spPr>
        <p:txBody>
          <a:bodyPr wrap="square" lIns="0" tIns="0" rIns="0" bIns="0" rtlCol="0" anchor="ctr"/>
          <a:lstStyle/>
          <a:p>
            <a:pPr indent="0" marL="0">
              <a:buNone/>
            </a:pPr>
            <a:r>
              <a:rPr lang="en-US" sz="900" dirty="0">
                <a:solidFill>
                  <a:srgbClr val="9A9DAC"/>
                </a:solidFill>
                <a:latin typeface="Calibri" pitchFamily="34" charset="0"/>
                <a:ea typeface="Calibri" pitchFamily="34" charset="-122"/>
                <a:cs typeface="Calibri" pitchFamily="34" charset="-120"/>
              </a:rPr>
              <a:t>대시보드 연동 시 아래 정의·출처를 그대로 툴팁/필드 설명에 사용할 수 있습니다.</a:t>
            </a:r>
            <a:endParaRPr lang="en-US" sz="900" dirty="0"/>
          </a:p>
        </p:txBody>
      </p:sp>
      <p:sp>
        <p:nvSpPr>
          <p:cNvPr id="5" name="Text 3"/>
          <p:cNvSpPr/>
          <p:nvPr/>
        </p:nvSpPr>
        <p:spPr>
          <a:xfrm>
            <a:off x="11365992" y="6446520"/>
            <a:ext cx="548640" cy="274320"/>
          </a:xfrm>
          <a:prstGeom prst="rect">
            <a:avLst/>
          </a:prstGeom>
          <a:noFill/>
          <a:ln/>
        </p:spPr>
        <p:txBody>
          <a:bodyPr wrap="square" lIns="0" tIns="0" rIns="0" bIns="0" rtlCol="0" anchor="ctr"/>
          <a:lstStyle/>
          <a:p>
            <a:pPr algn="r" indent="0" marL="0">
              <a:buNone/>
            </a:pPr>
            <a:r>
              <a:rPr lang="en-US" sz="900" dirty="0">
                <a:solidFill>
                  <a:srgbClr val="A8ABB8"/>
                </a:solidFill>
                <a:latin typeface="Calibri" pitchFamily="34" charset="0"/>
                <a:ea typeface="Calibri" pitchFamily="34" charset="-122"/>
                <a:cs typeface="Calibri" pitchFamily="34" charset="-120"/>
              </a:rPr>
              <a:t>05</a:t>
            </a:r>
            <a:endParaRPr lang="en-US" sz="900" dirty="0"/>
          </a:p>
        </p:txBody>
      </p:sp>
      <p:sp>
        <p:nvSpPr>
          <p:cNvPr id="6" name="Shape 4"/>
          <p:cNvSpPr/>
          <p:nvPr/>
        </p:nvSpPr>
        <p:spPr>
          <a:xfrm>
            <a:off x="548640" y="1673352"/>
            <a:ext cx="11109960" cy="365760"/>
          </a:xfrm>
          <a:prstGeom prst="roundRect">
            <a:avLst>
              <a:gd name="adj" fmla="val 10000"/>
            </a:avLst>
          </a:prstGeom>
          <a:solidFill>
            <a:srgbClr val="1D2030"/>
          </a:solidFill>
          <a:ln/>
        </p:spPr>
      </p:sp>
      <p:sp>
        <p:nvSpPr>
          <p:cNvPr id="7" name="Text 5"/>
          <p:cNvSpPr/>
          <p:nvPr/>
        </p:nvSpPr>
        <p:spPr>
          <a:xfrm>
            <a:off x="548640" y="1673352"/>
            <a:ext cx="2194560" cy="365760"/>
          </a:xfrm>
          <a:prstGeom prst="rect">
            <a:avLst/>
          </a:prstGeom>
          <a:noFill/>
          <a:ln/>
        </p:spPr>
        <p:txBody>
          <a:bodyPr wrap="square" lIns="0" tIns="0" rIns="0" bIns="0" rtlCol="0" anchor="ctr"/>
          <a:lstStyle/>
          <a:p>
            <a:pPr indent="0" marL="0">
              <a:buNone/>
            </a:pPr>
            <a:r>
              <a:rPr lang="en-US" sz="1050" b="1" dirty="0">
                <a:solidFill>
                  <a:srgbClr val="E8B84B"/>
                </a:solidFill>
                <a:latin typeface="Calibri" pitchFamily="34" charset="0"/>
                <a:ea typeface="Calibri" pitchFamily="34" charset="-122"/>
                <a:cs typeface="Calibri" pitchFamily="34" charset="-120"/>
              </a:rPr>
              <a:t>지표명</a:t>
            </a:r>
            <a:endParaRPr lang="en-US" sz="1050" dirty="0"/>
          </a:p>
        </p:txBody>
      </p:sp>
      <p:sp>
        <p:nvSpPr>
          <p:cNvPr id="8" name="Text 6"/>
          <p:cNvSpPr/>
          <p:nvPr/>
        </p:nvSpPr>
        <p:spPr>
          <a:xfrm>
            <a:off x="2834640" y="1673352"/>
            <a:ext cx="3931920" cy="365760"/>
          </a:xfrm>
          <a:prstGeom prst="rect">
            <a:avLst/>
          </a:prstGeom>
          <a:noFill/>
          <a:ln/>
        </p:spPr>
        <p:txBody>
          <a:bodyPr wrap="square" lIns="0" tIns="0" rIns="0" bIns="0" rtlCol="0" anchor="ctr"/>
          <a:lstStyle/>
          <a:p>
            <a:pPr indent="0" marL="0">
              <a:buNone/>
            </a:pPr>
            <a:r>
              <a:rPr lang="en-US" sz="1050" b="1" dirty="0">
                <a:solidFill>
                  <a:srgbClr val="E8B84B"/>
                </a:solidFill>
                <a:latin typeface="Calibri" pitchFamily="34" charset="0"/>
                <a:ea typeface="Calibri" pitchFamily="34" charset="-122"/>
                <a:cs typeface="Calibri" pitchFamily="34" charset="-120"/>
              </a:rPr>
              <a:t>정의</a:t>
            </a:r>
            <a:endParaRPr lang="en-US" sz="1050" dirty="0"/>
          </a:p>
        </p:txBody>
      </p:sp>
      <p:sp>
        <p:nvSpPr>
          <p:cNvPr id="9" name="Text 7"/>
          <p:cNvSpPr/>
          <p:nvPr/>
        </p:nvSpPr>
        <p:spPr>
          <a:xfrm>
            <a:off x="6903720" y="1673352"/>
            <a:ext cx="2377440" cy="365760"/>
          </a:xfrm>
          <a:prstGeom prst="rect">
            <a:avLst/>
          </a:prstGeom>
          <a:noFill/>
          <a:ln/>
        </p:spPr>
        <p:txBody>
          <a:bodyPr wrap="square" lIns="0" tIns="0" rIns="0" bIns="0" rtlCol="0" anchor="ctr"/>
          <a:lstStyle/>
          <a:p>
            <a:pPr indent="0" marL="0">
              <a:buNone/>
            </a:pPr>
            <a:r>
              <a:rPr lang="en-US" sz="1050" b="1" dirty="0">
                <a:solidFill>
                  <a:srgbClr val="E8B84B"/>
                </a:solidFill>
                <a:latin typeface="Calibri" pitchFamily="34" charset="0"/>
                <a:ea typeface="Calibri" pitchFamily="34" charset="-122"/>
                <a:cs typeface="Calibri" pitchFamily="34" charset="-120"/>
              </a:rPr>
              <a:t>데이터 출처</a:t>
            </a:r>
            <a:endParaRPr lang="en-US" sz="1050" dirty="0"/>
          </a:p>
        </p:txBody>
      </p:sp>
      <p:sp>
        <p:nvSpPr>
          <p:cNvPr id="10" name="Text 8"/>
          <p:cNvSpPr/>
          <p:nvPr/>
        </p:nvSpPr>
        <p:spPr>
          <a:xfrm>
            <a:off x="9464040" y="1673352"/>
            <a:ext cx="2286000" cy="365760"/>
          </a:xfrm>
          <a:prstGeom prst="rect">
            <a:avLst/>
          </a:prstGeom>
          <a:noFill/>
          <a:ln/>
        </p:spPr>
        <p:txBody>
          <a:bodyPr wrap="square" lIns="0" tIns="0" rIns="0" bIns="0" rtlCol="0" anchor="ctr"/>
          <a:lstStyle/>
          <a:p>
            <a:pPr indent="0" marL="0">
              <a:buNone/>
            </a:pPr>
            <a:r>
              <a:rPr lang="en-US" sz="1050" b="1" dirty="0">
                <a:solidFill>
                  <a:srgbClr val="E8B84B"/>
                </a:solidFill>
                <a:latin typeface="Calibri" pitchFamily="34" charset="0"/>
                <a:ea typeface="Calibri" pitchFamily="34" charset="-122"/>
                <a:cs typeface="Calibri" pitchFamily="34" charset="-120"/>
              </a:rPr>
              <a:t>한계·주의사항</a:t>
            </a:r>
            <a:endParaRPr lang="en-US" sz="1050" dirty="0"/>
          </a:p>
        </p:txBody>
      </p:sp>
      <p:sp>
        <p:nvSpPr>
          <p:cNvPr id="11" name="Shape 9"/>
          <p:cNvSpPr/>
          <p:nvPr/>
        </p:nvSpPr>
        <p:spPr>
          <a:xfrm>
            <a:off x="548640" y="2057400"/>
            <a:ext cx="11109960" cy="950976"/>
          </a:xfrm>
          <a:prstGeom prst="rect">
            <a:avLst/>
          </a:prstGeom>
          <a:solidFill>
            <a:srgbClr val="FAFAFB"/>
          </a:solidFill>
          <a:ln/>
        </p:spPr>
      </p:sp>
      <p:sp>
        <p:nvSpPr>
          <p:cNvPr id="12" name="Text 10"/>
          <p:cNvSpPr/>
          <p:nvPr/>
        </p:nvSpPr>
        <p:spPr>
          <a:xfrm>
            <a:off x="548640" y="2112264"/>
            <a:ext cx="2057400" cy="841248"/>
          </a:xfrm>
          <a:prstGeom prst="rect">
            <a:avLst/>
          </a:prstGeom>
          <a:noFill/>
          <a:ln/>
        </p:spPr>
        <p:txBody>
          <a:bodyPr wrap="square" lIns="0" tIns="0" rIns="0" bIns="0" rtlCol="0" anchor="t"/>
          <a:lstStyle/>
          <a:p>
            <a:pPr indent="0" marL="0">
              <a:lnSpc>
                <a:spcPct val="115000"/>
              </a:lnSpc>
              <a:buNone/>
            </a:pPr>
            <a:r>
              <a:rPr lang="en-US" sz="1150" b="1" dirty="0">
                <a:solidFill>
                  <a:srgbClr val="1C1E29"/>
                </a:solidFill>
                <a:latin typeface="Calibri" pitchFamily="34" charset="0"/>
                <a:ea typeface="Calibri" pitchFamily="34" charset="-122"/>
                <a:cs typeface="Calibri" pitchFamily="34" charset="-120"/>
              </a:rPr>
              <a:t>광고선전비</a:t>
            </a:r>
            <a:endParaRPr lang="en-US" sz="1150" dirty="0"/>
          </a:p>
        </p:txBody>
      </p:sp>
      <p:sp>
        <p:nvSpPr>
          <p:cNvPr id="13" name="Text 11"/>
          <p:cNvSpPr/>
          <p:nvPr/>
        </p:nvSpPr>
        <p:spPr>
          <a:xfrm>
            <a:off x="2834640" y="2112264"/>
            <a:ext cx="3794760" cy="841248"/>
          </a:xfrm>
          <a:prstGeom prst="rect">
            <a:avLst/>
          </a:prstGeom>
          <a:noFill/>
          <a:ln/>
        </p:spPr>
        <p:txBody>
          <a:bodyPr wrap="square" lIns="0" tIns="0" rIns="0" bIns="0" rtlCol="0" anchor="t"/>
          <a:lstStyle/>
          <a:p>
            <a:pPr indent="0" marL="0">
              <a:lnSpc>
                <a:spcPct val="115000"/>
              </a:lnSpc>
              <a:buNone/>
            </a:pPr>
            <a:r>
              <a:rPr lang="en-US" sz="1000" dirty="0">
                <a:solidFill>
                  <a:srgbClr val="444858"/>
                </a:solidFill>
                <a:latin typeface="Calibri" pitchFamily="34" charset="0"/>
                <a:ea typeface="Calibri" pitchFamily="34" charset="-122"/>
                <a:cs typeface="Calibri" pitchFamily="34" charset="-120"/>
              </a:rPr>
              <a:t>각사 사업보고서·반기보고서 '비용의 성격별 분류' 주석에 공시된 광고선전비 계정</a:t>
            </a:r>
            <a:endParaRPr lang="en-US" sz="1000" dirty="0"/>
          </a:p>
        </p:txBody>
      </p:sp>
      <p:sp>
        <p:nvSpPr>
          <p:cNvPr id="14" name="Text 12"/>
          <p:cNvSpPr/>
          <p:nvPr/>
        </p:nvSpPr>
        <p:spPr>
          <a:xfrm>
            <a:off x="6903720" y="2112264"/>
            <a:ext cx="2240280" cy="841248"/>
          </a:xfrm>
          <a:prstGeom prst="rect">
            <a:avLst/>
          </a:prstGeom>
          <a:noFill/>
          <a:ln/>
        </p:spPr>
        <p:txBody>
          <a:bodyPr wrap="square" lIns="0" tIns="0" rIns="0" bIns="0" rtlCol="0" anchor="t"/>
          <a:lstStyle/>
          <a:p>
            <a:pPr indent="0" marL="0">
              <a:lnSpc>
                <a:spcPct val="115000"/>
              </a:lnSpc>
              <a:buNone/>
            </a:pPr>
            <a:r>
              <a:rPr lang="en-US" sz="1000" dirty="0">
                <a:solidFill>
                  <a:srgbClr val="444858"/>
                </a:solidFill>
                <a:latin typeface="Calibri" pitchFamily="34" charset="0"/>
                <a:ea typeface="Calibri" pitchFamily="34" charset="-122"/>
                <a:cs typeface="Calibri" pitchFamily="34" charset="-120"/>
              </a:rPr>
              <a:t>DART 전자공시(사업보고서/반기보고서/감사보고서)</a:t>
            </a:r>
            <a:endParaRPr lang="en-US" sz="1000" dirty="0"/>
          </a:p>
        </p:txBody>
      </p:sp>
      <p:sp>
        <p:nvSpPr>
          <p:cNvPr id="15" name="Text 13"/>
          <p:cNvSpPr/>
          <p:nvPr/>
        </p:nvSpPr>
        <p:spPr>
          <a:xfrm>
            <a:off x="9464040" y="2112264"/>
            <a:ext cx="2148840" cy="841248"/>
          </a:xfrm>
          <a:prstGeom prst="rect">
            <a:avLst/>
          </a:prstGeom>
          <a:noFill/>
          <a:ln/>
        </p:spPr>
        <p:txBody>
          <a:bodyPr wrap="square" lIns="0" tIns="0" rIns="0" bIns="0" rtlCol="0" anchor="t"/>
          <a:lstStyle/>
          <a:p>
            <a:pPr indent="0" marL="0">
              <a:lnSpc>
                <a:spcPct val="115000"/>
              </a:lnSpc>
              <a:buNone/>
            </a:pPr>
            <a:r>
              <a:rPr lang="en-US" sz="1000" dirty="0">
                <a:solidFill>
                  <a:srgbClr val="444858"/>
                </a:solidFill>
                <a:latin typeface="Calibri" pitchFamily="34" charset="0"/>
                <a:ea typeface="Calibri" pitchFamily="34" charset="-122"/>
                <a:cs typeface="Calibri" pitchFamily="34" charset="-120"/>
              </a:rPr>
              <a:t>회사 전체(연결 또는 별도) 기준 — 타이틀별 세분화 공시 없음</a:t>
            </a:r>
            <a:endParaRPr lang="en-US" sz="1000" dirty="0"/>
          </a:p>
        </p:txBody>
      </p:sp>
      <p:sp>
        <p:nvSpPr>
          <p:cNvPr id="16" name="Shape 14"/>
          <p:cNvSpPr/>
          <p:nvPr/>
        </p:nvSpPr>
        <p:spPr>
          <a:xfrm>
            <a:off x="548640" y="3063240"/>
            <a:ext cx="11109960" cy="950976"/>
          </a:xfrm>
          <a:prstGeom prst="rect">
            <a:avLst/>
          </a:prstGeom>
          <a:solidFill>
            <a:srgbClr val="FFFFFF"/>
          </a:solidFill>
          <a:ln/>
        </p:spPr>
      </p:sp>
      <p:sp>
        <p:nvSpPr>
          <p:cNvPr id="17" name="Text 15"/>
          <p:cNvSpPr/>
          <p:nvPr/>
        </p:nvSpPr>
        <p:spPr>
          <a:xfrm>
            <a:off x="548640" y="3118104"/>
            <a:ext cx="2057400" cy="841248"/>
          </a:xfrm>
          <a:prstGeom prst="rect">
            <a:avLst/>
          </a:prstGeom>
          <a:noFill/>
          <a:ln/>
        </p:spPr>
        <p:txBody>
          <a:bodyPr wrap="square" lIns="0" tIns="0" rIns="0" bIns="0" rtlCol="0" anchor="t"/>
          <a:lstStyle/>
          <a:p>
            <a:pPr indent="0" marL="0">
              <a:lnSpc>
                <a:spcPct val="115000"/>
              </a:lnSpc>
              <a:buNone/>
            </a:pPr>
            <a:r>
              <a:rPr lang="en-US" sz="1150" b="1" dirty="0">
                <a:solidFill>
                  <a:srgbClr val="1C1E29"/>
                </a:solidFill>
                <a:latin typeface="Calibri" pitchFamily="34" charset="0"/>
                <a:ea typeface="Calibri" pitchFamily="34" charset="-122"/>
                <a:cs typeface="Calibri" pitchFamily="34" charset="-120"/>
              </a:rPr>
              <a:t>매출액 · 영업이익 · 당기순이익</a:t>
            </a:r>
            <a:endParaRPr lang="en-US" sz="1150" dirty="0"/>
          </a:p>
        </p:txBody>
      </p:sp>
      <p:sp>
        <p:nvSpPr>
          <p:cNvPr id="18" name="Text 16"/>
          <p:cNvSpPr/>
          <p:nvPr/>
        </p:nvSpPr>
        <p:spPr>
          <a:xfrm>
            <a:off x="2834640" y="3118104"/>
            <a:ext cx="3794760" cy="841248"/>
          </a:xfrm>
          <a:prstGeom prst="rect">
            <a:avLst/>
          </a:prstGeom>
          <a:noFill/>
          <a:ln/>
        </p:spPr>
        <p:txBody>
          <a:bodyPr wrap="square" lIns="0" tIns="0" rIns="0" bIns="0" rtlCol="0" anchor="t"/>
          <a:lstStyle/>
          <a:p>
            <a:pPr indent="0" marL="0">
              <a:lnSpc>
                <a:spcPct val="115000"/>
              </a:lnSpc>
              <a:buNone/>
            </a:pPr>
            <a:r>
              <a:rPr lang="en-US" sz="1000" dirty="0">
                <a:solidFill>
                  <a:srgbClr val="444858"/>
                </a:solidFill>
                <a:latin typeface="Calibri" pitchFamily="34" charset="0"/>
                <a:ea typeface="Calibri" pitchFamily="34" charset="-122"/>
                <a:cs typeface="Calibri" pitchFamily="34" charset="-120"/>
              </a:rPr>
              <a:t>손익계산서 상 공시 수치</a:t>
            </a:r>
            <a:endParaRPr lang="en-US" sz="1000" dirty="0"/>
          </a:p>
        </p:txBody>
      </p:sp>
      <p:sp>
        <p:nvSpPr>
          <p:cNvPr id="19" name="Text 17"/>
          <p:cNvSpPr/>
          <p:nvPr/>
        </p:nvSpPr>
        <p:spPr>
          <a:xfrm>
            <a:off x="6903720" y="3118104"/>
            <a:ext cx="2240280" cy="841248"/>
          </a:xfrm>
          <a:prstGeom prst="rect">
            <a:avLst/>
          </a:prstGeom>
          <a:noFill/>
          <a:ln/>
        </p:spPr>
        <p:txBody>
          <a:bodyPr wrap="square" lIns="0" tIns="0" rIns="0" bIns="0" rtlCol="0" anchor="t"/>
          <a:lstStyle/>
          <a:p>
            <a:pPr indent="0" marL="0">
              <a:lnSpc>
                <a:spcPct val="115000"/>
              </a:lnSpc>
              <a:buNone/>
            </a:pPr>
            <a:r>
              <a:rPr lang="en-US" sz="1000" dirty="0">
                <a:solidFill>
                  <a:srgbClr val="444858"/>
                </a:solidFill>
                <a:latin typeface="Calibri" pitchFamily="34" charset="0"/>
                <a:ea typeface="Calibri" pitchFamily="34" charset="-122"/>
                <a:cs typeface="Calibri" pitchFamily="34" charset="-120"/>
              </a:rPr>
              <a:t>DART 전자공시</a:t>
            </a:r>
            <a:endParaRPr lang="en-US" sz="1000" dirty="0"/>
          </a:p>
        </p:txBody>
      </p:sp>
      <p:sp>
        <p:nvSpPr>
          <p:cNvPr id="20" name="Text 18"/>
          <p:cNvSpPr/>
          <p:nvPr/>
        </p:nvSpPr>
        <p:spPr>
          <a:xfrm>
            <a:off x="9464040" y="3118104"/>
            <a:ext cx="2148840" cy="841248"/>
          </a:xfrm>
          <a:prstGeom prst="rect">
            <a:avLst/>
          </a:prstGeom>
          <a:noFill/>
          <a:ln/>
        </p:spPr>
        <p:txBody>
          <a:bodyPr wrap="square" lIns="0" tIns="0" rIns="0" bIns="0" rtlCol="0" anchor="t"/>
          <a:lstStyle/>
          <a:p>
            <a:pPr indent="0" marL="0">
              <a:lnSpc>
                <a:spcPct val="115000"/>
              </a:lnSpc>
              <a:buNone/>
            </a:pPr>
            <a:r>
              <a:rPr lang="en-US" sz="1000" dirty="0">
                <a:solidFill>
                  <a:srgbClr val="444858"/>
                </a:solidFill>
                <a:latin typeface="Calibri" pitchFamily="34" charset="0"/>
                <a:ea typeface="Calibri" pitchFamily="34" charset="-122"/>
                <a:cs typeface="Calibri" pitchFamily="34" charset="-120"/>
              </a:rPr>
              <a:t>연결/별도 구분 필요, 자회사 실적은 별도 공시 확인</a:t>
            </a:r>
            <a:endParaRPr lang="en-US" sz="1000" dirty="0"/>
          </a:p>
        </p:txBody>
      </p:sp>
      <p:sp>
        <p:nvSpPr>
          <p:cNvPr id="21" name="Shape 19"/>
          <p:cNvSpPr/>
          <p:nvPr/>
        </p:nvSpPr>
        <p:spPr>
          <a:xfrm>
            <a:off x="548640" y="4069080"/>
            <a:ext cx="11109960" cy="950976"/>
          </a:xfrm>
          <a:prstGeom prst="rect">
            <a:avLst/>
          </a:prstGeom>
          <a:solidFill>
            <a:srgbClr val="FAFAFB"/>
          </a:solidFill>
          <a:ln/>
        </p:spPr>
      </p:sp>
      <p:sp>
        <p:nvSpPr>
          <p:cNvPr id="22" name="Text 20"/>
          <p:cNvSpPr/>
          <p:nvPr/>
        </p:nvSpPr>
        <p:spPr>
          <a:xfrm>
            <a:off x="548640" y="4123944"/>
            <a:ext cx="2057400" cy="841248"/>
          </a:xfrm>
          <a:prstGeom prst="rect">
            <a:avLst/>
          </a:prstGeom>
          <a:noFill/>
          <a:ln/>
        </p:spPr>
        <p:txBody>
          <a:bodyPr wrap="square" lIns="0" tIns="0" rIns="0" bIns="0" rtlCol="0" anchor="t"/>
          <a:lstStyle/>
          <a:p>
            <a:pPr indent="0" marL="0">
              <a:lnSpc>
                <a:spcPct val="115000"/>
              </a:lnSpc>
              <a:buNone/>
            </a:pPr>
            <a:r>
              <a:rPr lang="en-US" sz="1150" b="1" dirty="0">
                <a:solidFill>
                  <a:srgbClr val="1C1E29"/>
                </a:solidFill>
                <a:latin typeface="Calibri" pitchFamily="34" charset="0"/>
                <a:ea typeface="Calibri" pitchFamily="34" charset="-122"/>
                <a:cs typeface="Calibri" pitchFamily="34" charset="-120"/>
              </a:rPr>
              <a:t>매출순위 · 이용자순위</a:t>
            </a:r>
            <a:endParaRPr lang="en-US" sz="1150" dirty="0"/>
          </a:p>
        </p:txBody>
      </p:sp>
      <p:sp>
        <p:nvSpPr>
          <p:cNvPr id="23" name="Text 21"/>
          <p:cNvSpPr/>
          <p:nvPr/>
        </p:nvSpPr>
        <p:spPr>
          <a:xfrm>
            <a:off x="2834640" y="4123944"/>
            <a:ext cx="3794760" cy="841248"/>
          </a:xfrm>
          <a:prstGeom prst="rect">
            <a:avLst/>
          </a:prstGeom>
          <a:noFill/>
          <a:ln/>
        </p:spPr>
        <p:txBody>
          <a:bodyPr wrap="square" lIns="0" tIns="0" rIns="0" bIns="0" rtlCol="0" anchor="t"/>
          <a:lstStyle/>
          <a:p>
            <a:pPr indent="0" marL="0">
              <a:lnSpc>
                <a:spcPct val="115000"/>
              </a:lnSpc>
              <a:buNone/>
            </a:pPr>
            <a:r>
              <a:rPr lang="en-US" sz="1000" dirty="0">
                <a:solidFill>
                  <a:srgbClr val="444858"/>
                </a:solidFill>
                <a:latin typeface="Calibri" pitchFamily="34" charset="0"/>
                <a:ea typeface="Calibri" pitchFamily="34" charset="-122"/>
                <a:cs typeface="Calibri" pitchFamily="34" charset="-120"/>
              </a:rPr>
              <a:t>앱마켓 매출·이용자 지표 기준 주간 순위 (숫자가 낮을수록 상위)</a:t>
            </a:r>
            <a:endParaRPr lang="en-US" sz="1000" dirty="0"/>
          </a:p>
        </p:txBody>
      </p:sp>
      <p:sp>
        <p:nvSpPr>
          <p:cNvPr id="24" name="Text 22"/>
          <p:cNvSpPr/>
          <p:nvPr/>
        </p:nvSpPr>
        <p:spPr>
          <a:xfrm>
            <a:off x="6903720" y="4123944"/>
            <a:ext cx="2240280" cy="841248"/>
          </a:xfrm>
          <a:prstGeom prst="rect">
            <a:avLst/>
          </a:prstGeom>
          <a:noFill/>
          <a:ln/>
        </p:spPr>
        <p:txBody>
          <a:bodyPr wrap="square" lIns="0" tIns="0" rIns="0" bIns="0" rtlCol="0" anchor="t"/>
          <a:lstStyle/>
          <a:p>
            <a:pPr indent="0" marL="0">
              <a:lnSpc>
                <a:spcPct val="115000"/>
              </a:lnSpc>
              <a:buNone/>
            </a:pPr>
            <a:r>
              <a:rPr lang="en-US" sz="1000" dirty="0">
                <a:solidFill>
                  <a:srgbClr val="444858"/>
                </a:solidFill>
                <a:latin typeface="Calibri" pitchFamily="34" charset="0"/>
                <a:ea typeface="Calibri" pitchFamily="34" charset="-122"/>
                <a:cs typeface="Calibri" pitchFamily="34" charset="-120"/>
              </a:rPr>
              <a:t>mobileindex.com 주간 캡처</a:t>
            </a:r>
            <a:endParaRPr lang="en-US" sz="1000" dirty="0"/>
          </a:p>
        </p:txBody>
      </p:sp>
      <p:sp>
        <p:nvSpPr>
          <p:cNvPr id="25" name="Text 23"/>
          <p:cNvSpPr/>
          <p:nvPr/>
        </p:nvSpPr>
        <p:spPr>
          <a:xfrm>
            <a:off x="9464040" y="4123944"/>
            <a:ext cx="2148840" cy="841248"/>
          </a:xfrm>
          <a:prstGeom prst="rect">
            <a:avLst/>
          </a:prstGeom>
          <a:noFill/>
          <a:ln/>
        </p:spPr>
        <p:txBody>
          <a:bodyPr wrap="square" lIns="0" tIns="0" rIns="0" bIns="0" rtlCol="0" anchor="t"/>
          <a:lstStyle/>
          <a:p>
            <a:pPr indent="0" marL="0">
              <a:lnSpc>
                <a:spcPct val="115000"/>
              </a:lnSpc>
              <a:buNone/>
            </a:pPr>
            <a:r>
              <a:rPr lang="en-US" sz="1000" dirty="0">
                <a:solidFill>
                  <a:srgbClr val="444858"/>
                </a:solidFill>
                <a:latin typeface="Calibri" pitchFamily="34" charset="0"/>
                <a:ea typeface="Calibri" pitchFamily="34" charset="-122"/>
                <a:cs typeface="Calibri" pitchFamily="34" charset="-120"/>
              </a:rPr>
              <a:t>특정 시점 스냅샷 — 실시간 API 연동 아님</a:t>
            </a:r>
            <a:endParaRPr lang="en-US" sz="1000" dirty="0"/>
          </a:p>
        </p:txBody>
      </p:sp>
      <p:sp>
        <p:nvSpPr>
          <p:cNvPr id="26" name="Shape 24"/>
          <p:cNvSpPr/>
          <p:nvPr/>
        </p:nvSpPr>
        <p:spPr>
          <a:xfrm>
            <a:off x="548640" y="5074920"/>
            <a:ext cx="11109960" cy="950976"/>
          </a:xfrm>
          <a:prstGeom prst="rect">
            <a:avLst/>
          </a:prstGeom>
          <a:solidFill>
            <a:srgbClr val="FFFFFF"/>
          </a:solidFill>
          <a:ln/>
        </p:spPr>
      </p:sp>
      <p:sp>
        <p:nvSpPr>
          <p:cNvPr id="27" name="Text 25"/>
          <p:cNvSpPr/>
          <p:nvPr/>
        </p:nvSpPr>
        <p:spPr>
          <a:xfrm>
            <a:off x="548640" y="5129784"/>
            <a:ext cx="2057400" cy="841248"/>
          </a:xfrm>
          <a:prstGeom prst="rect">
            <a:avLst/>
          </a:prstGeom>
          <a:noFill/>
          <a:ln/>
        </p:spPr>
        <p:txBody>
          <a:bodyPr wrap="square" lIns="0" tIns="0" rIns="0" bIns="0" rtlCol="0" anchor="t"/>
          <a:lstStyle/>
          <a:p>
            <a:pPr indent="0" marL="0">
              <a:lnSpc>
                <a:spcPct val="115000"/>
              </a:lnSpc>
              <a:buNone/>
            </a:pPr>
            <a:r>
              <a:rPr lang="en-US" sz="1150" b="1" dirty="0">
                <a:solidFill>
                  <a:srgbClr val="1C1E29"/>
                </a:solidFill>
                <a:latin typeface="Calibri" pitchFamily="34" charset="0"/>
                <a:ea typeface="Calibri" pitchFamily="34" charset="-122"/>
                <a:cs typeface="Calibri" pitchFamily="34" charset="-120"/>
              </a:rPr>
              <a:t>UA 활성 소재수 · 노출 플랫폼수</a:t>
            </a:r>
            <a:endParaRPr lang="en-US" sz="1150" dirty="0"/>
          </a:p>
        </p:txBody>
      </p:sp>
      <p:sp>
        <p:nvSpPr>
          <p:cNvPr id="28" name="Text 26"/>
          <p:cNvSpPr/>
          <p:nvPr/>
        </p:nvSpPr>
        <p:spPr>
          <a:xfrm>
            <a:off x="2834640" y="5129784"/>
            <a:ext cx="3794760" cy="841248"/>
          </a:xfrm>
          <a:prstGeom prst="rect">
            <a:avLst/>
          </a:prstGeom>
          <a:noFill/>
          <a:ln/>
        </p:spPr>
        <p:txBody>
          <a:bodyPr wrap="square" lIns="0" tIns="0" rIns="0" bIns="0" rtlCol="0" anchor="t"/>
          <a:lstStyle/>
          <a:p>
            <a:pPr indent="0" marL="0">
              <a:lnSpc>
                <a:spcPct val="115000"/>
              </a:lnSpc>
              <a:buNone/>
            </a:pPr>
            <a:r>
              <a:rPr lang="en-US" sz="1000" dirty="0">
                <a:solidFill>
                  <a:srgbClr val="444858"/>
                </a:solidFill>
                <a:latin typeface="Calibri" pitchFamily="34" charset="0"/>
                <a:ea typeface="Calibri" pitchFamily="34" charset="-122"/>
                <a:cs typeface="Calibri" pitchFamily="34" charset="-120"/>
              </a:rPr>
              <a:t>특정 시점(2026.08.26)에 '활성' 상태로 확인된 광고 소재 개수 및 노출 채널 수(FB·IG·오디언스네트워크·메신저·왓츠앱·스레드)</a:t>
            </a:r>
            <a:endParaRPr lang="en-US" sz="1000" dirty="0"/>
          </a:p>
        </p:txBody>
      </p:sp>
      <p:sp>
        <p:nvSpPr>
          <p:cNvPr id="29" name="Text 27"/>
          <p:cNvSpPr/>
          <p:nvPr/>
        </p:nvSpPr>
        <p:spPr>
          <a:xfrm>
            <a:off x="6903720" y="5129784"/>
            <a:ext cx="2240280" cy="841248"/>
          </a:xfrm>
          <a:prstGeom prst="rect">
            <a:avLst/>
          </a:prstGeom>
          <a:noFill/>
          <a:ln/>
        </p:spPr>
        <p:txBody>
          <a:bodyPr wrap="square" lIns="0" tIns="0" rIns="0" bIns="0" rtlCol="0" anchor="t"/>
          <a:lstStyle/>
          <a:p>
            <a:pPr indent="0" marL="0">
              <a:lnSpc>
                <a:spcPct val="115000"/>
              </a:lnSpc>
              <a:buNone/>
            </a:pPr>
            <a:r>
              <a:rPr lang="en-US" sz="1000" dirty="0">
                <a:solidFill>
                  <a:srgbClr val="444858"/>
                </a:solidFill>
                <a:latin typeface="Calibri" pitchFamily="34" charset="0"/>
                <a:ea typeface="Calibri" pitchFamily="34" charset="-122"/>
                <a:cs typeface="Calibri" pitchFamily="34" charset="-120"/>
              </a:rPr>
              <a:t>Meta 광고 라이브러리 수기 캡처</a:t>
            </a:r>
            <a:endParaRPr lang="en-US" sz="1000" dirty="0"/>
          </a:p>
        </p:txBody>
      </p:sp>
      <p:sp>
        <p:nvSpPr>
          <p:cNvPr id="30" name="Text 28"/>
          <p:cNvSpPr/>
          <p:nvPr/>
        </p:nvSpPr>
        <p:spPr>
          <a:xfrm>
            <a:off x="9464040" y="5129784"/>
            <a:ext cx="2148840" cy="841248"/>
          </a:xfrm>
          <a:prstGeom prst="rect">
            <a:avLst/>
          </a:prstGeom>
          <a:noFill/>
          <a:ln/>
        </p:spPr>
        <p:txBody>
          <a:bodyPr wrap="square" lIns="0" tIns="0" rIns="0" bIns="0" rtlCol="0" anchor="t"/>
          <a:lstStyle/>
          <a:p>
            <a:pPr indent="0" marL="0">
              <a:lnSpc>
                <a:spcPct val="115000"/>
              </a:lnSpc>
              <a:buNone/>
            </a:pPr>
            <a:r>
              <a:rPr lang="en-US" sz="1000" dirty="0">
                <a:solidFill>
                  <a:srgbClr val="444858"/>
                </a:solidFill>
                <a:latin typeface="Calibri" pitchFamily="34" charset="0"/>
                <a:ea typeface="Calibri" pitchFamily="34" charset="-122"/>
                <a:cs typeface="Calibri" pitchFamily="34" charset="-120"/>
              </a:rPr>
              <a:t>종료된 과거 캠페인 및 비Meta 채널(스팀·커뮤니티 등)은 미포함</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lIns="0" tIns="0" rIns="0" bIns="0" rtlCol="0" anchor="ctr"/>
          <a:lstStyle/>
          <a:p>
            <a:pPr indent="0" marL="0">
              <a:buNone/>
            </a:pPr>
            <a:r>
              <a:rPr lang="en-US" sz="1250" b="1" spc="200" kern="0" dirty="0">
                <a:solidFill>
                  <a:srgbClr val="F0692B"/>
                </a:solidFill>
                <a:latin typeface="Calibri" pitchFamily="34" charset="0"/>
                <a:ea typeface="Calibri" pitchFamily="34" charset="-122"/>
                <a:cs typeface="Calibri" pitchFamily="34" charset="-120"/>
              </a:rPr>
              <a:t>00 · METRIC GLOSSARY</a:t>
            </a:r>
            <a:endParaRPr lang="en-US" sz="1250" dirty="0"/>
          </a:p>
        </p:txBody>
      </p:sp>
      <p:sp>
        <p:nvSpPr>
          <p:cNvPr id="3" name="Text 1"/>
          <p:cNvSpPr/>
          <p:nvPr/>
        </p:nvSpPr>
        <p:spPr>
          <a:xfrm>
            <a:off x="548640" y="749808"/>
            <a:ext cx="10789920" cy="640080"/>
          </a:xfrm>
          <a:prstGeom prst="rect">
            <a:avLst/>
          </a:prstGeom>
          <a:noFill/>
          <a:ln/>
        </p:spPr>
        <p:txBody>
          <a:bodyPr wrap="square" lIns="0" tIns="0" rIns="0" bIns="0" rtlCol="0" anchor="ctr"/>
          <a:lstStyle/>
          <a:p>
            <a:pPr indent="0" marL="0">
              <a:buNone/>
            </a:pPr>
            <a:r>
              <a:rPr lang="en-US" sz="2800" b="1" dirty="0">
                <a:solidFill>
                  <a:srgbClr val="1C1E29"/>
                </a:solidFill>
                <a:latin typeface="Cambria" pitchFamily="34" charset="0"/>
                <a:ea typeface="Cambria" pitchFamily="34" charset="-122"/>
                <a:cs typeface="Cambria" pitchFamily="34" charset="-120"/>
              </a:rPr>
              <a:t>지표 정의서 ② — 추정·프록시 지표 (추정 CPI 포함)</a:t>
            </a:r>
            <a:endParaRPr lang="en-US" sz="2800" dirty="0"/>
          </a:p>
        </p:txBody>
      </p:sp>
      <p:sp>
        <p:nvSpPr>
          <p:cNvPr id="4" name="Text 2"/>
          <p:cNvSpPr/>
          <p:nvPr/>
        </p:nvSpPr>
        <p:spPr>
          <a:xfrm>
            <a:off x="11365992" y="6446520"/>
            <a:ext cx="548640" cy="274320"/>
          </a:xfrm>
          <a:prstGeom prst="rect">
            <a:avLst/>
          </a:prstGeom>
          <a:noFill/>
          <a:ln/>
        </p:spPr>
        <p:txBody>
          <a:bodyPr wrap="square" lIns="0" tIns="0" rIns="0" bIns="0" rtlCol="0" anchor="ctr"/>
          <a:lstStyle/>
          <a:p>
            <a:pPr algn="r" indent="0" marL="0">
              <a:buNone/>
            </a:pPr>
            <a:r>
              <a:rPr lang="en-US" sz="900" dirty="0">
                <a:solidFill>
                  <a:srgbClr val="A8ABB8"/>
                </a:solidFill>
                <a:latin typeface="Calibri" pitchFamily="34" charset="0"/>
                <a:ea typeface="Calibri" pitchFamily="34" charset="-122"/>
                <a:cs typeface="Calibri" pitchFamily="34" charset="-120"/>
              </a:rPr>
              <a:t>06</a:t>
            </a:r>
            <a:endParaRPr lang="en-US" sz="900" dirty="0"/>
          </a:p>
        </p:txBody>
      </p:sp>
      <p:sp>
        <p:nvSpPr>
          <p:cNvPr id="5" name="Shape 3"/>
          <p:cNvSpPr/>
          <p:nvPr/>
        </p:nvSpPr>
        <p:spPr>
          <a:xfrm>
            <a:off x="548640" y="1600200"/>
            <a:ext cx="11109960" cy="1234440"/>
          </a:xfrm>
          <a:prstGeom prst="roundRect">
            <a:avLst>
              <a:gd name="adj" fmla="val 5185"/>
            </a:avLst>
          </a:prstGeom>
          <a:solidFill>
            <a:srgbClr val="FBEAEC"/>
          </a:solidFill>
          <a:ln w="12700">
            <a:solidFill>
              <a:srgbClr val="F0C7CC"/>
            </a:solidFill>
            <a:prstDash val="solid"/>
          </a:ln>
        </p:spPr>
      </p:sp>
      <p:sp>
        <p:nvSpPr>
          <p:cNvPr id="6" name="Text 4"/>
          <p:cNvSpPr/>
          <p:nvPr/>
        </p:nvSpPr>
        <p:spPr>
          <a:xfrm>
            <a:off x="822960" y="1737360"/>
            <a:ext cx="10515600" cy="292608"/>
          </a:xfrm>
          <a:prstGeom prst="rect">
            <a:avLst/>
          </a:prstGeom>
          <a:noFill/>
          <a:ln/>
        </p:spPr>
        <p:txBody>
          <a:bodyPr wrap="square" lIns="0" tIns="0" rIns="0" bIns="0" rtlCol="0" anchor="ctr"/>
          <a:lstStyle/>
          <a:p>
            <a:pPr indent="0" marL="0">
              <a:buNone/>
            </a:pPr>
            <a:r>
              <a:rPr lang="en-US" sz="1250" b="1" dirty="0">
                <a:solidFill>
                  <a:srgbClr val="8B2635"/>
                </a:solidFill>
                <a:latin typeface="Calibri" pitchFamily="34" charset="0"/>
                <a:ea typeface="Calibri" pitchFamily="34" charset="-122"/>
                <a:cs typeface="Calibri" pitchFamily="34" charset="-120"/>
              </a:rPr>
              <a:t>왜 '실제 CPI(설치당 비용)'는 이 보고서에 없는가</a:t>
            </a:r>
            <a:endParaRPr lang="en-US" sz="1250" dirty="0"/>
          </a:p>
        </p:txBody>
      </p:sp>
      <p:sp>
        <p:nvSpPr>
          <p:cNvPr id="7" name="Text 5"/>
          <p:cNvSpPr/>
          <p:nvPr/>
        </p:nvSpPr>
        <p:spPr>
          <a:xfrm>
            <a:off x="822960" y="2048256"/>
            <a:ext cx="10515600" cy="731520"/>
          </a:xfrm>
          <a:prstGeom prst="rect">
            <a:avLst/>
          </a:prstGeom>
          <a:noFill/>
          <a:ln/>
        </p:spPr>
        <p:txBody>
          <a:bodyPr wrap="square" lIns="0" tIns="0" rIns="0" bIns="0" rtlCol="0" anchor="ctr"/>
          <a:lstStyle/>
          <a:p>
            <a:pPr indent="0" marL="0">
              <a:lnSpc>
                <a:spcPct val="125000"/>
              </a:lnSpc>
              <a:buNone/>
            </a:pPr>
            <a:r>
              <a:rPr lang="en-US" sz="1080" dirty="0">
                <a:solidFill>
                  <a:srgbClr val="5A2530"/>
                </a:solidFill>
                <a:latin typeface="Calibri" pitchFamily="34" charset="0"/>
                <a:ea typeface="Calibri" pitchFamily="34" charset="-122"/>
                <a:cs typeface="Calibri" pitchFamily="34" charset="-120"/>
              </a:rPr>
              <a:t>CPI = 광고비 ÷ 신규 설치(다운로드)수. 그러나 어느 공시자료·수집자료에도 타이틀별 설치수·유저획득비용은 공개되어 있지 않습니다(각사 비공개 마케팅 KPI). 광고선전비는 회사 전체 합산치이고 설치수 자체가 없어, 원화 단위의 CPI를 계산하면 사실과 다른 값을 만들어낼 위험이 있어 산출하지 않았습니다. 대신 아래 2개의 대체 지표로 같은 질문(“UA가 효율적이었는가”)에 답합니다.</a:t>
            </a:r>
            <a:endParaRPr lang="en-US" sz="1080" dirty="0"/>
          </a:p>
        </p:txBody>
      </p:sp>
      <p:sp>
        <p:nvSpPr>
          <p:cNvPr id="8" name="Shape 6"/>
          <p:cNvSpPr/>
          <p:nvPr/>
        </p:nvSpPr>
        <p:spPr>
          <a:xfrm>
            <a:off x="548640" y="3044952"/>
            <a:ext cx="11109960" cy="365760"/>
          </a:xfrm>
          <a:prstGeom prst="roundRect">
            <a:avLst>
              <a:gd name="adj" fmla="val 10000"/>
            </a:avLst>
          </a:prstGeom>
          <a:solidFill>
            <a:srgbClr val="1D2030"/>
          </a:solidFill>
          <a:ln/>
        </p:spPr>
      </p:sp>
      <p:sp>
        <p:nvSpPr>
          <p:cNvPr id="9" name="Text 7"/>
          <p:cNvSpPr/>
          <p:nvPr/>
        </p:nvSpPr>
        <p:spPr>
          <a:xfrm>
            <a:off x="548640" y="3044952"/>
            <a:ext cx="2377440" cy="365760"/>
          </a:xfrm>
          <a:prstGeom prst="rect">
            <a:avLst/>
          </a:prstGeom>
          <a:noFill/>
          <a:ln/>
        </p:spPr>
        <p:txBody>
          <a:bodyPr wrap="square" lIns="0" tIns="0" rIns="0" bIns="0" rtlCol="0" anchor="ctr"/>
          <a:lstStyle/>
          <a:p>
            <a:pPr indent="0" marL="0">
              <a:buNone/>
            </a:pPr>
            <a:r>
              <a:rPr lang="en-US" sz="1050" b="1" dirty="0">
                <a:solidFill>
                  <a:srgbClr val="E8B84B"/>
                </a:solidFill>
                <a:latin typeface="Calibri" pitchFamily="34" charset="0"/>
                <a:ea typeface="Calibri" pitchFamily="34" charset="-122"/>
                <a:cs typeface="Calibri" pitchFamily="34" charset="-120"/>
              </a:rPr>
              <a:t>지표명</a:t>
            </a:r>
            <a:endParaRPr lang="en-US" sz="1050" dirty="0"/>
          </a:p>
        </p:txBody>
      </p:sp>
      <p:sp>
        <p:nvSpPr>
          <p:cNvPr id="10" name="Text 8"/>
          <p:cNvSpPr/>
          <p:nvPr/>
        </p:nvSpPr>
        <p:spPr>
          <a:xfrm>
            <a:off x="3017520" y="3044952"/>
            <a:ext cx="3566160" cy="365760"/>
          </a:xfrm>
          <a:prstGeom prst="rect">
            <a:avLst/>
          </a:prstGeom>
          <a:noFill/>
          <a:ln/>
        </p:spPr>
        <p:txBody>
          <a:bodyPr wrap="square" lIns="0" tIns="0" rIns="0" bIns="0" rtlCol="0" anchor="ctr"/>
          <a:lstStyle/>
          <a:p>
            <a:pPr indent="0" marL="0">
              <a:buNone/>
            </a:pPr>
            <a:r>
              <a:rPr lang="en-US" sz="1050" b="1" dirty="0">
                <a:solidFill>
                  <a:srgbClr val="E8B84B"/>
                </a:solidFill>
                <a:latin typeface="Calibri" pitchFamily="34" charset="0"/>
                <a:ea typeface="Calibri" pitchFamily="34" charset="-122"/>
                <a:cs typeface="Calibri" pitchFamily="34" charset="-120"/>
              </a:rPr>
              <a:t>산출식</a:t>
            </a:r>
            <a:endParaRPr lang="en-US" sz="1050" dirty="0"/>
          </a:p>
        </p:txBody>
      </p:sp>
      <p:sp>
        <p:nvSpPr>
          <p:cNvPr id="11" name="Text 9"/>
          <p:cNvSpPr/>
          <p:nvPr/>
        </p:nvSpPr>
        <p:spPr>
          <a:xfrm>
            <a:off x="6766560" y="3044952"/>
            <a:ext cx="2423160" cy="365760"/>
          </a:xfrm>
          <a:prstGeom prst="rect">
            <a:avLst/>
          </a:prstGeom>
          <a:noFill/>
          <a:ln/>
        </p:spPr>
        <p:txBody>
          <a:bodyPr wrap="square" lIns="0" tIns="0" rIns="0" bIns="0" rtlCol="0" anchor="ctr"/>
          <a:lstStyle/>
          <a:p>
            <a:pPr indent="0" marL="0">
              <a:buNone/>
            </a:pPr>
            <a:r>
              <a:rPr lang="en-US" sz="1050" b="1" dirty="0">
                <a:solidFill>
                  <a:srgbClr val="E8B84B"/>
                </a:solidFill>
                <a:latin typeface="Calibri" pitchFamily="34" charset="0"/>
                <a:ea typeface="Calibri" pitchFamily="34" charset="-122"/>
                <a:cs typeface="Calibri" pitchFamily="34" charset="-120"/>
              </a:rPr>
              <a:t>근거 데이터</a:t>
            </a:r>
            <a:endParaRPr lang="en-US" sz="1050" dirty="0"/>
          </a:p>
        </p:txBody>
      </p:sp>
      <p:sp>
        <p:nvSpPr>
          <p:cNvPr id="12" name="Text 10"/>
          <p:cNvSpPr/>
          <p:nvPr/>
        </p:nvSpPr>
        <p:spPr>
          <a:xfrm>
            <a:off x="9326880" y="3044952"/>
            <a:ext cx="2423160" cy="365760"/>
          </a:xfrm>
          <a:prstGeom prst="rect">
            <a:avLst/>
          </a:prstGeom>
          <a:noFill/>
          <a:ln/>
        </p:spPr>
        <p:txBody>
          <a:bodyPr wrap="square" lIns="0" tIns="0" rIns="0" bIns="0" rtlCol="0" anchor="ctr"/>
          <a:lstStyle/>
          <a:p>
            <a:pPr indent="0" marL="0">
              <a:buNone/>
            </a:pPr>
            <a:r>
              <a:rPr lang="en-US" sz="1050" b="1" dirty="0">
                <a:solidFill>
                  <a:srgbClr val="E8B84B"/>
                </a:solidFill>
                <a:latin typeface="Calibri" pitchFamily="34" charset="0"/>
                <a:ea typeface="Calibri" pitchFamily="34" charset="-122"/>
                <a:cs typeface="Calibri" pitchFamily="34" charset="-120"/>
              </a:rPr>
              <a:t>한계·주의사항</a:t>
            </a:r>
            <a:endParaRPr lang="en-US" sz="1050" dirty="0"/>
          </a:p>
        </p:txBody>
      </p:sp>
      <p:sp>
        <p:nvSpPr>
          <p:cNvPr id="13" name="Shape 11"/>
          <p:cNvSpPr/>
          <p:nvPr/>
        </p:nvSpPr>
        <p:spPr>
          <a:xfrm>
            <a:off x="548640" y="3429000"/>
            <a:ext cx="11109960" cy="996696"/>
          </a:xfrm>
          <a:prstGeom prst="rect">
            <a:avLst/>
          </a:prstGeom>
          <a:solidFill>
            <a:srgbClr val="FAFAFB"/>
          </a:solidFill>
          <a:ln/>
        </p:spPr>
      </p:sp>
      <p:sp>
        <p:nvSpPr>
          <p:cNvPr id="14" name="Text 12"/>
          <p:cNvSpPr/>
          <p:nvPr/>
        </p:nvSpPr>
        <p:spPr>
          <a:xfrm>
            <a:off x="548640" y="3483864"/>
            <a:ext cx="2240280" cy="886968"/>
          </a:xfrm>
          <a:prstGeom prst="rect">
            <a:avLst/>
          </a:prstGeom>
          <a:noFill/>
          <a:ln/>
        </p:spPr>
        <p:txBody>
          <a:bodyPr wrap="square" lIns="0" tIns="0" rIns="0" bIns="0" rtlCol="0" anchor="t"/>
          <a:lstStyle/>
          <a:p>
            <a:pPr indent="0" marL="0">
              <a:lnSpc>
                <a:spcPct val="115000"/>
              </a:lnSpc>
              <a:buNone/>
            </a:pPr>
            <a:r>
              <a:rPr lang="en-US" sz="1100" b="1" dirty="0">
                <a:solidFill>
                  <a:srgbClr val="1C1E29"/>
                </a:solidFill>
                <a:latin typeface="Calibri" pitchFamily="34" charset="0"/>
                <a:ea typeface="Calibri" pitchFamily="34" charset="-122"/>
                <a:cs typeface="Calibri" pitchFamily="34" charset="-120"/>
              </a:rPr>
              <a:t>UA 노출강도 지수</a:t>
            </a:r>
            <a:endParaRPr lang="en-US" sz="1100" dirty="0"/>
          </a:p>
        </p:txBody>
      </p:sp>
      <p:sp>
        <p:nvSpPr>
          <p:cNvPr id="15" name="Text 13"/>
          <p:cNvSpPr/>
          <p:nvPr/>
        </p:nvSpPr>
        <p:spPr>
          <a:xfrm>
            <a:off x="3017520" y="3483864"/>
            <a:ext cx="3429000" cy="886968"/>
          </a:xfrm>
          <a:prstGeom prst="rect">
            <a:avLst/>
          </a:prstGeom>
          <a:noFill/>
          <a:ln/>
        </p:spPr>
        <p:txBody>
          <a:bodyPr wrap="square" lIns="0" tIns="0" rIns="0" bIns="0" rtlCol="0" anchor="t"/>
          <a:lstStyle/>
          <a:p>
            <a:pPr indent="0" marL="0">
              <a:lnSpc>
                <a:spcPct val="115000"/>
              </a:lnSpc>
              <a:buNone/>
            </a:pPr>
            <a:r>
              <a:rPr lang="en-US" sz="980" dirty="0">
                <a:solidFill>
                  <a:srgbClr val="444858"/>
                </a:solidFill>
                <a:latin typeface="Calibri" pitchFamily="34" charset="0"/>
                <a:ea typeface="Calibri" pitchFamily="34" charset="-122"/>
                <a:cs typeface="Calibri" pitchFamily="34" charset="-120"/>
              </a:rPr>
              <a:t>활성 소재수 × 평균 노출 플랫폼수</a:t>
            </a:r>
            <a:endParaRPr lang="en-US" sz="980" dirty="0"/>
          </a:p>
        </p:txBody>
      </p:sp>
      <p:sp>
        <p:nvSpPr>
          <p:cNvPr id="16" name="Text 14"/>
          <p:cNvSpPr/>
          <p:nvPr/>
        </p:nvSpPr>
        <p:spPr>
          <a:xfrm>
            <a:off x="6766560" y="3483864"/>
            <a:ext cx="2286000" cy="886968"/>
          </a:xfrm>
          <a:prstGeom prst="rect">
            <a:avLst/>
          </a:prstGeom>
          <a:noFill/>
          <a:ln/>
        </p:spPr>
        <p:txBody>
          <a:bodyPr wrap="square" lIns="0" tIns="0" rIns="0" bIns="0" rtlCol="0" anchor="t"/>
          <a:lstStyle/>
          <a:p>
            <a:pPr indent="0" marL="0">
              <a:lnSpc>
                <a:spcPct val="115000"/>
              </a:lnSpc>
              <a:buNone/>
            </a:pPr>
            <a:r>
              <a:rPr lang="en-US" sz="980" dirty="0">
                <a:solidFill>
                  <a:srgbClr val="444858"/>
                </a:solidFill>
                <a:latin typeface="Calibri" pitchFamily="34" charset="0"/>
                <a:ea typeface="Calibri" pitchFamily="34" charset="-122"/>
                <a:cs typeface="Calibri" pitchFamily="34" charset="-120"/>
              </a:rPr>
              <a:t>Meta 광고 라이브러리 활성 소재수, 노출 플랫폼수 (지표① 참조)</a:t>
            </a:r>
            <a:endParaRPr lang="en-US" sz="980" dirty="0"/>
          </a:p>
        </p:txBody>
      </p:sp>
      <p:sp>
        <p:nvSpPr>
          <p:cNvPr id="17" name="Text 15"/>
          <p:cNvSpPr/>
          <p:nvPr/>
        </p:nvSpPr>
        <p:spPr>
          <a:xfrm>
            <a:off x="9326880" y="3483864"/>
            <a:ext cx="2286000" cy="886968"/>
          </a:xfrm>
          <a:prstGeom prst="rect">
            <a:avLst/>
          </a:prstGeom>
          <a:noFill/>
          <a:ln/>
        </p:spPr>
        <p:txBody>
          <a:bodyPr wrap="square" lIns="0" tIns="0" rIns="0" bIns="0" rtlCol="0" anchor="t"/>
          <a:lstStyle/>
          <a:p>
            <a:pPr indent="0" marL="0">
              <a:lnSpc>
                <a:spcPct val="115000"/>
              </a:lnSpc>
              <a:buNone/>
            </a:pPr>
            <a:r>
              <a:rPr lang="en-US" sz="980" dirty="0">
                <a:solidFill>
                  <a:srgbClr val="444858"/>
                </a:solidFill>
                <a:latin typeface="Calibri" pitchFamily="34" charset="0"/>
                <a:ea typeface="Calibri" pitchFamily="34" charset="-122"/>
                <a:cs typeface="Calibri" pitchFamily="34" charset="-120"/>
              </a:rPr>
              <a:t>실제 지출액이 아닌 '물량×도달범위'의 상대 강도. 절대 금액과는 무관</a:t>
            </a:r>
            <a:endParaRPr lang="en-US" sz="980" dirty="0"/>
          </a:p>
        </p:txBody>
      </p:sp>
      <p:sp>
        <p:nvSpPr>
          <p:cNvPr id="18" name="Shape 16"/>
          <p:cNvSpPr/>
          <p:nvPr/>
        </p:nvSpPr>
        <p:spPr>
          <a:xfrm>
            <a:off x="548640" y="4480560"/>
            <a:ext cx="11109960" cy="996696"/>
          </a:xfrm>
          <a:prstGeom prst="rect">
            <a:avLst/>
          </a:prstGeom>
          <a:solidFill>
            <a:srgbClr val="FFFFFF"/>
          </a:solidFill>
          <a:ln/>
        </p:spPr>
      </p:sp>
      <p:sp>
        <p:nvSpPr>
          <p:cNvPr id="19" name="Text 17"/>
          <p:cNvSpPr/>
          <p:nvPr/>
        </p:nvSpPr>
        <p:spPr>
          <a:xfrm>
            <a:off x="548640" y="4535424"/>
            <a:ext cx="2240280" cy="886968"/>
          </a:xfrm>
          <a:prstGeom prst="rect">
            <a:avLst/>
          </a:prstGeom>
          <a:noFill/>
          <a:ln/>
        </p:spPr>
        <p:txBody>
          <a:bodyPr wrap="square" lIns="0" tIns="0" rIns="0" bIns="0" rtlCol="0" anchor="t"/>
          <a:lstStyle/>
          <a:p>
            <a:pPr indent="0" marL="0">
              <a:lnSpc>
                <a:spcPct val="115000"/>
              </a:lnSpc>
              <a:buNone/>
            </a:pPr>
            <a:r>
              <a:rPr lang="en-US" sz="1100" b="1" dirty="0">
                <a:solidFill>
                  <a:srgbClr val="1C1E29"/>
                </a:solidFill>
                <a:latin typeface="Calibri" pitchFamily="34" charset="0"/>
                <a:ea typeface="Calibri" pitchFamily="34" charset="-122"/>
                <a:cs typeface="Calibri" pitchFamily="34" charset="-120"/>
              </a:rPr>
              <a:t>광고비 YoY 증감률</a:t>
            </a:r>
            <a:endParaRPr lang="en-US" sz="1100" dirty="0"/>
          </a:p>
        </p:txBody>
      </p:sp>
      <p:sp>
        <p:nvSpPr>
          <p:cNvPr id="20" name="Text 18"/>
          <p:cNvSpPr/>
          <p:nvPr/>
        </p:nvSpPr>
        <p:spPr>
          <a:xfrm>
            <a:off x="3017520" y="4535424"/>
            <a:ext cx="3429000" cy="886968"/>
          </a:xfrm>
          <a:prstGeom prst="rect">
            <a:avLst/>
          </a:prstGeom>
          <a:noFill/>
          <a:ln/>
        </p:spPr>
        <p:txBody>
          <a:bodyPr wrap="square" lIns="0" tIns="0" rIns="0" bIns="0" rtlCol="0" anchor="t"/>
          <a:lstStyle/>
          <a:p>
            <a:pPr indent="0" marL="0">
              <a:lnSpc>
                <a:spcPct val="115000"/>
              </a:lnSpc>
              <a:buNone/>
            </a:pPr>
            <a:r>
              <a:rPr lang="en-US" sz="980" dirty="0">
                <a:solidFill>
                  <a:srgbClr val="444858"/>
                </a:solidFill>
                <a:latin typeface="Calibri" pitchFamily="34" charset="0"/>
                <a:ea typeface="Calibri" pitchFamily="34" charset="-122"/>
                <a:cs typeface="Calibri" pitchFamily="34" charset="-120"/>
              </a:rPr>
              <a:t>(당기 광고선전비 − 전기 광고선전비) ÷ 전기 광고선전비</a:t>
            </a:r>
            <a:endParaRPr lang="en-US" sz="980" dirty="0"/>
          </a:p>
        </p:txBody>
      </p:sp>
      <p:sp>
        <p:nvSpPr>
          <p:cNvPr id="21" name="Text 19"/>
          <p:cNvSpPr/>
          <p:nvPr/>
        </p:nvSpPr>
        <p:spPr>
          <a:xfrm>
            <a:off x="6766560" y="4535424"/>
            <a:ext cx="2286000" cy="886968"/>
          </a:xfrm>
          <a:prstGeom prst="rect">
            <a:avLst/>
          </a:prstGeom>
          <a:noFill/>
          <a:ln/>
        </p:spPr>
        <p:txBody>
          <a:bodyPr wrap="square" lIns="0" tIns="0" rIns="0" bIns="0" rtlCol="0" anchor="t"/>
          <a:lstStyle/>
          <a:p>
            <a:pPr indent="0" marL="0">
              <a:lnSpc>
                <a:spcPct val="115000"/>
              </a:lnSpc>
              <a:buNone/>
            </a:pPr>
            <a:r>
              <a:rPr lang="en-US" sz="980" dirty="0">
                <a:solidFill>
                  <a:srgbClr val="444858"/>
                </a:solidFill>
                <a:latin typeface="Calibri" pitchFamily="34" charset="0"/>
                <a:ea typeface="Calibri" pitchFamily="34" charset="-122"/>
                <a:cs typeface="Calibri" pitchFamily="34" charset="-120"/>
              </a:rPr>
              <a:t>각사 사업보고서/반기보고서 광고선전비 (지표① 참조)</a:t>
            </a:r>
            <a:endParaRPr lang="en-US" sz="980" dirty="0"/>
          </a:p>
        </p:txBody>
      </p:sp>
      <p:sp>
        <p:nvSpPr>
          <p:cNvPr id="22" name="Text 20"/>
          <p:cNvSpPr/>
          <p:nvPr/>
        </p:nvSpPr>
        <p:spPr>
          <a:xfrm>
            <a:off x="9326880" y="4535424"/>
            <a:ext cx="2286000" cy="886968"/>
          </a:xfrm>
          <a:prstGeom prst="rect">
            <a:avLst/>
          </a:prstGeom>
          <a:noFill/>
          <a:ln/>
        </p:spPr>
        <p:txBody>
          <a:bodyPr wrap="square" lIns="0" tIns="0" rIns="0" bIns="0" rtlCol="0" anchor="t"/>
          <a:lstStyle/>
          <a:p>
            <a:pPr indent="0" marL="0">
              <a:lnSpc>
                <a:spcPct val="115000"/>
              </a:lnSpc>
              <a:buNone/>
            </a:pPr>
            <a:r>
              <a:rPr lang="en-US" sz="980" dirty="0">
                <a:solidFill>
                  <a:srgbClr val="444858"/>
                </a:solidFill>
                <a:latin typeface="Calibri" pitchFamily="34" charset="0"/>
                <a:ea typeface="Calibri" pitchFamily="34" charset="-122"/>
                <a:cs typeface="Calibri" pitchFamily="34" charset="-120"/>
              </a:rPr>
              <a:t>회사 전체 기준 증감 — 특정 타이틀 예산 증감과 100% 일치하지 않을 수 있음</a:t>
            </a:r>
            <a:endParaRPr lang="en-US" sz="980" dirty="0"/>
          </a:p>
        </p:txBody>
      </p:sp>
      <p:sp>
        <p:nvSpPr>
          <p:cNvPr id="23" name="Shape 21"/>
          <p:cNvSpPr/>
          <p:nvPr/>
        </p:nvSpPr>
        <p:spPr>
          <a:xfrm>
            <a:off x="548640" y="5532120"/>
            <a:ext cx="11109960" cy="996696"/>
          </a:xfrm>
          <a:prstGeom prst="rect">
            <a:avLst/>
          </a:prstGeom>
          <a:solidFill>
            <a:srgbClr val="FAFAFB"/>
          </a:solidFill>
          <a:ln/>
        </p:spPr>
      </p:sp>
      <p:sp>
        <p:nvSpPr>
          <p:cNvPr id="24" name="Text 22"/>
          <p:cNvSpPr/>
          <p:nvPr/>
        </p:nvSpPr>
        <p:spPr>
          <a:xfrm>
            <a:off x="548640" y="5586984"/>
            <a:ext cx="2240280" cy="886968"/>
          </a:xfrm>
          <a:prstGeom prst="rect">
            <a:avLst/>
          </a:prstGeom>
          <a:noFill/>
          <a:ln/>
        </p:spPr>
        <p:txBody>
          <a:bodyPr wrap="square" lIns="0" tIns="0" rIns="0" bIns="0" rtlCol="0" anchor="t"/>
          <a:lstStyle/>
          <a:p>
            <a:pPr indent="0" marL="0">
              <a:lnSpc>
                <a:spcPct val="115000"/>
              </a:lnSpc>
              <a:buNone/>
            </a:pPr>
            <a:r>
              <a:rPr lang="en-US" sz="1100" b="1" dirty="0">
                <a:solidFill>
                  <a:srgbClr val="1C1E29"/>
                </a:solidFill>
                <a:latin typeface="Calibri" pitchFamily="34" charset="0"/>
                <a:ea typeface="Calibri" pitchFamily="34" charset="-122"/>
                <a:cs typeface="Calibri" pitchFamily="34" charset="-120"/>
              </a:rPr>
              <a:t>마케팅 효율 지수(방향성)</a:t>
            </a:r>
            <a:endParaRPr lang="en-US" sz="1100" dirty="0"/>
          </a:p>
        </p:txBody>
      </p:sp>
      <p:sp>
        <p:nvSpPr>
          <p:cNvPr id="25" name="Text 23"/>
          <p:cNvSpPr/>
          <p:nvPr/>
        </p:nvSpPr>
        <p:spPr>
          <a:xfrm>
            <a:off x="3017520" y="5586984"/>
            <a:ext cx="3429000" cy="886968"/>
          </a:xfrm>
          <a:prstGeom prst="rect">
            <a:avLst/>
          </a:prstGeom>
          <a:noFill/>
          <a:ln/>
        </p:spPr>
        <p:txBody>
          <a:bodyPr wrap="square" lIns="0" tIns="0" rIns="0" bIns="0" rtlCol="0" anchor="t"/>
          <a:lstStyle/>
          <a:p>
            <a:pPr indent="0" marL="0">
              <a:lnSpc>
                <a:spcPct val="115000"/>
              </a:lnSpc>
              <a:buNone/>
            </a:pPr>
            <a:r>
              <a:rPr lang="en-US" sz="980" dirty="0">
                <a:solidFill>
                  <a:srgbClr val="444858"/>
                </a:solidFill>
                <a:latin typeface="Calibri" pitchFamily="34" charset="0"/>
                <a:ea typeface="Calibri" pitchFamily="34" charset="-122"/>
                <a:cs typeface="Calibri" pitchFamily="34" charset="-120"/>
              </a:rPr>
              <a:t>광고비 증감 방향 × 매출순위·실적 개선 방향의 교차 분류 (4분면: 지출↑성과↑ / 지출↑성과↓ / 지출↓성과↑ / 지출↓성과↓)</a:t>
            </a:r>
            <a:endParaRPr lang="en-US" sz="980" dirty="0"/>
          </a:p>
        </p:txBody>
      </p:sp>
      <p:sp>
        <p:nvSpPr>
          <p:cNvPr id="26" name="Text 24"/>
          <p:cNvSpPr/>
          <p:nvPr/>
        </p:nvSpPr>
        <p:spPr>
          <a:xfrm>
            <a:off x="6766560" y="5586984"/>
            <a:ext cx="2286000" cy="886968"/>
          </a:xfrm>
          <a:prstGeom prst="rect">
            <a:avLst/>
          </a:prstGeom>
          <a:noFill/>
          <a:ln/>
        </p:spPr>
        <p:txBody>
          <a:bodyPr wrap="square" lIns="0" tIns="0" rIns="0" bIns="0" rtlCol="0" anchor="t"/>
          <a:lstStyle/>
          <a:p>
            <a:pPr indent="0" marL="0">
              <a:lnSpc>
                <a:spcPct val="115000"/>
              </a:lnSpc>
              <a:buNone/>
            </a:pPr>
            <a:r>
              <a:rPr lang="en-US" sz="980" dirty="0">
                <a:solidFill>
                  <a:srgbClr val="444858"/>
                </a:solidFill>
                <a:latin typeface="Calibri" pitchFamily="34" charset="0"/>
                <a:ea typeface="Calibri" pitchFamily="34" charset="-122"/>
                <a:cs typeface="Calibri" pitchFamily="34" charset="-120"/>
              </a:rPr>
              <a:t>위 광고비 YoY + 매출순위·재무실적 변화</a:t>
            </a:r>
            <a:endParaRPr lang="en-US" sz="980" dirty="0"/>
          </a:p>
        </p:txBody>
      </p:sp>
      <p:sp>
        <p:nvSpPr>
          <p:cNvPr id="27" name="Text 25"/>
          <p:cNvSpPr/>
          <p:nvPr/>
        </p:nvSpPr>
        <p:spPr>
          <a:xfrm>
            <a:off x="9326880" y="5586984"/>
            <a:ext cx="2286000" cy="886968"/>
          </a:xfrm>
          <a:prstGeom prst="rect">
            <a:avLst/>
          </a:prstGeom>
          <a:noFill/>
          <a:ln/>
        </p:spPr>
        <p:txBody>
          <a:bodyPr wrap="square" lIns="0" tIns="0" rIns="0" bIns="0" rtlCol="0" anchor="t"/>
          <a:lstStyle/>
          <a:p>
            <a:pPr indent="0" marL="0">
              <a:lnSpc>
                <a:spcPct val="115000"/>
              </a:lnSpc>
              <a:buNone/>
            </a:pPr>
            <a:r>
              <a:rPr lang="en-US" sz="980" dirty="0">
                <a:solidFill>
                  <a:srgbClr val="444858"/>
                </a:solidFill>
                <a:latin typeface="Calibri" pitchFamily="34" charset="0"/>
                <a:ea typeface="Calibri" pitchFamily="34" charset="-122"/>
                <a:cs typeface="Calibri" pitchFamily="34" charset="-120"/>
              </a:rPr>
              <a:t>절대적 ROI(원 단위 수익률)가 아닌 상대적 방향성 진단 지표</a:t>
            </a:r>
            <a:endParaRPr lang="en-US" sz="9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61F"/>
        </a:solidFill>
      </p:bgPr>
    </p:bg>
    <p:spTree>
      <p:nvGrpSpPr>
        <p:cNvPr id="1" name=""/>
        <p:cNvGrpSpPr/>
        <p:nvPr/>
      </p:nvGrpSpPr>
      <p:grpSpPr>
        <a:xfrm>
          <a:off x="0" y="0"/>
          <a:ext cx="0" cy="0"/>
          <a:chOff x="0" y="0"/>
          <a:chExt cx="0" cy="0"/>
        </a:xfrm>
      </p:grpSpPr>
      <p:sp>
        <p:nvSpPr>
          <p:cNvPr id="2" name="Shape 0"/>
          <p:cNvSpPr/>
          <p:nvPr/>
        </p:nvSpPr>
        <p:spPr>
          <a:xfrm>
            <a:off x="-2377440" y="4206240"/>
            <a:ext cx="5943600" cy="5943600"/>
          </a:xfrm>
          <a:prstGeom prst="ellipse">
            <a:avLst/>
          </a:prstGeom>
          <a:solidFill>
            <a:srgbClr val="1B1E2C"/>
          </a:solidFill>
          <a:ln/>
        </p:spPr>
      </p:sp>
      <p:sp>
        <p:nvSpPr>
          <p:cNvPr id="3" name="Text 1"/>
          <p:cNvSpPr/>
          <p:nvPr/>
        </p:nvSpPr>
        <p:spPr>
          <a:xfrm>
            <a:off x="822960" y="2286000"/>
            <a:ext cx="3657600" cy="1463040"/>
          </a:xfrm>
          <a:prstGeom prst="rect">
            <a:avLst/>
          </a:prstGeom>
          <a:noFill/>
          <a:ln/>
        </p:spPr>
        <p:txBody>
          <a:bodyPr wrap="square" lIns="0" tIns="0" rIns="0" bIns="0" rtlCol="0" anchor="ctr"/>
          <a:lstStyle/>
          <a:p>
            <a:pPr indent="0" marL="0">
              <a:buNone/>
            </a:pPr>
            <a:r>
              <a:rPr lang="en-US" sz="9000" b="1" dirty="0">
                <a:solidFill>
                  <a:srgbClr val="2A2E42"/>
                </a:solidFill>
                <a:latin typeface="Cambria" pitchFamily="34" charset="0"/>
                <a:ea typeface="Cambria" pitchFamily="34" charset="-122"/>
                <a:cs typeface="Cambria" pitchFamily="34" charset="-120"/>
              </a:rPr>
              <a:t>01</a:t>
            </a:r>
            <a:endParaRPr lang="en-US" sz="9000" dirty="0"/>
          </a:p>
        </p:txBody>
      </p:sp>
      <p:sp>
        <p:nvSpPr>
          <p:cNvPr id="4" name="Text 2"/>
          <p:cNvSpPr/>
          <p:nvPr/>
        </p:nvSpPr>
        <p:spPr>
          <a:xfrm>
            <a:off x="868680" y="3246120"/>
            <a:ext cx="9144000" cy="365760"/>
          </a:xfrm>
          <a:prstGeom prst="rect">
            <a:avLst/>
          </a:prstGeom>
          <a:noFill/>
          <a:ln/>
        </p:spPr>
        <p:txBody>
          <a:bodyPr wrap="square" lIns="0" tIns="0" rIns="0" bIns="0" rtlCol="0" anchor="ctr"/>
          <a:lstStyle/>
          <a:p>
            <a:pPr indent="0" marL="0">
              <a:buNone/>
            </a:pPr>
            <a:r>
              <a:rPr lang="en-US" sz="1300" b="1" spc="300" kern="0" dirty="0">
                <a:solidFill>
                  <a:srgbClr val="F0692B"/>
                </a:solidFill>
                <a:latin typeface="Calibri" pitchFamily="34" charset="0"/>
                <a:ea typeface="Calibri" pitchFamily="34" charset="-122"/>
                <a:cs typeface="Calibri" pitchFamily="34" charset="-120"/>
              </a:rPr>
              <a:t>LANDSCAPE OVERVIEW</a:t>
            </a:r>
            <a:endParaRPr lang="en-US" sz="1300" dirty="0"/>
          </a:p>
        </p:txBody>
      </p:sp>
      <p:sp>
        <p:nvSpPr>
          <p:cNvPr id="5" name="Text 3"/>
          <p:cNvSpPr/>
          <p:nvPr/>
        </p:nvSpPr>
        <p:spPr>
          <a:xfrm>
            <a:off x="822960" y="3611880"/>
            <a:ext cx="10058400" cy="10058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분석 대상 개요</a:t>
            </a:r>
            <a:endParaRPr lang="en-US" sz="3400" dirty="0"/>
          </a:p>
        </p:txBody>
      </p:sp>
      <p:sp>
        <p:nvSpPr>
          <p:cNvPr id="6" name="Text 4"/>
          <p:cNvSpPr/>
          <p:nvPr/>
        </p:nvSpPr>
        <p:spPr>
          <a:xfrm>
            <a:off x="11365992" y="6446520"/>
            <a:ext cx="548640" cy="274320"/>
          </a:xfrm>
          <a:prstGeom prst="rect">
            <a:avLst/>
          </a:prstGeom>
          <a:noFill/>
          <a:ln/>
        </p:spPr>
        <p:txBody>
          <a:bodyPr wrap="square" lIns="0" tIns="0" rIns="0" bIns="0" rtlCol="0" anchor="ctr"/>
          <a:lstStyle/>
          <a:p>
            <a:pPr algn="r" indent="0" marL="0">
              <a:buNone/>
            </a:pPr>
            <a:r>
              <a:rPr lang="en-US" sz="900" dirty="0">
                <a:solidFill>
                  <a:srgbClr val="6A6E80"/>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lIns="0" tIns="0" rIns="0" bIns="0" rtlCol="0" anchor="ctr"/>
          <a:lstStyle/>
          <a:p>
            <a:pPr indent="0" marL="0">
              <a:buNone/>
            </a:pPr>
            <a:r>
              <a:rPr lang="en-US" sz="1250" b="1" spc="200" kern="0" dirty="0">
                <a:solidFill>
                  <a:srgbClr val="F0692B"/>
                </a:solidFill>
                <a:latin typeface="Calibri" pitchFamily="34" charset="0"/>
                <a:ea typeface="Calibri" pitchFamily="34" charset="-122"/>
                <a:cs typeface="Calibri" pitchFamily="34" charset="-120"/>
              </a:rPr>
              <a:t>01 · LANDSCAPE OVERVIEW</a:t>
            </a:r>
            <a:endParaRPr lang="en-US" sz="1250" dirty="0"/>
          </a:p>
        </p:txBody>
      </p:sp>
      <p:sp>
        <p:nvSpPr>
          <p:cNvPr id="3" name="Text 1"/>
          <p:cNvSpPr/>
          <p:nvPr/>
        </p:nvSpPr>
        <p:spPr>
          <a:xfrm>
            <a:off x="548640" y="749808"/>
            <a:ext cx="10789920" cy="640080"/>
          </a:xfrm>
          <a:prstGeom prst="rect">
            <a:avLst/>
          </a:prstGeom>
          <a:noFill/>
          <a:ln/>
        </p:spPr>
        <p:txBody>
          <a:bodyPr wrap="square" lIns="0" tIns="0" rIns="0" bIns="0" rtlCol="0" anchor="ctr"/>
          <a:lstStyle/>
          <a:p>
            <a:pPr indent="0" marL="0">
              <a:buNone/>
            </a:pPr>
            <a:r>
              <a:rPr lang="en-US" sz="2800" b="1" dirty="0">
                <a:solidFill>
                  <a:srgbClr val="1C1E29"/>
                </a:solidFill>
                <a:latin typeface="Cambria" pitchFamily="34" charset="0"/>
                <a:ea typeface="Cambria" pitchFamily="34" charset="-122"/>
                <a:cs typeface="Cambria" pitchFamily="34" charset="-120"/>
              </a:rPr>
              <a:t>4개 타이틀, 서로 다른 서비스 단계</a:t>
            </a:r>
            <a:endParaRPr lang="en-US" sz="2800" dirty="0"/>
          </a:p>
        </p:txBody>
      </p:sp>
      <p:sp>
        <p:nvSpPr>
          <p:cNvPr id="4" name="Text 2"/>
          <p:cNvSpPr/>
          <p:nvPr/>
        </p:nvSpPr>
        <p:spPr>
          <a:xfrm>
            <a:off x="548640" y="6400800"/>
            <a:ext cx="10332720" cy="274320"/>
          </a:xfrm>
          <a:prstGeom prst="rect">
            <a:avLst/>
          </a:prstGeom>
          <a:noFill/>
          <a:ln/>
        </p:spPr>
        <p:txBody>
          <a:bodyPr wrap="square" lIns="0" tIns="0" rIns="0" bIns="0" rtlCol="0" anchor="ctr"/>
          <a:lstStyle/>
          <a:p>
            <a:pPr indent="0" marL="0">
              <a:buNone/>
            </a:pPr>
            <a:r>
              <a:rPr lang="en-US" sz="900" dirty="0">
                <a:solidFill>
                  <a:srgbClr val="9A9DAC"/>
                </a:solidFill>
                <a:latin typeface="Calibri" pitchFamily="34" charset="0"/>
                <a:ea typeface="Calibri" pitchFamily="34" charset="-122"/>
                <a:cs typeface="Calibri" pitchFamily="34" charset="-120"/>
              </a:rPr>
              <a:t>출처: 4사 이벤트 타임라인 비교 보고서 (2026.08.21 작성 기준)</a:t>
            </a:r>
            <a:endParaRPr lang="en-US" sz="900" dirty="0"/>
          </a:p>
        </p:txBody>
      </p:sp>
      <p:sp>
        <p:nvSpPr>
          <p:cNvPr id="5" name="Text 3"/>
          <p:cNvSpPr/>
          <p:nvPr/>
        </p:nvSpPr>
        <p:spPr>
          <a:xfrm>
            <a:off x="11365992" y="6446520"/>
            <a:ext cx="548640" cy="274320"/>
          </a:xfrm>
          <a:prstGeom prst="rect">
            <a:avLst/>
          </a:prstGeom>
          <a:noFill/>
          <a:ln/>
        </p:spPr>
        <p:txBody>
          <a:bodyPr wrap="square" lIns="0" tIns="0" rIns="0" bIns="0" rtlCol="0" anchor="ctr"/>
          <a:lstStyle/>
          <a:p>
            <a:pPr algn="r" indent="0" marL="0">
              <a:buNone/>
            </a:pPr>
            <a:r>
              <a:rPr lang="en-US" sz="900" dirty="0">
                <a:solidFill>
                  <a:srgbClr val="A8ABB8"/>
                </a:solidFill>
                <a:latin typeface="Calibri" pitchFamily="34" charset="0"/>
                <a:ea typeface="Calibri" pitchFamily="34" charset="-122"/>
                <a:cs typeface="Calibri" pitchFamily="34" charset="-120"/>
              </a:rPr>
              <a:t>08</a:t>
            </a:r>
            <a:endParaRPr lang="en-US" sz="900" dirty="0"/>
          </a:p>
        </p:txBody>
      </p:sp>
      <p:sp>
        <p:nvSpPr>
          <p:cNvPr id="6" name="Shape 4"/>
          <p:cNvSpPr/>
          <p:nvPr/>
        </p:nvSpPr>
        <p:spPr>
          <a:xfrm>
            <a:off x="548640" y="1645920"/>
            <a:ext cx="5349240" cy="2148840"/>
          </a:xfrm>
          <a:prstGeom prst="roundRect">
            <a:avLst>
              <a:gd name="adj" fmla="val 2979"/>
            </a:avLst>
          </a:prstGeom>
          <a:solidFill>
            <a:srgbClr val="FAFAFB"/>
          </a:solidFill>
          <a:ln w="12700">
            <a:solidFill>
              <a:srgbClr val="EBEBF0"/>
            </a:solidFill>
            <a:prstDash val="solid"/>
          </a:ln>
        </p:spPr>
      </p:sp>
      <p:sp>
        <p:nvSpPr>
          <p:cNvPr id="7" name="Shape 5"/>
          <p:cNvSpPr/>
          <p:nvPr/>
        </p:nvSpPr>
        <p:spPr>
          <a:xfrm>
            <a:off x="804672" y="1865376"/>
            <a:ext cx="128016" cy="457200"/>
          </a:xfrm>
          <a:prstGeom prst="roundRect">
            <a:avLst>
              <a:gd name="adj" fmla="val 21429"/>
            </a:avLst>
          </a:prstGeom>
          <a:solidFill>
            <a:srgbClr val="F0692B"/>
          </a:solidFill>
          <a:ln/>
        </p:spPr>
      </p:sp>
      <p:sp>
        <p:nvSpPr>
          <p:cNvPr id="8" name="Text 6"/>
          <p:cNvSpPr/>
          <p:nvPr/>
        </p:nvSpPr>
        <p:spPr>
          <a:xfrm>
            <a:off x="1051560" y="1810512"/>
            <a:ext cx="4526280" cy="320040"/>
          </a:xfrm>
          <a:prstGeom prst="rect">
            <a:avLst/>
          </a:prstGeom>
          <a:noFill/>
          <a:ln/>
        </p:spPr>
        <p:txBody>
          <a:bodyPr wrap="square" lIns="0" tIns="0" rIns="0" bIns="0" rtlCol="0" anchor="ctr"/>
          <a:lstStyle/>
          <a:p>
            <a:pPr indent="0" marL="0">
              <a:buNone/>
            </a:pPr>
            <a:r>
              <a:rPr lang="en-US" sz="1650" b="1" dirty="0">
                <a:solidFill>
                  <a:srgbClr val="1C1E29"/>
                </a:solidFill>
                <a:latin typeface="Cambria" pitchFamily="34" charset="0"/>
                <a:ea typeface="Cambria" pitchFamily="34" charset="-122"/>
                <a:cs typeface="Cambria" pitchFamily="34" charset="-120"/>
              </a:rPr>
              <a:t>메이플스토리M</a:t>
            </a:r>
            <a:endParaRPr lang="en-US" sz="1650" dirty="0"/>
          </a:p>
        </p:txBody>
      </p:sp>
      <p:sp>
        <p:nvSpPr>
          <p:cNvPr id="9" name="Text 7"/>
          <p:cNvSpPr/>
          <p:nvPr/>
        </p:nvSpPr>
        <p:spPr>
          <a:xfrm>
            <a:off x="1051560" y="2121408"/>
            <a:ext cx="4526280" cy="256032"/>
          </a:xfrm>
          <a:prstGeom prst="rect">
            <a:avLst/>
          </a:prstGeom>
          <a:noFill/>
          <a:ln/>
        </p:spPr>
        <p:txBody>
          <a:bodyPr wrap="square" lIns="0" tIns="0" rIns="0" bIns="0" rtlCol="0" anchor="ctr"/>
          <a:lstStyle/>
          <a:p>
            <a:pPr indent="0" marL="0">
              <a:buNone/>
            </a:pPr>
            <a:r>
              <a:rPr lang="en-US" sz="1050" b="1" dirty="0">
                <a:solidFill>
                  <a:srgbClr val="F0692B"/>
                </a:solidFill>
                <a:latin typeface="Calibri" pitchFamily="34" charset="0"/>
                <a:ea typeface="Calibri" pitchFamily="34" charset="-122"/>
                <a:cs typeface="Calibri" pitchFamily="34" charset="-120"/>
              </a:rPr>
              <a:t>자사 · 성숙기 (9.8년차)</a:t>
            </a:r>
            <a:endParaRPr lang="en-US" sz="1050" dirty="0"/>
          </a:p>
        </p:txBody>
      </p:sp>
      <p:sp>
        <p:nvSpPr>
          <p:cNvPr id="10" name="Text 8"/>
          <p:cNvSpPr/>
          <p:nvPr/>
        </p:nvSpPr>
        <p:spPr>
          <a:xfrm>
            <a:off x="822960" y="2487168"/>
            <a:ext cx="4800600" cy="1188720"/>
          </a:xfrm>
          <a:prstGeom prst="rect">
            <a:avLst/>
          </a:prstGeom>
          <a:noFill/>
          <a:ln/>
        </p:spPr>
        <p:txBody>
          <a:bodyPr wrap="square" lIns="0" tIns="0" rIns="0" bIns="0" rtlCol="0" anchor="t"/>
          <a:lstStyle/>
          <a:p>
            <a:pPr marL="152400" indent="-152400">
              <a:lnSpc>
                <a:spcPct val="118000"/>
              </a:lnSpc>
              <a:buSzPct val="100000"/>
              <a:buChar char="•"/>
            </a:pPr>
            <a:r>
              <a:rPr lang="en-US" sz="1060" dirty="0">
                <a:solidFill>
                  <a:srgbClr val="444858"/>
                </a:solidFill>
                <a:latin typeface="Calibri" pitchFamily="34" charset="0"/>
                <a:ea typeface="Calibri" pitchFamily="34" charset="-122"/>
                <a:cs typeface="Calibri" pitchFamily="34" charset="-120"/>
              </a:rPr>
              <a:t>분기 1~2건의 낮은 빈도·클러스터링형 업데이트</a:t>
            </a:r>
            <a:endParaRPr lang="en-US" sz="1060" dirty="0"/>
          </a:p>
          <a:p>
            <a:pPr marL="152400" indent="-152400">
              <a:lnSpc>
                <a:spcPct val="118000"/>
              </a:lnSpc>
              <a:buSzPct val="100000"/>
              <a:buChar char="•"/>
            </a:pPr>
            <a:r>
              <a:rPr lang="en-US" sz="1060" dirty="0">
                <a:solidFill>
                  <a:srgbClr val="444858"/>
                </a:solidFill>
                <a:latin typeface="Calibri" pitchFamily="34" charset="0"/>
                <a:ea typeface="Calibri" pitchFamily="34" charset="-122"/>
                <a:cs typeface="Calibri" pitchFamily="34" charset="-120"/>
              </a:rPr>
              <a:t>12월 쇼케이스로 향후 2개 분기 로드맵 사전공개</a:t>
            </a:r>
            <a:endParaRPr lang="en-US" sz="1060" dirty="0"/>
          </a:p>
          <a:p>
            <a:pPr marL="152400" indent="-152400">
              <a:lnSpc>
                <a:spcPct val="118000"/>
              </a:lnSpc>
              <a:buSzPct val="100000"/>
              <a:buChar char="•"/>
            </a:pPr>
            <a:r>
              <a:rPr lang="en-US" sz="1060" dirty="0">
                <a:solidFill>
                  <a:srgbClr val="444858"/>
                </a:solidFill>
                <a:latin typeface="Calibri" pitchFamily="34" charset="0"/>
                <a:ea typeface="Calibri" pitchFamily="34" charset="-122"/>
                <a:cs typeface="Calibri" pitchFamily="34" charset="-120"/>
              </a:rPr>
              <a:t>7/31 RE:BOOST(챌린저스 월드)로 하반기 최대 반등</a:t>
            </a:r>
            <a:endParaRPr lang="en-US" sz="1060" dirty="0"/>
          </a:p>
        </p:txBody>
      </p:sp>
      <p:sp>
        <p:nvSpPr>
          <p:cNvPr id="11" name="Shape 9"/>
          <p:cNvSpPr/>
          <p:nvPr/>
        </p:nvSpPr>
        <p:spPr>
          <a:xfrm>
            <a:off x="6172200" y="1645920"/>
            <a:ext cx="5349240" cy="2148840"/>
          </a:xfrm>
          <a:prstGeom prst="roundRect">
            <a:avLst>
              <a:gd name="adj" fmla="val 2979"/>
            </a:avLst>
          </a:prstGeom>
          <a:solidFill>
            <a:srgbClr val="FAFAFB"/>
          </a:solidFill>
          <a:ln w="12700">
            <a:solidFill>
              <a:srgbClr val="EBEBF0"/>
            </a:solidFill>
            <a:prstDash val="solid"/>
          </a:ln>
        </p:spPr>
      </p:sp>
      <p:sp>
        <p:nvSpPr>
          <p:cNvPr id="12" name="Shape 10"/>
          <p:cNvSpPr/>
          <p:nvPr/>
        </p:nvSpPr>
        <p:spPr>
          <a:xfrm>
            <a:off x="6428232" y="1865376"/>
            <a:ext cx="128016" cy="457200"/>
          </a:xfrm>
          <a:prstGeom prst="roundRect">
            <a:avLst>
              <a:gd name="adj" fmla="val 21429"/>
            </a:avLst>
          </a:prstGeom>
          <a:solidFill>
            <a:srgbClr val="2FA89A"/>
          </a:solidFill>
          <a:ln/>
        </p:spPr>
      </p:sp>
      <p:sp>
        <p:nvSpPr>
          <p:cNvPr id="13" name="Text 11"/>
          <p:cNvSpPr/>
          <p:nvPr/>
        </p:nvSpPr>
        <p:spPr>
          <a:xfrm>
            <a:off x="6675120" y="1810512"/>
            <a:ext cx="4526280" cy="320040"/>
          </a:xfrm>
          <a:prstGeom prst="rect">
            <a:avLst/>
          </a:prstGeom>
          <a:noFill/>
          <a:ln/>
        </p:spPr>
        <p:txBody>
          <a:bodyPr wrap="square" lIns="0" tIns="0" rIns="0" bIns="0" rtlCol="0" anchor="ctr"/>
          <a:lstStyle/>
          <a:p>
            <a:pPr indent="0" marL="0">
              <a:buNone/>
            </a:pPr>
            <a:r>
              <a:rPr lang="en-US" sz="1650" b="1" dirty="0">
                <a:solidFill>
                  <a:srgbClr val="1C1E29"/>
                </a:solidFill>
                <a:latin typeface="Cambria" pitchFamily="34" charset="0"/>
                <a:ea typeface="Cambria" pitchFamily="34" charset="-122"/>
                <a:cs typeface="Cambria" pitchFamily="34" charset="-120"/>
              </a:rPr>
              <a:t>마비노기모바일</a:t>
            </a:r>
            <a:endParaRPr lang="en-US" sz="1650" dirty="0"/>
          </a:p>
        </p:txBody>
      </p:sp>
      <p:sp>
        <p:nvSpPr>
          <p:cNvPr id="14" name="Text 12"/>
          <p:cNvSpPr/>
          <p:nvPr/>
        </p:nvSpPr>
        <p:spPr>
          <a:xfrm>
            <a:off x="6675120" y="2121408"/>
            <a:ext cx="4526280" cy="256032"/>
          </a:xfrm>
          <a:prstGeom prst="rect">
            <a:avLst/>
          </a:prstGeom>
          <a:noFill/>
          <a:ln/>
        </p:spPr>
        <p:txBody>
          <a:bodyPr wrap="square" lIns="0" tIns="0" rIns="0" bIns="0" rtlCol="0" anchor="ctr"/>
          <a:lstStyle/>
          <a:p>
            <a:pPr indent="0" marL="0">
              <a:buNone/>
            </a:pPr>
            <a:r>
              <a:rPr lang="en-US" sz="1050" b="1" dirty="0">
                <a:solidFill>
                  <a:srgbClr val="2FA89A"/>
                </a:solidFill>
                <a:latin typeface="Calibri" pitchFamily="34" charset="0"/>
                <a:ea typeface="Calibri" pitchFamily="34" charset="-122"/>
                <a:cs typeface="Calibri" pitchFamily="34" charset="-120"/>
              </a:rPr>
              <a:t>자사 · 1년차</a:t>
            </a:r>
            <a:endParaRPr lang="en-US" sz="1050" dirty="0"/>
          </a:p>
        </p:txBody>
      </p:sp>
      <p:sp>
        <p:nvSpPr>
          <p:cNvPr id="15" name="Text 13"/>
          <p:cNvSpPr/>
          <p:nvPr/>
        </p:nvSpPr>
        <p:spPr>
          <a:xfrm>
            <a:off x="6446520" y="2487168"/>
            <a:ext cx="4800600" cy="1188720"/>
          </a:xfrm>
          <a:prstGeom prst="rect">
            <a:avLst/>
          </a:prstGeom>
          <a:noFill/>
          <a:ln/>
        </p:spPr>
        <p:txBody>
          <a:bodyPr wrap="square" lIns="0" tIns="0" rIns="0" bIns="0" rtlCol="0" anchor="t"/>
          <a:lstStyle/>
          <a:p>
            <a:pPr marL="152400" indent="-152400">
              <a:lnSpc>
                <a:spcPct val="118000"/>
              </a:lnSpc>
              <a:buSzPct val="100000"/>
              <a:buChar char="•"/>
            </a:pPr>
            <a:r>
              <a:rPr lang="en-US" sz="1060" dirty="0">
                <a:solidFill>
                  <a:srgbClr val="444858"/>
                </a:solidFill>
                <a:latin typeface="Calibri" pitchFamily="34" charset="0"/>
                <a:ea typeface="Calibri" pitchFamily="34" charset="-122"/>
                <a:cs typeface="Calibri" pitchFamily="34" charset="-120"/>
              </a:rPr>
              <a:t>2025.3.27 출시, 1주년까지 순항 후 4월 업데이트 공백</a:t>
            </a:r>
            <a:endParaRPr lang="en-US" sz="1060" dirty="0"/>
          </a:p>
          <a:p>
            <a:pPr marL="152400" indent="-152400">
              <a:lnSpc>
                <a:spcPct val="118000"/>
              </a:lnSpc>
              <a:buSzPct val="100000"/>
              <a:buChar char="•"/>
            </a:pPr>
            <a:r>
              <a:rPr lang="en-US" sz="1060" dirty="0">
                <a:solidFill>
                  <a:srgbClr val="444858"/>
                </a:solidFill>
                <a:latin typeface="Calibri" pitchFamily="34" charset="0"/>
                <a:ea typeface="Calibri" pitchFamily="34" charset="-122"/>
                <a:cs typeface="Calibri" pitchFamily="34" charset="-120"/>
              </a:rPr>
              <a:t>공백기 유저 이탈로 매출TOP10 이탈 → 6월 시즌2로 반등</a:t>
            </a:r>
            <a:endParaRPr lang="en-US" sz="1060" dirty="0"/>
          </a:p>
          <a:p>
            <a:pPr marL="152400" indent="-152400">
              <a:lnSpc>
                <a:spcPct val="118000"/>
              </a:lnSpc>
              <a:buSzPct val="100000"/>
              <a:buChar char="•"/>
            </a:pPr>
            <a:r>
              <a:rPr lang="en-US" sz="1060" dirty="0">
                <a:solidFill>
                  <a:srgbClr val="444858"/>
                </a:solidFill>
                <a:latin typeface="Calibri" pitchFamily="34" charset="0"/>
                <a:ea typeface="Calibri" pitchFamily="34" charset="-122"/>
                <a:cs typeface="Calibri" pitchFamily="34" charset="-120"/>
              </a:rPr>
              <a:t>변동성이 4사 중 가장 큰 궤적</a:t>
            </a:r>
            <a:endParaRPr lang="en-US" sz="1060" dirty="0"/>
          </a:p>
        </p:txBody>
      </p:sp>
      <p:sp>
        <p:nvSpPr>
          <p:cNvPr id="16" name="Shape 14"/>
          <p:cNvSpPr/>
          <p:nvPr/>
        </p:nvSpPr>
        <p:spPr>
          <a:xfrm>
            <a:off x="548640" y="4050792"/>
            <a:ext cx="5349240" cy="2148840"/>
          </a:xfrm>
          <a:prstGeom prst="roundRect">
            <a:avLst>
              <a:gd name="adj" fmla="val 2979"/>
            </a:avLst>
          </a:prstGeom>
          <a:solidFill>
            <a:srgbClr val="FAFAFB"/>
          </a:solidFill>
          <a:ln w="12700">
            <a:solidFill>
              <a:srgbClr val="EBEBF0"/>
            </a:solidFill>
            <a:prstDash val="solid"/>
          </a:ln>
        </p:spPr>
      </p:sp>
      <p:sp>
        <p:nvSpPr>
          <p:cNvPr id="17" name="Shape 15"/>
          <p:cNvSpPr/>
          <p:nvPr/>
        </p:nvSpPr>
        <p:spPr>
          <a:xfrm>
            <a:off x="804672" y="4270248"/>
            <a:ext cx="128016" cy="457200"/>
          </a:xfrm>
          <a:prstGeom prst="roundRect">
            <a:avLst>
              <a:gd name="adj" fmla="val 21429"/>
            </a:avLst>
          </a:prstGeom>
          <a:solidFill>
            <a:srgbClr val="8B2635"/>
          </a:solidFill>
          <a:ln/>
        </p:spPr>
      </p:sp>
      <p:sp>
        <p:nvSpPr>
          <p:cNvPr id="18" name="Text 16"/>
          <p:cNvSpPr/>
          <p:nvPr/>
        </p:nvSpPr>
        <p:spPr>
          <a:xfrm>
            <a:off x="1051560" y="4215384"/>
            <a:ext cx="4526280" cy="320040"/>
          </a:xfrm>
          <a:prstGeom prst="rect">
            <a:avLst/>
          </a:prstGeom>
          <a:noFill/>
          <a:ln/>
        </p:spPr>
        <p:txBody>
          <a:bodyPr wrap="square" lIns="0" tIns="0" rIns="0" bIns="0" rtlCol="0" anchor="ctr"/>
          <a:lstStyle/>
          <a:p>
            <a:pPr indent="0" marL="0">
              <a:buNone/>
            </a:pPr>
            <a:r>
              <a:rPr lang="en-US" sz="1650" b="1" dirty="0">
                <a:solidFill>
                  <a:srgbClr val="1C1E29"/>
                </a:solidFill>
                <a:latin typeface="Cambria" pitchFamily="34" charset="0"/>
                <a:ea typeface="Cambria" pitchFamily="34" charset="-122"/>
                <a:cs typeface="Cambria" pitchFamily="34" charset="-120"/>
              </a:rPr>
              <a:t>검은사막모바일</a:t>
            </a:r>
            <a:endParaRPr lang="en-US" sz="1650" dirty="0"/>
          </a:p>
        </p:txBody>
      </p:sp>
      <p:sp>
        <p:nvSpPr>
          <p:cNvPr id="19" name="Text 17"/>
          <p:cNvSpPr/>
          <p:nvPr/>
        </p:nvSpPr>
        <p:spPr>
          <a:xfrm>
            <a:off x="1051560" y="4526280"/>
            <a:ext cx="4526280" cy="256032"/>
          </a:xfrm>
          <a:prstGeom prst="rect">
            <a:avLst/>
          </a:prstGeom>
          <a:noFill/>
          <a:ln/>
        </p:spPr>
        <p:txBody>
          <a:bodyPr wrap="square" lIns="0" tIns="0" rIns="0" bIns="0" rtlCol="0" anchor="ctr"/>
          <a:lstStyle/>
          <a:p>
            <a:pPr indent="0" marL="0">
              <a:buNone/>
            </a:pPr>
            <a:r>
              <a:rPr lang="en-US" sz="1050" b="1" dirty="0">
                <a:solidFill>
                  <a:srgbClr val="8B2635"/>
                </a:solidFill>
                <a:latin typeface="Calibri" pitchFamily="34" charset="0"/>
                <a:ea typeface="Calibri" pitchFamily="34" charset="-122"/>
                <a:cs typeface="Calibri" pitchFamily="34" charset="-120"/>
              </a:rPr>
              <a:t>타사(펄어비스) · 8주년 전환기</a:t>
            </a:r>
            <a:endParaRPr lang="en-US" sz="1050" dirty="0"/>
          </a:p>
        </p:txBody>
      </p:sp>
      <p:sp>
        <p:nvSpPr>
          <p:cNvPr id="20" name="Text 18"/>
          <p:cNvSpPr/>
          <p:nvPr/>
        </p:nvSpPr>
        <p:spPr>
          <a:xfrm>
            <a:off x="822960" y="4892040"/>
            <a:ext cx="4800600" cy="1188720"/>
          </a:xfrm>
          <a:prstGeom prst="rect">
            <a:avLst/>
          </a:prstGeom>
          <a:noFill/>
          <a:ln/>
        </p:spPr>
        <p:txBody>
          <a:bodyPr wrap="square" lIns="0" tIns="0" rIns="0" bIns="0" rtlCol="0" anchor="t"/>
          <a:lstStyle/>
          <a:p>
            <a:pPr marL="152400" indent="-152400">
              <a:lnSpc>
                <a:spcPct val="118000"/>
              </a:lnSpc>
              <a:buSzPct val="100000"/>
              <a:buChar char="•"/>
            </a:pPr>
            <a:r>
              <a:rPr lang="en-US" sz="1060" dirty="0">
                <a:solidFill>
                  <a:srgbClr val="444858"/>
                </a:solidFill>
                <a:latin typeface="Calibri" pitchFamily="34" charset="0"/>
                <a:ea typeface="Calibri" pitchFamily="34" charset="-122"/>
                <a:cs typeface="Calibri" pitchFamily="34" charset="-120"/>
              </a:rPr>
              <a:t>'리마스터' 프로젝트를 4개 분기 순차 공개(단일 로드맵형)</a:t>
            </a:r>
            <a:endParaRPr lang="en-US" sz="1060" dirty="0"/>
          </a:p>
          <a:p>
            <a:pPr marL="152400" indent="-152400">
              <a:lnSpc>
                <a:spcPct val="118000"/>
              </a:lnSpc>
              <a:buSzPct val="100000"/>
              <a:buChar char="•"/>
            </a:pPr>
            <a:r>
              <a:rPr lang="en-US" sz="1060" dirty="0">
                <a:solidFill>
                  <a:srgbClr val="444858"/>
                </a:solidFill>
                <a:latin typeface="Calibri" pitchFamily="34" charset="0"/>
                <a:ea typeface="Calibri" pitchFamily="34" charset="-122"/>
                <a:cs typeface="Calibri" pitchFamily="34" charset="-120"/>
              </a:rPr>
              <a:t>이용자순위 3월, 매출순위 7월 이후 트래킹 이탈</a:t>
            </a:r>
            <a:endParaRPr lang="en-US" sz="1060" dirty="0"/>
          </a:p>
          <a:p>
            <a:pPr marL="152400" indent="-152400">
              <a:lnSpc>
                <a:spcPct val="118000"/>
              </a:lnSpc>
              <a:buSzPct val="100000"/>
              <a:buChar char="•"/>
            </a:pPr>
            <a:r>
              <a:rPr lang="en-US" sz="1060" dirty="0">
                <a:solidFill>
                  <a:srgbClr val="444858"/>
                </a:solidFill>
                <a:latin typeface="Calibri" pitchFamily="34" charset="0"/>
                <a:ea typeface="Calibri" pitchFamily="34" charset="-122"/>
                <a:cs typeface="Calibri" pitchFamily="34" charset="-120"/>
              </a:rPr>
              <a:t>모회사 광고비는 오히려 연결 기준 +29.9%(신작 붉은사막향 추정)</a:t>
            </a:r>
            <a:endParaRPr lang="en-US" sz="1060" dirty="0"/>
          </a:p>
        </p:txBody>
      </p:sp>
      <p:sp>
        <p:nvSpPr>
          <p:cNvPr id="21" name="Shape 19"/>
          <p:cNvSpPr/>
          <p:nvPr/>
        </p:nvSpPr>
        <p:spPr>
          <a:xfrm>
            <a:off x="6172200" y="4050792"/>
            <a:ext cx="5349240" cy="2148840"/>
          </a:xfrm>
          <a:prstGeom prst="roundRect">
            <a:avLst>
              <a:gd name="adj" fmla="val 2979"/>
            </a:avLst>
          </a:prstGeom>
          <a:solidFill>
            <a:srgbClr val="FAFAFB"/>
          </a:solidFill>
          <a:ln w="12700">
            <a:solidFill>
              <a:srgbClr val="EBEBF0"/>
            </a:solidFill>
            <a:prstDash val="solid"/>
          </a:ln>
        </p:spPr>
      </p:sp>
      <p:sp>
        <p:nvSpPr>
          <p:cNvPr id="22" name="Shape 20"/>
          <p:cNvSpPr/>
          <p:nvPr/>
        </p:nvSpPr>
        <p:spPr>
          <a:xfrm>
            <a:off x="6428232" y="4270248"/>
            <a:ext cx="128016" cy="457200"/>
          </a:xfrm>
          <a:prstGeom prst="roundRect">
            <a:avLst>
              <a:gd name="adj" fmla="val 21429"/>
            </a:avLst>
          </a:prstGeom>
          <a:solidFill>
            <a:srgbClr val="6B4FA0"/>
          </a:solidFill>
          <a:ln/>
        </p:spPr>
      </p:sp>
      <p:sp>
        <p:nvSpPr>
          <p:cNvPr id="23" name="Text 21"/>
          <p:cNvSpPr/>
          <p:nvPr/>
        </p:nvSpPr>
        <p:spPr>
          <a:xfrm>
            <a:off x="6675120" y="4215384"/>
            <a:ext cx="4526280" cy="320040"/>
          </a:xfrm>
          <a:prstGeom prst="rect">
            <a:avLst/>
          </a:prstGeom>
          <a:noFill/>
          <a:ln/>
        </p:spPr>
        <p:txBody>
          <a:bodyPr wrap="square" lIns="0" tIns="0" rIns="0" bIns="0" rtlCol="0" anchor="ctr"/>
          <a:lstStyle/>
          <a:p>
            <a:pPr indent="0" marL="0">
              <a:buNone/>
            </a:pPr>
            <a:r>
              <a:rPr lang="en-US" sz="1650" b="1" dirty="0">
                <a:solidFill>
                  <a:srgbClr val="1C1E29"/>
                </a:solidFill>
                <a:latin typeface="Cambria" pitchFamily="34" charset="0"/>
                <a:ea typeface="Cambria" pitchFamily="34" charset="-122"/>
                <a:cs typeface="Cambria" pitchFamily="34" charset="-120"/>
              </a:rPr>
              <a:t>아이온2</a:t>
            </a:r>
            <a:endParaRPr lang="en-US" sz="1650" dirty="0"/>
          </a:p>
        </p:txBody>
      </p:sp>
      <p:sp>
        <p:nvSpPr>
          <p:cNvPr id="24" name="Text 22"/>
          <p:cNvSpPr/>
          <p:nvPr/>
        </p:nvSpPr>
        <p:spPr>
          <a:xfrm>
            <a:off x="6675120" y="4526280"/>
            <a:ext cx="4526280" cy="256032"/>
          </a:xfrm>
          <a:prstGeom prst="rect">
            <a:avLst/>
          </a:prstGeom>
          <a:noFill/>
          <a:ln/>
        </p:spPr>
        <p:txBody>
          <a:bodyPr wrap="square" lIns="0" tIns="0" rIns="0" bIns="0" rtlCol="0" anchor="ctr"/>
          <a:lstStyle/>
          <a:p>
            <a:pPr indent="0" marL="0">
              <a:buNone/>
            </a:pPr>
            <a:r>
              <a:rPr lang="en-US" sz="1050" b="1" dirty="0">
                <a:solidFill>
                  <a:srgbClr val="6B4FA0"/>
                </a:solidFill>
                <a:latin typeface="Calibri" pitchFamily="34" charset="0"/>
                <a:ea typeface="Calibri" pitchFamily="34" charset="-122"/>
                <a:cs typeface="Calibri" pitchFamily="34" charset="-120"/>
              </a:rPr>
              <a:t>타사(엔씨소프트/엔씨) · 초기 성장기</a:t>
            </a:r>
            <a:endParaRPr lang="en-US" sz="1050" dirty="0"/>
          </a:p>
        </p:txBody>
      </p:sp>
      <p:sp>
        <p:nvSpPr>
          <p:cNvPr id="25" name="Text 23"/>
          <p:cNvSpPr/>
          <p:nvPr/>
        </p:nvSpPr>
        <p:spPr>
          <a:xfrm>
            <a:off x="6446520" y="4892040"/>
            <a:ext cx="4800600" cy="1188720"/>
          </a:xfrm>
          <a:prstGeom prst="rect">
            <a:avLst/>
          </a:prstGeom>
          <a:noFill/>
          <a:ln/>
        </p:spPr>
        <p:txBody>
          <a:bodyPr wrap="square" lIns="0" tIns="0" rIns="0" bIns="0" rtlCol="0" anchor="t"/>
          <a:lstStyle/>
          <a:p>
            <a:pPr marL="152400" indent="-152400">
              <a:lnSpc>
                <a:spcPct val="118000"/>
              </a:lnSpc>
              <a:buSzPct val="100000"/>
              <a:buChar char="•"/>
            </a:pPr>
            <a:r>
              <a:rPr lang="en-US" sz="1060" dirty="0">
                <a:solidFill>
                  <a:srgbClr val="444858"/>
                </a:solidFill>
                <a:latin typeface="Calibri" pitchFamily="34" charset="0"/>
                <a:ea typeface="Calibri" pitchFamily="34" charset="-122"/>
                <a:cs typeface="Calibri" pitchFamily="34" charset="-120"/>
              </a:rPr>
              <a:t>2025.11.19 출시, 출시 당일 매출 9위 — 4사 중 최다 업데이트 리듬</a:t>
            </a:r>
            <a:endParaRPr lang="en-US" sz="1060" dirty="0"/>
          </a:p>
          <a:p>
            <a:pPr marL="152400" indent="-152400">
              <a:lnSpc>
                <a:spcPct val="118000"/>
              </a:lnSpc>
              <a:buSzPct val="100000"/>
              <a:buChar char="•"/>
            </a:pPr>
            <a:r>
              <a:rPr lang="en-US" sz="1060" dirty="0">
                <a:solidFill>
                  <a:srgbClr val="444858"/>
                </a:solidFill>
                <a:latin typeface="Calibri" pitchFamily="34" charset="0"/>
                <a:ea typeface="Calibri" pitchFamily="34" charset="-122"/>
                <a:cs typeface="Calibri" pitchFamily="34" charset="-120"/>
              </a:rPr>
              <a:t>시즌1→2→3 무중단 투입 + 글로벌 쇼케이스</a:t>
            </a:r>
            <a:endParaRPr lang="en-US" sz="1060" dirty="0"/>
          </a:p>
          <a:p>
            <a:pPr marL="152400" indent="-152400">
              <a:lnSpc>
                <a:spcPct val="118000"/>
              </a:lnSpc>
              <a:buSzPct val="100000"/>
              <a:buChar char="•"/>
            </a:pPr>
            <a:r>
              <a:rPr lang="en-US" sz="1060" dirty="0">
                <a:solidFill>
                  <a:srgbClr val="444858"/>
                </a:solidFill>
                <a:latin typeface="Calibri" pitchFamily="34" charset="0"/>
                <a:ea typeface="Calibri" pitchFamily="34" charset="-122"/>
                <a:cs typeface="Calibri" pitchFamily="34" charset="-120"/>
              </a:rPr>
              <a:t>메타 UA 미집행, 오히려 광고비 -38.2%(별도)인데 실적 개선</a:t>
            </a:r>
            <a:endParaRPr lang="en-US" sz="106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lIns="0" tIns="0" rIns="0" bIns="0" rtlCol="0" anchor="ctr"/>
          <a:lstStyle/>
          <a:p>
            <a:pPr indent="0" marL="0">
              <a:buNone/>
            </a:pPr>
            <a:r>
              <a:rPr lang="en-US" sz="1250" b="1" spc="200" kern="0" dirty="0">
                <a:solidFill>
                  <a:srgbClr val="F0692B"/>
                </a:solidFill>
                <a:latin typeface="Calibri" pitchFamily="34" charset="0"/>
                <a:ea typeface="Calibri" pitchFamily="34" charset="-122"/>
                <a:cs typeface="Calibri" pitchFamily="34" charset="-120"/>
              </a:rPr>
              <a:t>01 · LANDSCAPE OVERVIEW</a:t>
            </a:r>
            <a:endParaRPr lang="en-US" sz="1250" dirty="0"/>
          </a:p>
        </p:txBody>
      </p:sp>
      <p:sp>
        <p:nvSpPr>
          <p:cNvPr id="3" name="Text 1"/>
          <p:cNvSpPr/>
          <p:nvPr/>
        </p:nvSpPr>
        <p:spPr>
          <a:xfrm>
            <a:off x="548640" y="749808"/>
            <a:ext cx="10789920" cy="640080"/>
          </a:xfrm>
          <a:prstGeom prst="rect">
            <a:avLst/>
          </a:prstGeom>
          <a:noFill/>
          <a:ln/>
        </p:spPr>
        <p:txBody>
          <a:bodyPr wrap="square" lIns="0" tIns="0" rIns="0" bIns="0" rtlCol="0" anchor="ctr"/>
          <a:lstStyle/>
          <a:p>
            <a:pPr indent="0" marL="0">
              <a:buNone/>
            </a:pPr>
            <a:r>
              <a:rPr lang="en-US" sz="2800" b="1" dirty="0">
                <a:solidFill>
                  <a:srgbClr val="1C1E29"/>
                </a:solidFill>
                <a:latin typeface="Cambria" pitchFamily="34" charset="0"/>
                <a:ea typeface="Cambria" pitchFamily="34" charset="-122"/>
                <a:cs typeface="Cambria" pitchFamily="34" charset="-120"/>
              </a:rPr>
              <a:t>분기별 대형 업데이트 건수</a:t>
            </a:r>
            <a:endParaRPr lang="en-US" sz="2800" dirty="0"/>
          </a:p>
        </p:txBody>
      </p:sp>
      <p:sp>
        <p:nvSpPr>
          <p:cNvPr id="4" name="Shape 2"/>
          <p:cNvSpPr/>
          <p:nvPr/>
        </p:nvSpPr>
        <p:spPr>
          <a:xfrm>
            <a:off x="9646920" y="475488"/>
            <a:ext cx="1965960" cy="365760"/>
          </a:xfrm>
          <a:prstGeom prst="roundRect">
            <a:avLst>
              <a:gd name="adj" fmla="val 15000"/>
            </a:avLst>
          </a:prstGeom>
          <a:solidFill>
            <a:srgbClr val="F2F2F5"/>
          </a:solidFill>
          <a:ln/>
        </p:spPr>
      </p:sp>
      <p:sp>
        <p:nvSpPr>
          <p:cNvPr id="5" name="Text 3"/>
          <p:cNvSpPr/>
          <p:nvPr/>
        </p:nvSpPr>
        <p:spPr>
          <a:xfrm>
            <a:off x="9646920" y="475488"/>
            <a:ext cx="1965960" cy="365760"/>
          </a:xfrm>
          <a:prstGeom prst="rect">
            <a:avLst/>
          </a:prstGeom>
          <a:noFill/>
          <a:ln/>
        </p:spPr>
        <p:txBody>
          <a:bodyPr wrap="square" lIns="0" tIns="0" rIns="0" bIns="0" rtlCol="0" anchor="ctr"/>
          <a:lstStyle/>
          <a:p>
            <a:pPr algn="ctr" indent="0" marL="0">
              <a:buNone/>
            </a:pPr>
            <a:r>
              <a:rPr lang="en-US" sz="1050" b="1" dirty="0">
                <a:solidFill>
                  <a:srgbClr val="6B6F80"/>
                </a:solidFill>
                <a:latin typeface="Calibri" pitchFamily="34" charset="0"/>
                <a:ea typeface="Calibri" pitchFamily="34" charset="-122"/>
                <a:cs typeface="Calibri" pitchFamily="34" charset="-120"/>
              </a:rPr>
              <a:t>TILE · 01</a:t>
            </a:r>
            <a:endParaRPr lang="en-US" sz="1050" dirty="0"/>
          </a:p>
        </p:txBody>
      </p:sp>
      <p:sp>
        <p:nvSpPr>
          <p:cNvPr id="6" name="Text 4"/>
          <p:cNvSpPr/>
          <p:nvPr/>
        </p:nvSpPr>
        <p:spPr>
          <a:xfrm>
            <a:off x="11365992" y="6446520"/>
            <a:ext cx="548640" cy="274320"/>
          </a:xfrm>
          <a:prstGeom prst="rect">
            <a:avLst/>
          </a:prstGeom>
          <a:noFill/>
          <a:ln/>
        </p:spPr>
        <p:txBody>
          <a:bodyPr wrap="square" lIns="0" tIns="0" rIns="0" bIns="0" rtlCol="0" anchor="ctr"/>
          <a:lstStyle/>
          <a:p>
            <a:pPr algn="r" indent="0" marL="0">
              <a:buNone/>
            </a:pPr>
            <a:r>
              <a:rPr lang="en-US" sz="900" dirty="0">
                <a:solidFill>
                  <a:srgbClr val="A8ABB8"/>
                </a:solidFill>
                <a:latin typeface="Calibri" pitchFamily="34" charset="0"/>
                <a:ea typeface="Calibri" pitchFamily="34" charset="-122"/>
                <a:cs typeface="Calibri" pitchFamily="34" charset="-120"/>
              </a:rPr>
              <a:t>09</a:t>
            </a:r>
            <a:endParaRPr lang="en-US" sz="900" dirty="0"/>
          </a:p>
        </p:txBody>
      </p:sp>
      <p:graphicFrame>
        <p:nvGraphicFramePr>
          <p:cNvPr id="7" name="Chart 0" descr=""/>
          <p:cNvGraphicFramePr/>
          <p:nvPr/>
        </p:nvGraphicFramePr>
        <p:xfrm>
          <a:off x="548640" y="1600200"/>
          <a:ext cx="7589520" cy="461772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8366760" y="1600200"/>
            <a:ext cx="3291840" cy="4617720"/>
          </a:xfrm>
          <a:prstGeom prst="roundRect">
            <a:avLst>
              <a:gd name="adj" fmla="val 1944"/>
            </a:avLst>
          </a:prstGeom>
          <a:solidFill>
            <a:srgbClr val="1D2030"/>
          </a:solidFill>
          <a:ln/>
        </p:spPr>
      </p:sp>
      <p:sp>
        <p:nvSpPr>
          <p:cNvPr id="9" name="Text 6"/>
          <p:cNvSpPr/>
          <p:nvPr/>
        </p:nvSpPr>
        <p:spPr>
          <a:xfrm>
            <a:off x="8641080" y="1828800"/>
            <a:ext cx="2743200" cy="274320"/>
          </a:xfrm>
          <a:prstGeom prst="rect">
            <a:avLst/>
          </a:prstGeom>
          <a:noFill/>
          <a:ln/>
        </p:spPr>
        <p:txBody>
          <a:bodyPr wrap="square" lIns="0" tIns="0" rIns="0" bIns="0" rtlCol="0" anchor="ctr"/>
          <a:lstStyle/>
          <a:p>
            <a:pPr indent="0" marL="0">
              <a:buNone/>
            </a:pPr>
            <a:r>
              <a:rPr lang="en-US" sz="1100" b="1" spc="150" kern="0" dirty="0">
                <a:solidFill>
                  <a:srgbClr val="E8B84B"/>
                </a:solidFill>
                <a:latin typeface="Calibri" pitchFamily="34" charset="0"/>
                <a:ea typeface="Calibri" pitchFamily="34" charset="-122"/>
                <a:cs typeface="Calibri" pitchFamily="34" charset="-120"/>
              </a:rPr>
              <a:t>인사이트</a:t>
            </a:r>
            <a:endParaRPr lang="en-US" sz="1100" dirty="0"/>
          </a:p>
        </p:txBody>
      </p:sp>
      <p:sp>
        <p:nvSpPr>
          <p:cNvPr id="10" name="Text 7"/>
          <p:cNvSpPr/>
          <p:nvPr/>
        </p:nvSpPr>
        <p:spPr>
          <a:xfrm>
            <a:off x="8641080" y="2194560"/>
            <a:ext cx="2743200" cy="3840480"/>
          </a:xfrm>
          <a:prstGeom prst="rect">
            <a:avLst/>
          </a:prstGeom>
          <a:noFill/>
          <a:ln/>
        </p:spPr>
        <p:txBody>
          <a:bodyPr wrap="square" lIns="0" tIns="0" rIns="0" bIns="0" rtlCol="0" anchor="ctr"/>
          <a:lstStyle/>
          <a:p>
            <a:pPr marL="177800" indent="-177800">
              <a:lnSpc>
                <a:spcPct val="135000"/>
              </a:lnSpc>
              <a:buSzPct val="100000"/>
              <a:buChar char="•"/>
            </a:pPr>
            <a:r>
              <a:rPr lang="en-US" sz="1150" dirty="0">
                <a:solidFill>
                  <a:srgbClr val="D3D5E0"/>
                </a:solidFill>
                <a:latin typeface="Calibri" pitchFamily="34" charset="0"/>
                <a:ea typeface="Calibri" pitchFamily="34" charset="-122"/>
                <a:cs typeface="Calibri" pitchFamily="34" charset="-120"/>
              </a:rPr>
              <a:t>아이온2 — 신작 특유의 밀도 높은 리듬, 시즌1→2→3 무중단 투입</a:t>
            </a:r>
            <a:endParaRPr lang="en-US" sz="1150" dirty="0"/>
          </a:p>
          <a:p>
            <a:pPr marL="177800" indent="-177800">
              <a:lnSpc>
                <a:spcPct val="135000"/>
              </a:lnSpc>
              <a:buSzPct val="100000"/>
              <a:buChar char="•"/>
            </a:pPr>
            <a:r>
              <a:rPr lang="en-US" sz="1150" dirty="0">
                <a:solidFill>
                  <a:srgbClr val="D3D5E0"/>
                </a:solidFill>
                <a:latin typeface="Calibri" pitchFamily="34" charset="0"/>
                <a:ea typeface="Calibri" pitchFamily="34" charset="-122"/>
                <a:cs typeface="Calibri" pitchFamily="34" charset="-120"/>
              </a:rPr>
              <a:t>검은사막M — 8주년 '리마스터'를 4개 분기 하나의 로드맵으로 연결</a:t>
            </a:r>
            <a:endParaRPr lang="en-US" sz="1150" dirty="0"/>
          </a:p>
          <a:p>
            <a:pPr marL="177800" indent="-177800">
              <a:lnSpc>
                <a:spcPct val="135000"/>
              </a:lnSpc>
              <a:buSzPct val="100000"/>
              <a:buChar char="•"/>
            </a:pPr>
            <a:r>
              <a:rPr lang="en-US" sz="1150" dirty="0">
                <a:solidFill>
                  <a:srgbClr val="D3D5E0"/>
                </a:solidFill>
                <a:latin typeface="Calibri" pitchFamily="34" charset="0"/>
                <a:ea typeface="Calibri" pitchFamily="34" charset="-122"/>
                <a:cs typeface="Calibri" pitchFamily="34" charset="-120"/>
              </a:rPr>
              <a:t>메이플M — 4사 중 최저 빈도지만 7/31처럼 콘텐츠를 몰아 배치하는 클러스터링형</a:t>
            </a:r>
            <a:endParaRPr lang="en-US" sz="1150" dirty="0"/>
          </a:p>
          <a:p>
            <a:pPr marL="177800" indent="-177800">
              <a:lnSpc>
                <a:spcPct val="135000"/>
              </a:lnSpc>
              <a:buSzPct val="100000"/>
              <a:buChar char="•"/>
            </a:pPr>
            <a:r>
              <a:rPr lang="en-US" sz="1150" dirty="0">
                <a:solidFill>
                  <a:srgbClr val="D3D5E0"/>
                </a:solidFill>
                <a:latin typeface="Calibri" pitchFamily="34" charset="0"/>
                <a:ea typeface="Calibri" pitchFamily="34" charset="-122"/>
                <a:cs typeface="Calibri" pitchFamily="34" charset="-120"/>
              </a:rPr>
              <a:t>마비노기M — 건수는 고르지만 4~5월 공백이 통계에 잡히지 않는 '휴지기'로 나타남</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61F"/>
        </a:solidFill>
      </p:bgPr>
    </p:bg>
    <p:spTree>
      <p:nvGrpSpPr>
        <p:cNvPr id="1" name=""/>
        <p:cNvGrpSpPr/>
        <p:nvPr/>
      </p:nvGrpSpPr>
      <p:grpSpPr>
        <a:xfrm>
          <a:off x="0" y="0"/>
          <a:ext cx="0" cy="0"/>
          <a:chOff x="0" y="0"/>
          <a:chExt cx="0" cy="0"/>
        </a:xfrm>
      </p:grpSpPr>
      <p:sp>
        <p:nvSpPr>
          <p:cNvPr id="2" name="Shape 0"/>
          <p:cNvSpPr/>
          <p:nvPr/>
        </p:nvSpPr>
        <p:spPr>
          <a:xfrm>
            <a:off x="-2377440" y="4206240"/>
            <a:ext cx="5943600" cy="5943600"/>
          </a:xfrm>
          <a:prstGeom prst="ellipse">
            <a:avLst/>
          </a:prstGeom>
          <a:solidFill>
            <a:srgbClr val="1B1E2C"/>
          </a:solidFill>
          <a:ln/>
        </p:spPr>
      </p:sp>
      <p:sp>
        <p:nvSpPr>
          <p:cNvPr id="3" name="Text 1"/>
          <p:cNvSpPr/>
          <p:nvPr/>
        </p:nvSpPr>
        <p:spPr>
          <a:xfrm>
            <a:off x="822960" y="2286000"/>
            <a:ext cx="3657600" cy="1463040"/>
          </a:xfrm>
          <a:prstGeom prst="rect">
            <a:avLst/>
          </a:prstGeom>
          <a:noFill/>
          <a:ln/>
        </p:spPr>
        <p:txBody>
          <a:bodyPr wrap="square" lIns="0" tIns="0" rIns="0" bIns="0" rtlCol="0" anchor="ctr"/>
          <a:lstStyle/>
          <a:p>
            <a:pPr indent="0" marL="0">
              <a:buNone/>
            </a:pPr>
            <a:r>
              <a:rPr lang="en-US" sz="9000" b="1" dirty="0">
                <a:solidFill>
                  <a:srgbClr val="2A2E42"/>
                </a:solidFill>
                <a:latin typeface="Cambria" pitchFamily="34" charset="0"/>
                <a:ea typeface="Cambria" pitchFamily="34" charset="-122"/>
                <a:cs typeface="Cambria" pitchFamily="34" charset="-120"/>
              </a:rPr>
              <a:t>02</a:t>
            </a:r>
            <a:endParaRPr lang="en-US" sz="9000" dirty="0"/>
          </a:p>
        </p:txBody>
      </p:sp>
      <p:sp>
        <p:nvSpPr>
          <p:cNvPr id="4" name="Text 2"/>
          <p:cNvSpPr/>
          <p:nvPr/>
        </p:nvSpPr>
        <p:spPr>
          <a:xfrm>
            <a:off x="868680" y="3246120"/>
            <a:ext cx="9144000" cy="365760"/>
          </a:xfrm>
          <a:prstGeom prst="rect">
            <a:avLst/>
          </a:prstGeom>
          <a:noFill/>
          <a:ln/>
        </p:spPr>
        <p:txBody>
          <a:bodyPr wrap="square" lIns="0" tIns="0" rIns="0" bIns="0" rtlCol="0" anchor="ctr"/>
          <a:lstStyle/>
          <a:p>
            <a:pPr indent="0" marL="0">
              <a:buNone/>
            </a:pPr>
            <a:r>
              <a:rPr lang="en-US" sz="1300" b="1" spc="300" kern="0" dirty="0">
                <a:solidFill>
                  <a:srgbClr val="F0692B"/>
                </a:solidFill>
                <a:latin typeface="Calibri" pitchFamily="34" charset="0"/>
                <a:ea typeface="Calibri" pitchFamily="34" charset="-122"/>
                <a:cs typeface="Calibri" pitchFamily="34" charset="-120"/>
              </a:rPr>
              <a:t>PERFORMANCE METRICS</a:t>
            </a:r>
            <a:endParaRPr lang="en-US" sz="1300" dirty="0"/>
          </a:p>
        </p:txBody>
      </p:sp>
      <p:sp>
        <p:nvSpPr>
          <p:cNvPr id="5" name="Text 3"/>
          <p:cNvSpPr/>
          <p:nvPr/>
        </p:nvSpPr>
        <p:spPr>
          <a:xfrm>
            <a:off x="822960" y="3611880"/>
            <a:ext cx="10058400" cy="10058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성과 지표</a:t>
            </a:r>
            <a:endParaRPr lang="en-US" sz="3400" dirty="0"/>
          </a:p>
        </p:txBody>
      </p:sp>
      <p:sp>
        <p:nvSpPr>
          <p:cNvPr id="6" name="Text 4"/>
          <p:cNvSpPr/>
          <p:nvPr/>
        </p:nvSpPr>
        <p:spPr>
          <a:xfrm>
            <a:off x="11365992" y="6446520"/>
            <a:ext cx="548640" cy="274320"/>
          </a:xfrm>
          <a:prstGeom prst="rect">
            <a:avLst/>
          </a:prstGeom>
          <a:noFill/>
          <a:ln/>
        </p:spPr>
        <p:txBody>
          <a:bodyPr wrap="square" lIns="0" tIns="0" rIns="0" bIns="0" rtlCol="0" anchor="ctr"/>
          <a:lstStyle/>
          <a:p>
            <a:pPr algn="r" indent="0" marL="0">
              <a:buNone/>
            </a:pPr>
            <a:r>
              <a:rPr lang="en-US" sz="900" dirty="0">
                <a:solidFill>
                  <a:srgbClr val="6A6E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lIns="0" tIns="0" rIns="0" bIns="0" rtlCol="0" anchor="ctr"/>
          <a:lstStyle/>
          <a:p>
            <a:pPr indent="0" marL="0">
              <a:buNone/>
            </a:pPr>
            <a:r>
              <a:rPr lang="en-US" sz="1250" b="1" spc="200" kern="0" dirty="0">
                <a:solidFill>
                  <a:srgbClr val="F0692B"/>
                </a:solidFill>
                <a:latin typeface="Calibri" pitchFamily="34" charset="0"/>
                <a:ea typeface="Calibri" pitchFamily="34" charset="-122"/>
                <a:cs typeface="Calibri" pitchFamily="34" charset="-120"/>
              </a:rPr>
              <a:t>02 · PERFORMANCE METRICS</a:t>
            </a:r>
            <a:endParaRPr lang="en-US" sz="1250" dirty="0"/>
          </a:p>
        </p:txBody>
      </p:sp>
      <p:sp>
        <p:nvSpPr>
          <p:cNvPr id="3" name="Text 1"/>
          <p:cNvSpPr/>
          <p:nvPr/>
        </p:nvSpPr>
        <p:spPr>
          <a:xfrm>
            <a:off x="548640" y="749808"/>
            <a:ext cx="10789920" cy="640080"/>
          </a:xfrm>
          <a:prstGeom prst="rect">
            <a:avLst/>
          </a:prstGeom>
          <a:noFill/>
          <a:ln/>
        </p:spPr>
        <p:txBody>
          <a:bodyPr wrap="square" lIns="0" tIns="0" rIns="0" bIns="0" rtlCol="0" anchor="ctr"/>
          <a:lstStyle/>
          <a:p>
            <a:pPr indent="0" marL="0">
              <a:buNone/>
            </a:pPr>
            <a:r>
              <a:rPr lang="en-US" sz="2800" b="1" dirty="0">
                <a:solidFill>
                  <a:srgbClr val="1C1E29"/>
                </a:solidFill>
                <a:latin typeface="Cambria" pitchFamily="34" charset="0"/>
                <a:ea typeface="Cambria" pitchFamily="34" charset="-122"/>
                <a:cs typeface="Cambria" pitchFamily="34" charset="-120"/>
              </a:rPr>
              <a:t>매출순위 주간 추이</a:t>
            </a:r>
            <a:endParaRPr lang="en-US" sz="2800" dirty="0"/>
          </a:p>
        </p:txBody>
      </p:sp>
      <p:sp>
        <p:nvSpPr>
          <p:cNvPr id="4" name="Shape 2"/>
          <p:cNvSpPr/>
          <p:nvPr/>
        </p:nvSpPr>
        <p:spPr>
          <a:xfrm>
            <a:off x="9646920" y="475488"/>
            <a:ext cx="1965960" cy="365760"/>
          </a:xfrm>
          <a:prstGeom prst="roundRect">
            <a:avLst>
              <a:gd name="adj" fmla="val 15000"/>
            </a:avLst>
          </a:prstGeom>
          <a:solidFill>
            <a:srgbClr val="F2F2F5"/>
          </a:solidFill>
          <a:ln/>
        </p:spPr>
      </p:sp>
      <p:sp>
        <p:nvSpPr>
          <p:cNvPr id="5" name="Text 3"/>
          <p:cNvSpPr/>
          <p:nvPr/>
        </p:nvSpPr>
        <p:spPr>
          <a:xfrm>
            <a:off x="9646920" y="475488"/>
            <a:ext cx="1965960" cy="365760"/>
          </a:xfrm>
          <a:prstGeom prst="rect">
            <a:avLst/>
          </a:prstGeom>
          <a:noFill/>
          <a:ln/>
        </p:spPr>
        <p:txBody>
          <a:bodyPr wrap="square" lIns="0" tIns="0" rIns="0" bIns="0" rtlCol="0" anchor="ctr"/>
          <a:lstStyle/>
          <a:p>
            <a:pPr algn="ctr" indent="0" marL="0">
              <a:buNone/>
            </a:pPr>
            <a:r>
              <a:rPr lang="en-US" sz="1050" b="1" dirty="0">
                <a:solidFill>
                  <a:srgbClr val="6B6F80"/>
                </a:solidFill>
                <a:latin typeface="Calibri" pitchFamily="34" charset="0"/>
                <a:ea typeface="Calibri" pitchFamily="34" charset="-122"/>
                <a:cs typeface="Calibri" pitchFamily="34" charset="-120"/>
              </a:rPr>
              <a:t>TILE · 02</a:t>
            </a:r>
            <a:endParaRPr lang="en-US" sz="1050" dirty="0"/>
          </a:p>
        </p:txBody>
      </p:sp>
      <p:sp>
        <p:nvSpPr>
          <p:cNvPr id="6" name="Text 4"/>
          <p:cNvSpPr/>
          <p:nvPr/>
        </p:nvSpPr>
        <p:spPr>
          <a:xfrm>
            <a:off x="548640" y="6400800"/>
            <a:ext cx="10332720" cy="274320"/>
          </a:xfrm>
          <a:prstGeom prst="rect">
            <a:avLst/>
          </a:prstGeom>
          <a:noFill/>
          <a:ln/>
        </p:spPr>
        <p:txBody>
          <a:bodyPr wrap="square" lIns="0" tIns="0" rIns="0" bIns="0" rtlCol="0" anchor="ctr"/>
          <a:lstStyle/>
          <a:p>
            <a:pPr indent="0" marL="0">
              <a:buNone/>
            </a:pPr>
            <a:r>
              <a:rPr lang="en-US" sz="900" dirty="0">
                <a:solidFill>
                  <a:srgbClr val="9A9DAC"/>
                </a:solidFill>
                <a:latin typeface="Calibri" pitchFamily="34" charset="0"/>
                <a:ea typeface="Calibri" pitchFamily="34" charset="-122"/>
                <a:cs typeface="Calibri" pitchFamily="34" charset="-120"/>
              </a:rPr>
              <a:t>출처: mobileindex.com  ·  숫자가 낮을수록 상위 순위. 검은사막M은 7/20 이후 트래킹 이탈</a:t>
            </a:r>
            <a:endParaRPr lang="en-US" sz="900" dirty="0"/>
          </a:p>
        </p:txBody>
      </p:sp>
      <p:sp>
        <p:nvSpPr>
          <p:cNvPr id="7" name="Text 5"/>
          <p:cNvSpPr/>
          <p:nvPr/>
        </p:nvSpPr>
        <p:spPr>
          <a:xfrm>
            <a:off x="11365992" y="6446520"/>
            <a:ext cx="548640" cy="274320"/>
          </a:xfrm>
          <a:prstGeom prst="rect">
            <a:avLst/>
          </a:prstGeom>
          <a:noFill/>
          <a:ln/>
        </p:spPr>
        <p:txBody>
          <a:bodyPr wrap="square" lIns="0" tIns="0" rIns="0" bIns="0" rtlCol="0" anchor="ctr"/>
          <a:lstStyle/>
          <a:p>
            <a:pPr algn="r" indent="0" marL="0">
              <a:buNone/>
            </a:pPr>
            <a:r>
              <a:rPr lang="en-US" sz="900" dirty="0">
                <a:solidFill>
                  <a:srgbClr val="A8ABB8"/>
                </a:solidFill>
                <a:latin typeface="Calibri" pitchFamily="34" charset="0"/>
                <a:ea typeface="Calibri" pitchFamily="34" charset="-122"/>
                <a:cs typeface="Calibri" pitchFamily="34" charset="-120"/>
              </a:rPr>
              <a:t>11</a:t>
            </a:r>
            <a:endParaRPr lang="en-US" sz="900" dirty="0"/>
          </a:p>
        </p:txBody>
      </p:sp>
      <p:graphicFrame>
        <p:nvGraphicFramePr>
          <p:cNvPr id="8" name="Chart 0" descr=""/>
          <p:cNvGraphicFramePr/>
          <p:nvPr/>
        </p:nvGraphicFramePr>
        <p:xfrm>
          <a:off x="548640" y="1554480"/>
          <a:ext cx="11064240" cy="470916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lIns="0" tIns="0" rIns="0" bIns="0" rtlCol="0" anchor="ctr"/>
          <a:lstStyle/>
          <a:p>
            <a:pPr indent="0" marL="0">
              <a:buNone/>
            </a:pPr>
            <a:r>
              <a:rPr lang="en-US" sz="1250" b="1" spc="200" kern="0" dirty="0">
                <a:solidFill>
                  <a:srgbClr val="F0692B"/>
                </a:solidFill>
                <a:latin typeface="Calibri" pitchFamily="34" charset="0"/>
                <a:ea typeface="Calibri" pitchFamily="34" charset="-122"/>
                <a:cs typeface="Calibri" pitchFamily="34" charset="-120"/>
              </a:rPr>
              <a:t>02 · PERFORMANCE METRICS</a:t>
            </a:r>
            <a:endParaRPr lang="en-US" sz="1250" dirty="0"/>
          </a:p>
        </p:txBody>
      </p:sp>
      <p:sp>
        <p:nvSpPr>
          <p:cNvPr id="3" name="Text 1"/>
          <p:cNvSpPr/>
          <p:nvPr/>
        </p:nvSpPr>
        <p:spPr>
          <a:xfrm>
            <a:off x="548640" y="749808"/>
            <a:ext cx="10789920" cy="640080"/>
          </a:xfrm>
          <a:prstGeom prst="rect">
            <a:avLst/>
          </a:prstGeom>
          <a:noFill/>
          <a:ln/>
        </p:spPr>
        <p:txBody>
          <a:bodyPr wrap="square" lIns="0" tIns="0" rIns="0" bIns="0" rtlCol="0" anchor="ctr"/>
          <a:lstStyle/>
          <a:p>
            <a:pPr indent="0" marL="0">
              <a:buNone/>
            </a:pPr>
            <a:r>
              <a:rPr lang="en-US" sz="2800" b="1" dirty="0">
                <a:solidFill>
                  <a:srgbClr val="1C1E29"/>
                </a:solidFill>
                <a:latin typeface="Cambria" pitchFamily="34" charset="0"/>
                <a:ea typeface="Cambria" pitchFamily="34" charset="-122"/>
                <a:cs typeface="Cambria" pitchFamily="34" charset="-120"/>
              </a:rPr>
              <a:t>이용자순위 주간 추이</a:t>
            </a:r>
            <a:endParaRPr lang="en-US" sz="2800" dirty="0"/>
          </a:p>
        </p:txBody>
      </p:sp>
      <p:sp>
        <p:nvSpPr>
          <p:cNvPr id="4" name="Shape 2"/>
          <p:cNvSpPr/>
          <p:nvPr/>
        </p:nvSpPr>
        <p:spPr>
          <a:xfrm>
            <a:off x="9646920" y="475488"/>
            <a:ext cx="1965960" cy="365760"/>
          </a:xfrm>
          <a:prstGeom prst="roundRect">
            <a:avLst>
              <a:gd name="adj" fmla="val 15000"/>
            </a:avLst>
          </a:prstGeom>
          <a:solidFill>
            <a:srgbClr val="F2F2F5"/>
          </a:solidFill>
          <a:ln/>
        </p:spPr>
      </p:sp>
      <p:sp>
        <p:nvSpPr>
          <p:cNvPr id="5" name="Text 3"/>
          <p:cNvSpPr/>
          <p:nvPr/>
        </p:nvSpPr>
        <p:spPr>
          <a:xfrm>
            <a:off x="9646920" y="475488"/>
            <a:ext cx="1965960" cy="365760"/>
          </a:xfrm>
          <a:prstGeom prst="rect">
            <a:avLst/>
          </a:prstGeom>
          <a:noFill/>
          <a:ln/>
        </p:spPr>
        <p:txBody>
          <a:bodyPr wrap="square" lIns="0" tIns="0" rIns="0" bIns="0" rtlCol="0" anchor="ctr"/>
          <a:lstStyle/>
          <a:p>
            <a:pPr algn="ctr" indent="0" marL="0">
              <a:buNone/>
            </a:pPr>
            <a:r>
              <a:rPr lang="en-US" sz="1050" b="1" dirty="0">
                <a:solidFill>
                  <a:srgbClr val="6B6F80"/>
                </a:solidFill>
                <a:latin typeface="Calibri" pitchFamily="34" charset="0"/>
                <a:ea typeface="Calibri" pitchFamily="34" charset="-122"/>
                <a:cs typeface="Calibri" pitchFamily="34" charset="-120"/>
              </a:rPr>
              <a:t>TILE · 03</a:t>
            </a:r>
            <a:endParaRPr lang="en-US" sz="1050" dirty="0"/>
          </a:p>
        </p:txBody>
      </p:sp>
      <p:sp>
        <p:nvSpPr>
          <p:cNvPr id="6" name="Text 4"/>
          <p:cNvSpPr/>
          <p:nvPr/>
        </p:nvSpPr>
        <p:spPr>
          <a:xfrm>
            <a:off x="548640" y="6400800"/>
            <a:ext cx="10332720" cy="274320"/>
          </a:xfrm>
          <a:prstGeom prst="rect">
            <a:avLst/>
          </a:prstGeom>
          <a:noFill/>
          <a:ln/>
        </p:spPr>
        <p:txBody>
          <a:bodyPr wrap="square" lIns="0" tIns="0" rIns="0" bIns="0" rtlCol="0" anchor="ctr"/>
          <a:lstStyle/>
          <a:p>
            <a:pPr indent="0" marL="0">
              <a:buNone/>
            </a:pPr>
            <a:r>
              <a:rPr lang="en-US" sz="900" dirty="0">
                <a:solidFill>
                  <a:srgbClr val="9A9DAC"/>
                </a:solidFill>
                <a:latin typeface="Calibri" pitchFamily="34" charset="0"/>
                <a:ea typeface="Calibri" pitchFamily="34" charset="-122"/>
                <a:cs typeface="Calibri" pitchFamily="34" charset="-120"/>
              </a:rPr>
              <a:t>출처: mobileindex.com  ·  숫자가 낮을수록 상위 순위. 검은사막M은 2026.3월 이후 대부분 미집계</a:t>
            </a:r>
            <a:endParaRPr lang="en-US" sz="900" dirty="0"/>
          </a:p>
        </p:txBody>
      </p:sp>
      <p:sp>
        <p:nvSpPr>
          <p:cNvPr id="7" name="Text 5"/>
          <p:cNvSpPr/>
          <p:nvPr/>
        </p:nvSpPr>
        <p:spPr>
          <a:xfrm>
            <a:off x="11365992" y="6446520"/>
            <a:ext cx="548640" cy="274320"/>
          </a:xfrm>
          <a:prstGeom prst="rect">
            <a:avLst/>
          </a:prstGeom>
          <a:noFill/>
          <a:ln/>
        </p:spPr>
        <p:txBody>
          <a:bodyPr wrap="square" lIns="0" tIns="0" rIns="0" bIns="0" rtlCol="0" anchor="ctr"/>
          <a:lstStyle/>
          <a:p>
            <a:pPr algn="r" indent="0" marL="0">
              <a:buNone/>
            </a:pPr>
            <a:r>
              <a:rPr lang="en-US" sz="900" dirty="0">
                <a:solidFill>
                  <a:srgbClr val="A8ABB8"/>
                </a:solidFill>
                <a:latin typeface="Calibri" pitchFamily="34" charset="0"/>
                <a:ea typeface="Calibri" pitchFamily="34" charset="-122"/>
                <a:cs typeface="Calibri" pitchFamily="34" charset="-120"/>
              </a:rPr>
              <a:t>12</a:t>
            </a:r>
            <a:endParaRPr lang="en-US" sz="900" dirty="0"/>
          </a:p>
        </p:txBody>
      </p:sp>
      <p:graphicFrame>
        <p:nvGraphicFramePr>
          <p:cNvPr id="8" name="Chart 0" descr=""/>
          <p:cNvGraphicFramePr/>
          <p:nvPr/>
        </p:nvGraphicFramePr>
        <p:xfrm>
          <a:off x="548640" y="1554480"/>
          <a:ext cx="11064240" cy="470916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61F"/>
        </a:solidFill>
      </p:bgPr>
    </p:bg>
    <p:spTree>
      <p:nvGrpSpPr>
        <p:cNvPr id="1" name=""/>
        <p:cNvGrpSpPr/>
        <p:nvPr/>
      </p:nvGrpSpPr>
      <p:grpSpPr>
        <a:xfrm>
          <a:off x="0" y="0"/>
          <a:ext cx="0" cy="0"/>
          <a:chOff x="0" y="0"/>
          <a:chExt cx="0" cy="0"/>
        </a:xfrm>
      </p:grpSpPr>
      <p:sp>
        <p:nvSpPr>
          <p:cNvPr id="2" name="Shape 0"/>
          <p:cNvSpPr/>
          <p:nvPr/>
        </p:nvSpPr>
        <p:spPr>
          <a:xfrm>
            <a:off x="-2377440" y="4206240"/>
            <a:ext cx="5943600" cy="5943600"/>
          </a:xfrm>
          <a:prstGeom prst="ellipse">
            <a:avLst/>
          </a:prstGeom>
          <a:solidFill>
            <a:srgbClr val="1B1E2C"/>
          </a:solidFill>
          <a:ln/>
        </p:spPr>
      </p:sp>
      <p:sp>
        <p:nvSpPr>
          <p:cNvPr id="3" name="Text 1"/>
          <p:cNvSpPr/>
          <p:nvPr/>
        </p:nvSpPr>
        <p:spPr>
          <a:xfrm>
            <a:off x="822960" y="2286000"/>
            <a:ext cx="3657600" cy="1463040"/>
          </a:xfrm>
          <a:prstGeom prst="rect">
            <a:avLst/>
          </a:prstGeom>
          <a:noFill/>
          <a:ln/>
        </p:spPr>
        <p:txBody>
          <a:bodyPr wrap="square" lIns="0" tIns="0" rIns="0" bIns="0" rtlCol="0" anchor="ctr"/>
          <a:lstStyle/>
          <a:p>
            <a:pPr indent="0" marL="0">
              <a:buNone/>
            </a:pPr>
            <a:r>
              <a:rPr lang="en-US" sz="9000" b="1" dirty="0">
                <a:solidFill>
                  <a:srgbClr val="2A2E42"/>
                </a:solidFill>
                <a:latin typeface="Cambria" pitchFamily="34" charset="0"/>
                <a:ea typeface="Cambria" pitchFamily="34" charset="-122"/>
                <a:cs typeface="Cambria" pitchFamily="34" charset="-120"/>
              </a:rPr>
              <a:t>03</a:t>
            </a:r>
            <a:endParaRPr lang="en-US" sz="9000" dirty="0"/>
          </a:p>
        </p:txBody>
      </p:sp>
      <p:sp>
        <p:nvSpPr>
          <p:cNvPr id="4" name="Text 2"/>
          <p:cNvSpPr/>
          <p:nvPr/>
        </p:nvSpPr>
        <p:spPr>
          <a:xfrm>
            <a:off x="868680" y="3246120"/>
            <a:ext cx="9144000" cy="365760"/>
          </a:xfrm>
          <a:prstGeom prst="rect">
            <a:avLst/>
          </a:prstGeom>
          <a:noFill/>
          <a:ln/>
        </p:spPr>
        <p:txBody>
          <a:bodyPr wrap="square" lIns="0" tIns="0" rIns="0" bIns="0" rtlCol="0" anchor="ctr"/>
          <a:lstStyle/>
          <a:p>
            <a:pPr indent="0" marL="0">
              <a:buNone/>
            </a:pPr>
            <a:r>
              <a:rPr lang="en-US" sz="1300" b="1" spc="300" kern="0" dirty="0">
                <a:solidFill>
                  <a:srgbClr val="F0692B"/>
                </a:solidFill>
                <a:latin typeface="Calibri" pitchFamily="34" charset="0"/>
                <a:ea typeface="Calibri" pitchFamily="34" charset="-122"/>
                <a:cs typeface="Calibri" pitchFamily="34" charset="-120"/>
              </a:rPr>
              <a:t>AD SPEND &amp; EFFICIENCY</a:t>
            </a:r>
            <a:endParaRPr lang="en-US" sz="1300" dirty="0"/>
          </a:p>
        </p:txBody>
      </p:sp>
      <p:sp>
        <p:nvSpPr>
          <p:cNvPr id="5" name="Text 3"/>
          <p:cNvSpPr/>
          <p:nvPr/>
        </p:nvSpPr>
        <p:spPr>
          <a:xfrm>
            <a:off x="822960" y="3611880"/>
            <a:ext cx="10058400" cy="10058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광고비·마케팅 효율</a:t>
            </a:r>
            <a:endParaRPr lang="en-US" sz="3400" dirty="0"/>
          </a:p>
        </p:txBody>
      </p:sp>
      <p:sp>
        <p:nvSpPr>
          <p:cNvPr id="6" name="Text 4"/>
          <p:cNvSpPr/>
          <p:nvPr/>
        </p:nvSpPr>
        <p:spPr>
          <a:xfrm>
            <a:off x="11365992" y="6446520"/>
            <a:ext cx="548640" cy="274320"/>
          </a:xfrm>
          <a:prstGeom prst="rect">
            <a:avLst/>
          </a:prstGeom>
          <a:noFill/>
          <a:ln/>
        </p:spPr>
        <p:txBody>
          <a:bodyPr wrap="square" lIns="0" tIns="0" rIns="0" bIns="0" rtlCol="0" anchor="ctr"/>
          <a:lstStyle/>
          <a:p>
            <a:pPr algn="r" indent="0" marL="0">
              <a:buNone/>
            </a:pPr>
            <a:r>
              <a:rPr lang="en-US" sz="900" dirty="0">
                <a:solidFill>
                  <a:srgbClr val="6A6E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lIns="0" tIns="0" rIns="0" bIns="0" rtlCol="0" anchor="ctr"/>
          <a:lstStyle/>
          <a:p>
            <a:pPr indent="0" marL="0">
              <a:buNone/>
            </a:pPr>
            <a:r>
              <a:rPr lang="en-US" sz="1250" b="1" spc="200" kern="0" dirty="0">
                <a:solidFill>
                  <a:srgbClr val="F0692B"/>
                </a:solidFill>
                <a:latin typeface="Calibri" pitchFamily="34" charset="0"/>
                <a:ea typeface="Calibri" pitchFamily="34" charset="-122"/>
                <a:cs typeface="Calibri" pitchFamily="34" charset="-120"/>
              </a:rPr>
              <a:t>03 · AD SPEND &amp; EFFICIENCY</a:t>
            </a:r>
            <a:endParaRPr lang="en-US" sz="1250" dirty="0"/>
          </a:p>
        </p:txBody>
      </p:sp>
      <p:sp>
        <p:nvSpPr>
          <p:cNvPr id="3" name="Text 1"/>
          <p:cNvSpPr/>
          <p:nvPr/>
        </p:nvSpPr>
        <p:spPr>
          <a:xfrm>
            <a:off x="548640" y="749808"/>
            <a:ext cx="10789920" cy="640080"/>
          </a:xfrm>
          <a:prstGeom prst="rect">
            <a:avLst/>
          </a:prstGeom>
          <a:noFill/>
          <a:ln/>
        </p:spPr>
        <p:txBody>
          <a:bodyPr wrap="square" lIns="0" tIns="0" rIns="0" bIns="0" rtlCol="0" anchor="ctr"/>
          <a:lstStyle/>
          <a:p>
            <a:pPr indent="0" marL="0">
              <a:buNone/>
            </a:pPr>
            <a:r>
              <a:rPr lang="en-US" sz="2800" b="1" dirty="0">
                <a:solidFill>
                  <a:srgbClr val="1C1E29"/>
                </a:solidFill>
                <a:latin typeface="Cambria" pitchFamily="34" charset="0"/>
                <a:ea typeface="Cambria" pitchFamily="34" charset="-122"/>
                <a:cs typeface="Cambria" pitchFamily="34" charset="-120"/>
              </a:rPr>
              <a:t>광고선전비 비교 (별도 재무제표 기준)</a:t>
            </a:r>
            <a:endParaRPr lang="en-US" sz="2800" dirty="0"/>
          </a:p>
        </p:txBody>
      </p:sp>
      <p:sp>
        <p:nvSpPr>
          <p:cNvPr id="4" name="Shape 2"/>
          <p:cNvSpPr/>
          <p:nvPr/>
        </p:nvSpPr>
        <p:spPr>
          <a:xfrm>
            <a:off x="9646920" y="475488"/>
            <a:ext cx="1965960" cy="365760"/>
          </a:xfrm>
          <a:prstGeom prst="roundRect">
            <a:avLst>
              <a:gd name="adj" fmla="val 15000"/>
            </a:avLst>
          </a:prstGeom>
          <a:solidFill>
            <a:srgbClr val="F2F2F5"/>
          </a:solidFill>
          <a:ln/>
        </p:spPr>
      </p:sp>
      <p:sp>
        <p:nvSpPr>
          <p:cNvPr id="5" name="Text 3"/>
          <p:cNvSpPr/>
          <p:nvPr/>
        </p:nvSpPr>
        <p:spPr>
          <a:xfrm>
            <a:off x="9646920" y="475488"/>
            <a:ext cx="1965960" cy="365760"/>
          </a:xfrm>
          <a:prstGeom prst="rect">
            <a:avLst/>
          </a:prstGeom>
          <a:noFill/>
          <a:ln/>
        </p:spPr>
        <p:txBody>
          <a:bodyPr wrap="square" lIns="0" tIns="0" rIns="0" bIns="0" rtlCol="0" anchor="ctr"/>
          <a:lstStyle/>
          <a:p>
            <a:pPr algn="ctr" indent="0" marL="0">
              <a:buNone/>
            </a:pPr>
            <a:r>
              <a:rPr lang="en-US" sz="1050" b="1" dirty="0">
                <a:solidFill>
                  <a:srgbClr val="6B6F80"/>
                </a:solidFill>
                <a:latin typeface="Calibri" pitchFamily="34" charset="0"/>
                <a:ea typeface="Calibri" pitchFamily="34" charset="-122"/>
                <a:cs typeface="Calibri" pitchFamily="34" charset="-120"/>
              </a:rPr>
              <a:t>TILE · 04</a:t>
            </a:r>
            <a:endParaRPr lang="en-US" sz="1050" dirty="0"/>
          </a:p>
        </p:txBody>
      </p:sp>
      <p:sp>
        <p:nvSpPr>
          <p:cNvPr id="6" name="Text 4"/>
          <p:cNvSpPr/>
          <p:nvPr/>
        </p:nvSpPr>
        <p:spPr>
          <a:xfrm>
            <a:off x="548640" y="6400800"/>
            <a:ext cx="10332720" cy="274320"/>
          </a:xfrm>
          <a:prstGeom prst="rect">
            <a:avLst/>
          </a:prstGeom>
          <a:noFill/>
          <a:ln/>
        </p:spPr>
        <p:txBody>
          <a:bodyPr wrap="square" lIns="0" tIns="0" rIns="0" bIns="0" rtlCol="0" anchor="ctr"/>
          <a:lstStyle/>
          <a:p>
            <a:pPr indent="0" marL="0">
              <a:buNone/>
            </a:pPr>
            <a:r>
              <a:rPr lang="en-US" sz="900" dirty="0">
                <a:solidFill>
                  <a:srgbClr val="9A9DAC"/>
                </a:solidFill>
                <a:latin typeface="Calibri" pitchFamily="34" charset="0"/>
                <a:ea typeface="Calibri" pitchFamily="34" charset="-122"/>
                <a:cs typeface="Calibri" pitchFamily="34" charset="-120"/>
              </a:rPr>
              <a:t>출처: 각사 사업보고서/반기보고서 '비용의 성격별 분류' 주석(DART). 회사 전체 기준 — 타이틀별 배분 아님(지표 정의서 참조)</a:t>
            </a:r>
            <a:endParaRPr lang="en-US" sz="900" dirty="0"/>
          </a:p>
        </p:txBody>
      </p:sp>
      <p:sp>
        <p:nvSpPr>
          <p:cNvPr id="7" name="Text 5"/>
          <p:cNvSpPr/>
          <p:nvPr/>
        </p:nvSpPr>
        <p:spPr>
          <a:xfrm>
            <a:off x="11365992" y="6446520"/>
            <a:ext cx="548640" cy="274320"/>
          </a:xfrm>
          <a:prstGeom prst="rect">
            <a:avLst/>
          </a:prstGeom>
          <a:noFill/>
          <a:ln/>
        </p:spPr>
        <p:txBody>
          <a:bodyPr wrap="square" lIns="0" tIns="0" rIns="0" bIns="0" rtlCol="0" anchor="ctr"/>
          <a:lstStyle/>
          <a:p>
            <a:pPr algn="r" indent="0" marL="0">
              <a:buNone/>
            </a:pPr>
            <a:r>
              <a:rPr lang="en-US" sz="900" dirty="0">
                <a:solidFill>
                  <a:srgbClr val="A8ABB8"/>
                </a:solidFill>
                <a:latin typeface="Calibri" pitchFamily="34" charset="0"/>
                <a:ea typeface="Calibri" pitchFamily="34" charset="-122"/>
                <a:cs typeface="Calibri" pitchFamily="34" charset="-120"/>
              </a:rPr>
              <a:t>14</a:t>
            </a:r>
            <a:endParaRPr lang="en-US" sz="900" dirty="0"/>
          </a:p>
        </p:txBody>
      </p:sp>
      <p:graphicFrame>
        <p:nvGraphicFramePr>
          <p:cNvPr id="8" name="Chart 0" descr=""/>
          <p:cNvGraphicFramePr/>
          <p:nvPr/>
        </p:nvGraphicFramePr>
        <p:xfrm>
          <a:off x="548640" y="1691640"/>
          <a:ext cx="7498080" cy="452628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8275320" y="1691640"/>
            <a:ext cx="3383280" cy="4526280"/>
          </a:xfrm>
          <a:prstGeom prst="roundRect">
            <a:avLst>
              <a:gd name="adj" fmla="val 1892"/>
            </a:avLst>
          </a:prstGeom>
          <a:solidFill>
            <a:srgbClr val="1D2030"/>
          </a:solidFill>
          <a:ln/>
        </p:spPr>
      </p:sp>
      <p:sp>
        <p:nvSpPr>
          <p:cNvPr id="10" name="Text 7"/>
          <p:cNvSpPr/>
          <p:nvPr/>
        </p:nvSpPr>
        <p:spPr>
          <a:xfrm>
            <a:off x="8549640" y="1920240"/>
            <a:ext cx="2834640" cy="274320"/>
          </a:xfrm>
          <a:prstGeom prst="rect">
            <a:avLst/>
          </a:prstGeom>
          <a:noFill/>
          <a:ln/>
        </p:spPr>
        <p:txBody>
          <a:bodyPr wrap="square" lIns="0" tIns="0" rIns="0" bIns="0" rtlCol="0" anchor="ctr"/>
          <a:lstStyle/>
          <a:p>
            <a:pPr indent="0" marL="0">
              <a:buNone/>
            </a:pPr>
            <a:r>
              <a:rPr lang="en-US" sz="1100" b="1" spc="150" kern="0" dirty="0">
                <a:solidFill>
                  <a:srgbClr val="E8B84B"/>
                </a:solidFill>
                <a:latin typeface="Calibri" pitchFamily="34" charset="0"/>
                <a:ea typeface="Calibri" pitchFamily="34" charset="-122"/>
                <a:cs typeface="Calibri" pitchFamily="34" charset="-120"/>
              </a:rPr>
              <a:t>읽는 법</a:t>
            </a:r>
            <a:endParaRPr lang="en-US" sz="1100" dirty="0"/>
          </a:p>
        </p:txBody>
      </p:sp>
      <p:sp>
        <p:nvSpPr>
          <p:cNvPr id="11" name="Text 8"/>
          <p:cNvSpPr/>
          <p:nvPr/>
        </p:nvSpPr>
        <p:spPr>
          <a:xfrm>
            <a:off x="8549640" y="2286000"/>
            <a:ext cx="2834640" cy="3749040"/>
          </a:xfrm>
          <a:prstGeom prst="rect">
            <a:avLst/>
          </a:prstGeom>
          <a:noFill/>
          <a:ln/>
        </p:spPr>
        <p:txBody>
          <a:bodyPr wrap="square" lIns="0" tIns="0" rIns="0" bIns="0" rtlCol="0" anchor="ctr"/>
          <a:lstStyle/>
          <a:p>
            <a:pPr marL="177800" indent="-177800">
              <a:lnSpc>
                <a:spcPct val="135000"/>
              </a:lnSpc>
              <a:buSzPct val="100000"/>
              <a:buChar char="•"/>
            </a:pPr>
            <a:r>
              <a:rPr lang="en-US" sz="1100" dirty="0">
                <a:solidFill>
                  <a:srgbClr val="D3D5E0"/>
                </a:solidFill>
                <a:latin typeface="Calibri" pitchFamily="34" charset="0"/>
                <a:ea typeface="Calibri" pitchFamily="34" charset="-122"/>
                <a:cs typeface="Calibri" pitchFamily="34" charset="-120"/>
              </a:rPr>
              <a:t>각 사 '별도' 재무제표 기준 — 해당 회사가 직접 운영하는 타이틀 전체 합산 광고비</a:t>
            </a:r>
            <a:endParaRPr lang="en-US" sz="1100" dirty="0"/>
          </a:p>
          <a:p>
            <a:pPr marL="177800" indent="-177800">
              <a:lnSpc>
                <a:spcPct val="135000"/>
              </a:lnSpc>
              <a:buSzPct val="100000"/>
              <a:buChar char="•"/>
            </a:pPr>
            <a:r>
              <a:rPr lang="en-US" sz="1100" dirty="0">
                <a:solidFill>
                  <a:srgbClr val="D3D5E0"/>
                </a:solidFill>
                <a:latin typeface="Calibri" pitchFamily="34" charset="0"/>
                <a:ea typeface="Calibri" pitchFamily="34" charset="-122"/>
                <a:cs typeface="Calibri" pitchFamily="34" charset="-120"/>
              </a:rPr>
              <a:t>넥슨코리아 수치는 메이플스토리 프랜차이즈 외 타이틀도 포함(별도 배분 불가)</a:t>
            </a:r>
            <a:endParaRPr lang="en-US" sz="1100" dirty="0"/>
          </a:p>
          <a:p>
            <a:pPr marL="177800" indent="-177800">
              <a:lnSpc>
                <a:spcPct val="135000"/>
              </a:lnSpc>
              <a:buSzPct val="100000"/>
              <a:buChar char="•"/>
            </a:pPr>
            <a:r>
              <a:rPr lang="en-US" sz="1100" dirty="0">
                <a:solidFill>
                  <a:srgbClr val="D3D5E0"/>
                </a:solidFill>
                <a:latin typeface="Calibri" pitchFamily="34" charset="0"/>
                <a:ea typeface="Calibri" pitchFamily="34" charset="-122"/>
                <a:cs typeface="Calibri" pitchFamily="34" charset="-120"/>
              </a:rPr>
              <a:t>펄어비스·엔씨는 연결 기준 광고비가 별도보다 훨씬 큼 — 해외 법인이 대부분 집행 (다음 슬라이드 참조)</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lIns="0" tIns="0" rIns="0" bIns="0" rtlCol="0" anchor="ctr"/>
          <a:lstStyle/>
          <a:p>
            <a:pPr indent="0" marL="0">
              <a:buNone/>
            </a:pPr>
            <a:r>
              <a:rPr lang="en-US" sz="1250" b="1" spc="200" kern="0" dirty="0">
                <a:solidFill>
                  <a:srgbClr val="F0692B"/>
                </a:solidFill>
                <a:latin typeface="Calibri" pitchFamily="34" charset="0"/>
                <a:ea typeface="Calibri" pitchFamily="34" charset="-122"/>
                <a:cs typeface="Calibri" pitchFamily="34" charset="-120"/>
              </a:rPr>
              <a:t>03 · AD SPEND &amp; EFFICIENCY</a:t>
            </a:r>
            <a:endParaRPr lang="en-US" sz="1250" dirty="0"/>
          </a:p>
        </p:txBody>
      </p:sp>
      <p:sp>
        <p:nvSpPr>
          <p:cNvPr id="3" name="Text 1"/>
          <p:cNvSpPr/>
          <p:nvPr/>
        </p:nvSpPr>
        <p:spPr>
          <a:xfrm>
            <a:off x="548640" y="749808"/>
            <a:ext cx="10789920" cy="640080"/>
          </a:xfrm>
          <a:prstGeom prst="rect">
            <a:avLst/>
          </a:prstGeom>
          <a:noFill/>
          <a:ln/>
        </p:spPr>
        <p:txBody>
          <a:bodyPr wrap="square" lIns="0" tIns="0" rIns="0" bIns="0" rtlCol="0" anchor="ctr"/>
          <a:lstStyle/>
          <a:p>
            <a:pPr indent="0" marL="0">
              <a:buNone/>
            </a:pPr>
            <a:r>
              <a:rPr lang="en-US" sz="2800" b="1" dirty="0">
                <a:solidFill>
                  <a:srgbClr val="1C1E29"/>
                </a:solidFill>
                <a:latin typeface="Cambria" pitchFamily="34" charset="0"/>
                <a:ea typeface="Cambria" pitchFamily="34" charset="-122"/>
                <a:cs typeface="Cambria" pitchFamily="34" charset="-120"/>
              </a:rPr>
              <a:t>광고비 YoY 증감률 및 2026 상반기 모멘텀</a:t>
            </a:r>
            <a:endParaRPr lang="en-US" sz="2800" dirty="0"/>
          </a:p>
        </p:txBody>
      </p:sp>
      <p:sp>
        <p:nvSpPr>
          <p:cNvPr id="4" name="Shape 2"/>
          <p:cNvSpPr/>
          <p:nvPr/>
        </p:nvSpPr>
        <p:spPr>
          <a:xfrm>
            <a:off x="9646920" y="475488"/>
            <a:ext cx="1965960" cy="365760"/>
          </a:xfrm>
          <a:prstGeom prst="roundRect">
            <a:avLst>
              <a:gd name="adj" fmla="val 15000"/>
            </a:avLst>
          </a:prstGeom>
          <a:solidFill>
            <a:srgbClr val="F2F2F5"/>
          </a:solidFill>
          <a:ln/>
        </p:spPr>
      </p:sp>
      <p:sp>
        <p:nvSpPr>
          <p:cNvPr id="5" name="Text 3"/>
          <p:cNvSpPr/>
          <p:nvPr/>
        </p:nvSpPr>
        <p:spPr>
          <a:xfrm>
            <a:off x="9646920" y="475488"/>
            <a:ext cx="1965960" cy="365760"/>
          </a:xfrm>
          <a:prstGeom prst="rect">
            <a:avLst/>
          </a:prstGeom>
          <a:noFill/>
          <a:ln/>
        </p:spPr>
        <p:txBody>
          <a:bodyPr wrap="square" lIns="0" tIns="0" rIns="0" bIns="0" rtlCol="0" anchor="ctr"/>
          <a:lstStyle/>
          <a:p>
            <a:pPr algn="ctr" indent="0" marL="0">
              <a:buNone/>
            </a:pPr>
            <a:r>
              <a:rPr lang="en-US" sz="1050" b="1" dirty="0">
                <a:solidFill>
                  <a:srgbClr val="6B6F80"/>
                </a:solidFill>
                <a:latin typeface="Calibri" pitchFamily="34" charset="0"/>
                <a:ea typeface="Calibri" pitchFamily="34" charset="-122"/>
                <a:cs typeface="Calibri" pitchFamily="34" charset="-120"/>
              </a:rPr>
              <a:t>TILE · 05</a:t>
            </a:r>
            <a:endParaRPr lang="en-US" sz="1050" dirty="0"/>
          </a:p>
        </p:txBody>
      </p:sp>
      <p:sp>
        <p:nvSpPr>
          <p:cNvPr id="6" name="Text 4"/>
          <p:cNvSpPr/>
          <p:nvPr/>
        </p:nvSpPr>
        <p:spPr>
          <a:xfrm>
            <a:off x="548640" y="6400800"/>
            <a:ext cx="10332720" cy="274320"/>
          </a:xfrm>
          <a:prstGeom prst="rect">
            <a:avLst/>
          </a:prstGeom>
          <a:noFill/>
          <a:ln/>
        </p:spPr>
        <p:txBody>
          <a:bodyPr wrap="square" lIns="0" tIns="0" rIns="0" bIns="0" rtlCol="0" anchor="ctr"/>
          <a:lstStyle/>
          <a:p>
            <a:pPr indent="0" marL="0">
              <a:buNone/>
            </a:pPr>
            <a:r>
              <a:rPr lang="en-US" sz="900" dirty="0">
                <a:solidFill>
                  <a:srgbClr val="9A9DAC"/>
                </a:solidFill>
                <a:latin typeface="Calibri" pitchFamily="34" charset="0"/>
                <a:ea typeface="Calibri" pitchFamily="34" charset="-122"/>
                <a:cs typeface="Calibri" pitchFamily="34" charset="-120"/>
              </a:rPr>
              <a:t>출처: 각사 사업보고서/반기보고서(DART). YoY는 별도 기준, 상반기 모멘텀은 연결 기준</a:t>
            </a:r>
            <a:endParaRPr lang="en-US" sz="900" dirty="0"/>
          </a:p>
        </p:txBody>
      </p:sp>
      <p:sp>
        <p:nvSpPr>
          <p:cNvPr id="7" name="Text 5"/>
          <p:cNvSpPr/>
          <p:nvPr/>
        </p:nvSpPr>
        <p:spPr>
          <a:xfrm>
            <a:off x="11365992" y="6446520"/>
            <a:ext cx="548640" cy="274320"/>
          </a:xfrm>
          <a:prstGeom prst="rect">
            <a:avLst/>
          </a:prstGeom>
          <a:noFill/>
          <a:ln/>
        </p:spPr>
        <p:txBody>
          <a:bodyPr wrap="square" lIns="0" tIns="0" rIns="0" bIns="0" rtlCol="0" anchor="ctr"/>
          <a:lstStyle/>
          <a:p>
            <a:pPr algn="r" indent="0" marL="0">
              <a:buNone/>
            </a:pPr>
            <a:r>
              <a:rPr lang="en-US" sz="900" dirty="0">
                <a:solidFill>
                  <a:srgbClr val="A8ABB8"/>
                </a:solidFill>
                <a:latin typeface="Calibri" pitchFamily="34" charset="0"/>
                <a:ea typeface="Calibri" pitchFamily="34" charset="-122"/>
                <a:cs typeface="Calibri" pitchFamily="34" charset="-120"/>
              </a:rPr>
              <a:t>15</a:t>
            </a:r>
            <a:endParaRPr lang="en-US" sz="900" dirty="0"/>
          </a:p>
        </p:txBody>
      </p:sp>
      <p:sp>
        <p:nvSpPr>
          <p:cNvPr id="8" name="Shape 6"/>
          <p:cNvSpPr/>
          <p:nvPr/>
        </p:nvSpPr>
        <p:spPr>
          <a:xfrm>
            <a:off x="548640" y="1645920"/>
            <a:ext cx="3474720" cy="1828800"/>
          </a:xfrm>
          <a:prstGeom prst="roundRect">
            <a:avLst>
              <a:gd name="adj" fmla="val 3500"/>
            </a:avLst>
          </a:prstGeom>
          <a:solidFill>
            <a:srgbClr val="FAFAFB"/>
          </a:solidFill>
          <a:ln w="12700">
            <a:solidFill>
              <a:srgbClr val="EBEBF0"/>
            </a:solidFill>
            <a:prstDash val="solid"/>
          </a:ln>
        </p:spPr>
      </p:sp>
      <p:sp>
        <p:nvSpPr>
          <p:cNvPr id="9" name="Text 7"/>
          <p:cNvSpPr/>
          <p:nvPr/>
        </p:nvSpPr>
        <p:spPr>
          <a:xfrm>
            <a:off x="731520" y="1783080"/>
            <a:ext cx="3108960" cy="365760"/>
          </a:xfrm>
          <a:prstGeom prst="rect">
            <a:avLst/>
          </a:prstGeom>
          <a:noFill/>
          <a:ln/>
        </p:spPr>
        <p:txBody>
          <a:bodyPr wrap="square" lIns="0" tIns="0" rIns="0" bIns="0" rtlCol="0" anchor="ctr"/>
          <a:lstStyle/>
          <a:p>
            <a:pPr indent="0" marL="0">
              <a:buNone/>
            </a:pPr>
            <a:r>
              <a:rPr lang="en-US" sz="1150" b="1" dirty="0">
                <a:solidFill>
                  <a:srgbClr val="1C1E29"/>
                </a:solidFill>
                <a:latin typeface="Calibri" pitchFamily="34" charset="0"/>
                <a:ea typeface="Calibri" pitchFamily="34" charset="-122"/>
                <a:cs typeface="Calibri" pitchFamily="34" charset="-120"/>
              </a:rPr>
              <a:t>넥슨코리아 (메이플M 등)</a:t>
            </a:r>
            <a:endParaRPr lang="en-US" sz="1150" dirty="0"/>
          </a:p>
        </p:txBody>
      </p:sp>
      <p:sp>
        <p:nvSpPr>
          <p:cNvPr id="10" name="Text 8"/>
          <p:cNvSpPr/>
          <p:nvPr/>
        </p:nvSpPr>
        <p:spPr>
          <a:xfrm>
            <a:off x="731520" y="2148840"/>
            <a:ext cx="3108960" cy="777240"/>
          </a:xfrm>
          <a:prstGeom prst="rect">
            <a:avLst/>
          </a:prstGeom>
          <a:noFill/>
          <a:ln/>
        </p:spPr>
        <p:txBody>
          <a:bodyPr wrap="square" lIns="0" tIns="0" rIns="0" bIns="0" rtlCol="0" anchor="ctr"/>
          <a:lstStyle/>
          <a:p>
            <a:pPr indent="0" marL="0">
              <a:buNone/>
            </a:pPr>
            <a:r>
              <a:rPr lang="en-US" sz="3200" b="1" dirty="0">
                <a:solidFill>
                  <a:srgbClr val="F0692B"/>
                </a:solidFill>
                <a:latin typeface="Cambria" pitchFamily="34" charset="0"/>
                <a:ea typeface="Cambria" pitchFamily="34" charset="-122"/>
                <a:cs typeface="Cambria" pitchFamily="34" charset="-120"/>
              </a:rPr>
              <a:t>+29.4%</a:t>
            </a:r>
            <a:endParaRPr lang="en-US" sz="3200" dirty="0"/>
          </a:p>
        </p:txBody>
      </p:sp>
      <p:sp>
        <p:nvSpPr>
          <p:cNvPr id="11" name="Text 9"/>
          <p:cNvSpPr/>
          <p:nvPr/>
        </p:nvSpPr>
        <p:spPr>
          <a:xfrm>
            <a:off x="731520" y="2926080"/>
            <a:ext cx="3108960" cy="457200"/>
          </a:xfrm>
          <a:prstGeom prst="rect">
            <a:avLst/>
          </a:prstGeom>
          <a:noFill/>
          <a:ln/>
        </p:spPr>
        <p:txBody>
          <a:bodyPr wrap="square" lIns="0" tIns="0" rIns="0" bIns="0" rtlCol="0" anchor="ctr"/>
          <a:lstStyle/>
          <a:p>
            <a:pPr indent="0" marL="0">
              <a:buNone/>
            </a:pPr>
            <a:r>
              <a:rPr lang="en-US" sz="1000" dirty="0">
                <a:solidFill>
                  <a:srgbClr val="6B6F80"/>
                </a:solidFill>
                <a:latin typeface="Calibri" pitchFamily="34" charset="0"/>
                <a:ea typeface="Calibri" pitchFamily="34" charset="-122"/>
                <a:cs typeface="Calibri" pitchFamily="34" charset="-120"/>
              </a:rPr>
              <a:t>2,214억 → 2,866억(별도)</a:t>
            </a:r>
            <a:endParaRPr lang="en-US" sz="1000" dirty="0"/>
          </a:p>
        </p:txBody>
      </p:sp>
      <p:sp>
        <p:nvSpPr>
          <p:cNvPr id="12" name="Shape 10"/>
          <p:cNvSpPr/>
          <p:nvPr/>
        </p:nvSpPr>
        <p:spPr>
          <a:xfrm>
            <a:off x="4251960" y="1645920"/>
            <a:ext cx="3474720" cy="1828800"/>
          </a:xfrm>
          <a:prstGeom prst="roundRect">
            <a:avLst>
              <a:gd name="adj" fmla="val 3500"/>
            </a:avLst>
          </a:prstGeom>
          <a:solidFill>
            <a:srgbClr val="FAFAFB"/>
          </a:solidFill>
          <a:ln w="12700">
            <a:solidFill>
              <a:srgbClr val="EBEBF0"/>
            </a:solidFill>
            <a:prstDash val="solid"/>
          </a:ln>
        </p:spPr>
      </p:sp>
      <p:sp>
        <p:nvSpPr>
          <p:cNvPr id="13" name="Text 11"/>
          <p:cNvSpPr/>
          <p:nvPr/>
        </p:nvSpPr>
        <p:spPr>
          <a:xfrm>
            <a:off x="4434840" y="1783080"/>
            <a:ext cx="3108960" cy="365760"/>
          </a:xfrm>
          <a:prstGeom prst="rect">
            <a:avLst/>
          </a:prstGeom>
          <a:noFill/>
          <a:ln/>
        </p:spPr>
        <p:txBody>
          <a:bodyPr wrap="square" lIns="0" tIns="0" rIns="0" bIns="0" rtlCol="0" anchor="ctr"/>
          <a:lstStyle/>
          <a:p>
            <a:pPr indent="0" marL="0">
              <a:buNone/>
            </a:pPr>
            <a:r>
              <a:rPr lang="en-US" sz="1150" b="1" dirty="0">
                <a:solidFill>
                  <a:srgbClr val="1C1E29"/>
                </a:solidFill>
                <a:latin typeface="Calibri" pitchFamily="34" charset="0"/>
                <a:ea typeface="Calibri" pitchFamily="34" charset="-122"/>
                <a:cs typeface="Calibri" pitchFamily="34" charset="-120"/>
              </a:rPr>
              <a:t>펄어비스 (검은사막)</a:t>
            </a:r>
            <a:endParaRPr lang="en-US" sz="1150" dirty="0"/>
          </a:p>
        </p:txBody>
      </p:sp>
      <p:sp>
        <p:nvSpPr>
          <p:cNvPr id="14" name="Text 12"/>
          <p:cNvSpPr/>
          <p:nvPr/>
        </p:nvSpPr>
        <p:spPr>
          <a:xfrm>
            <a:off x="4434840" y="2148840"/>
            <a:ext cx="3108960" cy="777240"/>
          </a:xfrm>
          <a:prstGeom prst="rect">
            <a:avLst/>
          </a:prstGeom>
          <a:noFill/>
          <a:ln/>
        </p:spPr>
        <p:txBody>
          <a:bodyPr wrap="square" lIns="0" tIns="0" rIns="0" bIns="0" rtlCol="0" anchor="ctr"/>
          <a:lstStyle/>
          <a:p>
            <a:pPr indent="0" marL="0">
              <a:buNone/>
            </a:pPr>
            <a:r>
              <a:rPr lang="en-US" sz="3200" b="1" dirty="0">
                <a:solidFill>
                  <a:srgbClr val="8B2635"/>
                </a:solidFill>
                <a:latin typeface="Cambria" pitchFamily="34" charset="0"/>
                <a:ea typeface="Cambria" pitchFamily="34" charset="-122"/>
                <a:cs typeface="Cambria" pitchFamily="34" charset="-120"/>
              </a:rPr>
              <a:t>-6.7%</a:t>
            </a:r>
            <a:endParaRPr lang="en-US" sz="3200" dirty="0"/>
          </a:p>
        </p:txBody>
      </p:sp>
      <p:sp>
        <p:nvSpPr>
          <p:cNvPr id="15" name="Text 13"/>
          <p:cNvSpPr/>
          <p:nvPr/>
        </p:nvSpPr>
        <p:spPr>
          <a:xfrm>
            <a:off x="4434840" y="2926080"/>
            <a:ext cx="3108960" cy="457200"/>
          </a:xfrm>
          <a:prstGeom prst="rect">
            <a:avLst/>
          </a:prstGeom>
          <a:noFill/>
          <a:ln/>
        </p:spPr>
        <p:txBody>
          <a:bodyPr wrap="square" lIns="0" tIns="0" rIns="0" bIns="0" rtlCol="0" anchor="ctr"/>
          <a:lstStyle/>
          <a:p>
            <a:pPr indent="0" marL="0">
              <a:buNone/>
            </a:pPr>
            <a:r>
              <a:rPr lang="en-US" sz="1000" dirty="0">
                <a:solidFill>
                  <a:srgbClr val="6B6F80"/>
                </a:solidFill>
                <a:latin typeface="Calibri" pitchFamily="34" charset="0"/>
                <a:ea typeface="Calibri" pitchFamily="34" charset="-122"/>
                <a:cs typeface="Calibri" pitchFamily="34" charset="-120"/>
              </a:rPr>
              <a:t>125억 → 117억(별도) · 연결은 +29.9%</a:t>
            </a:r>
            <a:endParaRPr lang="en-US" sz="1000" dirty="0"/>
          </a:p>
        </p:txBody>
      </p:sp>
      <p:sp>
        <p:nvSpPr>
          <p:cNvPr id="16" name="Shape 14"/>
          <p:cNvSpPr/>
          <p:nvPr/>
        </p:nvSpPr>
        <p:spPr>
          <a:xfrm>
            <a:off x="7955280" y="1645920"/>
            <a:ext cx="3474720" cy="1828800"/>
          </a:xfrm>
          <a:prstGeom prst="roundRect">
            <a:avLst>
              <a:gd name="adj" fmla="val 3500"/>
            </a:avLst>
          </a:prstGeom>
          <a:solidFill>
            <a:srgbClr val="FAFAFB"/>
          </a:solidFill>
          <a:ln w="12700">
            <a:solidFill>
              <a:srgbClr val="EBEBF0"/>
            </a:solidFill>
            <a:prstDash val="solid"/>
          </a:ln>
        </p:spPr>
      </p:sp>
      <p:sp>
        <p:nvSpPr>
          <p:cNvPr id="17" name="Text 15"/>
          <p:cNvSpPr/>
          <p:nvPr/>
        </p:nvSpPr>
        <p:spPr>
          <a:xfrm>
            <a:off x="8138160" y="1783080"/>
            <a:ext cx="3108960" cy="365760"/>
          </a:xfrm>
          <a:prstGeom prst="rect">
            <a:avLst/>
          </a:prstGeom>
          <a:noFill/>
          <a:ln/>
        </p:spPr>
        <p:txBody>
          <a:bodyPr wrap="square" lIns="0" tIns="0" rIns="0" bIns="0" rtlCol="0" anchor="ctr"/>
          <a:lstStyle/>
          <a:p>
            <a:pPr indent="0" marL="0">
              <a:buNone/>
            </a:pPr>
            <a:r>
              <a:rPr lang="en-US" sz="1150" b="1" dirty="0">
                <a:solidFill>
                  <a:srgbClr val="1C1E29"/>
                </a:solidFill>
                <a:latin typeface="Calibri" pitchFamily="34" charset="0"/>
                <a:ea typeface="Calibri" pitchFamily="34" charset="-122"/>
                <a:cs typeface="Calibri" pitchFamily="34" charset="-120"/>
              </a:rPr>
              <a:t>엔씨/NC (아이온2)</a:t>
            </a:r>
            <a:endParaRPr lang="en-US" sz="1150" dirty="0"/>
          </a:p>
        </p:txBody>
      </p:sp>
      <p:sp>
        <p:nvSpPr>
          <p:cNvPr id="18" name="Text 16"/>
          <p:cNvSpPr/>
          <p:nvPr/>
        </p:nvSpPr>
        <p:spPr>
          <a:xfrm>
            <a:off x="8138160" y="2148840"/>
            <a:ext cx="3108960" cy="777240"/>
          </a:xfrm>
          <a:prstGeom prst="rect">
            <a:avLst/>
          </a:prstGeom>
          <a:noFill/>
          <a:ln/>
        </p:spPr>
        <p:txBody>
          <a:bodyPr wrap="square" lIns="0" tIns="0" rIns="0" bIns="0" rtlCol="0" anchor="ctr"/>
          <a:lstStyle/>
          <a:p>
            <a:pPr indent="0" marL="0">
              <a:buNone/>
            </a:pPr>
            <a:r>
              <a:rPr lang="en-US" sz="3200" b="1" dirty="0">
                <a:solidFill>
                  <a:srgbClr val="6B4FA0"/>
                </a:solidFill>
                <a:latin typeface="Cambria" pitchFamily="34" charset="0"/>
                <a:ea typeface="Cambria" pitchFamily="34" charset="-122"/>
                <a:cs typeface="Cambria" pitchFamily="34" charset="-120"/>
              </a:rPr>
              <a:t>-38.2%</a:t>
            </a:r>
            <a:endParaRPr lang="en-US" sz="3200" dirty="0"/>
          </a:p>
        </p:txBody>
      </p:sp>
      <p:sp>
        <p:nvSpPr>
          <p:cNvPr id="19" name="Text 17"/>
          <p:cNvSpPr/>
          <p:nvPr/>
        </p:nvSpPr>
        <p:spPr>
          <a:xfrm>
            <a:off x="8138160" y="2926080"/>
            <a:ext cx="3108960" cy="457200"/>
          </a:xfrm>
          <a:prstGeom prst="rect">
            <a:avLst/>
          </a:prstGeom>
          <a:noFill/>
          <a:ln/>
        </p:spPr>
        <p:txBody>
          <a:bodyPr wrap="square" lIns="0" tIns="0" rIns="0" bIns="0" rtlCol="0" anchor="ctr"/>
          <a:lstStyle/>
          <a:p>
            <a:pPr indent="0" marL="0">
              <a:buNone/>
            </a:pPr>
            <a:r>
              <a:rPr lang="en-US" sz="1000" dirty="0">
                <a:solidFill>
                  <a:srgbClr val="6B6F80"/>
                </a:solidFill>
                <a:latin typeface="Calibri" pitchFamily="34" charset="0"/>
                <a:ea typeface="Calibri" pitchFamily="34" charset="-122"/>
                <a:cs typeface="Calibri" pitchFamily="34" charset="-120"/>
              </a:rPr>
              <a:t>1,352억 → 836억(별도)</a:t>
            </a:r>
            <a:endParaRPr lang="en-US" sz="1000" dirty="0"/>
          </a:p>
        </p:txBody>
      </p:sp>
      <p:sp>
        <p:nvSpPr>
          <p:cNvPr id="20" name="Text 18"/>
          <p:cNvSpPr/>
          <p:nvPr/>
        </p:nvSpPr>
        <p:spPr>
          <a:xfrm>
            <a:off x="548640" y="3703320"/>
            <a:ext cx="9144000" cy="320040"/>
          </a:xfrm>
          <a:prstGeom prst="rect">
            <a:avLst/>
          </a:prstGeom>
          <a:noFill/>
          <a:ln/>
        </p:spPr>
        <p:txBody>
          <a:bodyPr wrap="square" lIns="0" tIns="0" rIns="0" bIns="0" rtlCol="0" anchor="ctr"/>
          <a:lstStyle/>
          <a:p>
            <a:pPr indent="0" marL="0">
              <a:buNone/>
            </a:pPr>
            <a:r>
              <a:rPr lang="en-US" sz="1300" b="1" dirty="0">
                <a:solidFill>
                  <a:srgbClr val="1C1E29"/>
                </a:solidFill>
                <a:latin typeface="Calibri" pitchFamily="34" charset="0"/>
                <a:ea typeface="Calibri" pitchFamily="34" charset="-122"/>
                <a:cs typeface="Calibri" pitchFamily="34" charset="-120"/>
              </a:rPr>
              <a:t>2026년 상반기, 이미 벌어진 일 (연결 기준 누적 광고선전비)</a:t>
            </a:r>
            <a:endParaRPr lang="en-US" sz="1300" dirty="0"/>
          </a:p>
        </p:txBody>
      </p:sp>
      <p:sp>
        <p:nvSpPr>
          <p:cNvPr id="21" name="Shape 19"/>
          <p:cNvSpPr/>
          <p:nvPr/>
        </p:nvSpPr>
        <p:spPr>
          <a:xfrm>
            <a:off x="548640" y="4069080"/>
            <a:ext cx="5349240" cy="2194560"/>
          </a:xfrm>
          <a:prstGeom prst="roundRect">
            <a:avLst>
              <a:gd name="adj" fmla="val 2917"/>
            </a:avLst>
          </a:prstGeom>
          <a:solidFill>
            <a:srgbClr val="FAFAFB"/>
          </a:solidFill>
          <a:ln w="12700">
            <a:solidFill>
              <a:srgbClr val="EBEBF0"/>
            </a:solidFill>
            <a:prstDash val="solid"/>
          </a:ln>
        </p:spPr>
      </p:sp>
      <p:sp>
        <p:nvSpPr>
          <p:cNvPr id="22" name="Text 20"/>
          <p:cNvSpPr/>
          <p:nvPr/>
        </p:nvSpPr>
        <p:spPr>
          <a:xfrm>
            <a:off x="822960" y="4206240"/>
            <a:ext cx="4846320" cy="320040"/>
          </a:xfrm>
          <a:prstGeom prst="rect">
            <a:avLst/>
          </a:prstGeom>
          <a:noFill/>
          <a:ln/>
        </p:spPr>
        <p:txBody>
          <a:bodyPr wrap="square" lIns="0" tIns="0" rIns="0" bIns="0" rtlCol="0" anchor="ctr"/>
          <a:lstStyle/>
          <a:p>
            <a:pPr indent="0" marL="0">
              <a:buNone/>
            </a:pPr>
            <a:r>
              <a:rPr lang="en-US" sz="1200" b="1" dirty="0">
                <a:solidFill>
                  <a:srgbClr val="8B2635"/>
                </a:solidFill>
                <a:latin typeface="Calibri" pitchFamily="34" charset="0"/>
                <a:ea typeface="Calibri" pitchFamily="34" charset="-122"/>
                <a:cs typeface="Calibri" pitchFamily="34" charset="-120"/>
              </a:rPr>
              <a:t>펄어비스 (연결)</a:t>
            </a:r>
            <a:endParaRPr lang="en-US" sz="1200" dirty="0"/>
          </a:p>
        </p:txBody>
      </p:sp>
      <p:sp>
        <p:nvSpPr>
          <p:cNvPr id="23" name="Text 21"/>
          <p:cNvSpPr/>
          <p:nvPr/>
        </p:nvSpPr>
        <p:spPr>
          <a:xfrm>
            <a:off x="822960" y="4526280"/>
            <a:ext cx="4846320" cy="548640"/>
          </a:xfrm>
          <a:prstGeom prst="rect">
            <a:avLst/>
          </a:prstGeom>
          <a:noFill/>
          <a:ln/>
        </p:spPr>
        <p:txBody>
          <a:bodyPr wrap="square" lIns="0" tIns="0" rIns="0" bIns="0" rtlCol="0" anchor="ctr"/>
          <a:lstStyle/>
          <a:p>
            <a:pPr indent="0" marL="0">
              <a:buNone/>
            </a:pPr>
            <a:r>
              <a:rPr lang="en-US" sz="2600" b="1" dirty="0">
                <a:solidFill>
                  <a:srgbClr val="1C1E29"/>
                </a:solidFill>
                <a:latin typeface="Cambria" pitchFamily="34" charset="0"/>
                <a:ea typeface="Cambria" pitchFamily="34" charset="-122"/>
                <a:cs typeface="Cambria" pitchFamily="34" charset="-120"/>
              </a:rPr>
              <a:t>325.3억원</a:t>
            </a:r>
            <a:endParaRPr lang="en-US" sz="2600" dirty="0"/>
          </a:p>
        </p:txBody>
      </p:sp>
      <p:sp>
        <p:nvSpPr>
          <p:cNvPr id="24" name="Text 22"/>
          <p:cNvSpPr/>
          <p:nvPr/>
        </p:nvSpPr>
        <p:spPr>
          <a:xfrm>
            <a:off x="822960" y="5074920"/>
            <a:ext cx="4846320" cy="1097280"/>
          </a:xfrm>
          <a:prstGeom prst="rect">
            <a:avLst/>
          </a:prstGeom>
          <a:noFill/>
          <a:ln/>
        </p:spPr>
        <p:txBody>
          <a:bodyPr wrap="square" lIns="0" tIns="0" rIns="0" bIns="0" rtlCol="0" anchor="ctr"/>
          <a:lstStyle/>
          <a:p>
            <a:pPr indent="0" marL="0">
              <a:lnSpc>
                <a:spcPct val="125000"/>
              </a:lnSpc>
              <a:buNone/>
            </a:pPr>
            <a:r>
              <a:rPr lang="en-US" sz="1080" dirty="0">
                <a:solidFill>
                  <a:srgbClr val="444858"/>
                </a:solidFill>
                <a:latin typeface="Calibri" pitchFamily="34" charset="0"/>
                <a:ea typeface="Calibri" pitchFamily="34" charset="-122"/>
                <a:cs typeface="Calibri" pitchFamily="34" charset="-120"/>
              </a:rPr>
              <a:t>FY2025 연간(436.5억)의 74.5% — 6개월 만에 도달, 붉은사막 글로벌 출시 마케팅으로 추정</a:t>
            </a:r>
            <a:endParaRPr lang="en-US" sz="1080" dirty="0"/>
          </a:p>
        </p:txBody>
      </p:sp>
      <p:sp>
        <p:nvSpPr>
          <p:cNvPr id="25" name="Shape 23"/>
          <p:cNvSpPr/>
          <p:nvPr/>
        </p:nvSpPr>
        <p:spPr>
          <a:xfrm>
            <a:off x="6080760" y="4069080"/>
            <a:ext cx="5349240" cy="2194560"/>
          </a:xfrm>
          <a:prstGeom prst="roundRect">
            <a:avLst>
              <a:gd name="adj" fmla="val 2917"/>
            </a:avLst>
          </a:prstGeom>
          <a:solidFill>
            <a:srgbClr val="FAFAFB"/>
          </a:solidFill>
          <a:ln w="12700">
            <a:solidFill>
              <a:srgbClr val="EBEBF0"/>
            </a:solidFill>
            <a:prstDash val="solid"/>
          </a:ln>
        </p:spPr>
      </p:sp>
      <p:sp>
        <p:nvSpPr>
          <p:cNvPr id="26" name="Text 24"/>
          <p:cNvSpPr/>
          <p:nvPr/>
        </p:nvSpPr>
        <p:spPr>
          <a:xfrm>
            <a:off x="6355080" y="4206240"/>
            <a:ext cx="4846320" cy="320040"/>
          </a:xfrm>
          <a:prstGeom prst="rect">
            <a:avLst/>
          </a:prstGeom>
          <a:noFill/>
          <a:ln/>
        </p:spPr>
        <p:txBody>
          <a:bodyPr wrap="square" lIns="0" tIns="0" rIns="0" bIns="0" rtlCol="0" anchor="ctr"/>
          <a:lstStyle/>
          <a:p>
            <a:pPr indent="0" marL="0">
              <a:buNone/>
            </a:pPr>
            <a:r>
              <a:rPr lang="en-US" sz="1200" b="1" dirty="0">
                <a:solidFill>
                  <a:srgbClr val="6B4FA0"/>
                </a:solidFill>
                <a:latin typeface="Calibri" pitchFamily="34" charset="0"/>
                <a:ea typeface="Calibri" pitchFamily="34" charset="-122"/>
                <a:cs typeface="Calibri" pitchFamily="34" charset="-120"/>
              </a:rPr>
              <a:t>엔씨/NC (연결)</a:t>
            </a:r>
            <a:endParaRPr lang="en-US" sz="1200" dirty="0"/>
          </a:p>
        </p:txBody>
      </p:sp>
      <p:sp>
        <p:nvSpPr>
          <p:cNvPr id="27" name="Text 25"/>
          <p:cNvSpPr/>
          <p:nvPr/>
        </p:nvSpPr>
        <p:spPr>
          <a:xfrm>
            <a:off x="6355080" y="4526280"/>
            <a:ext cx="4846320" cy="548640"/>
          </a:xfrm>
          <a:prstGeom prst="rect">
            <a:avLst/>
          </a:prstGeom>
          <a:noFill/>
          <a:ln/>
        </p:spPr>
        <p:txBody>
          <a:bodyPr wrap="square" lIns="0" tIns="0" rIns="0" bIns="0" rtlCol="0" anchor="ctr"/>
          <a:lstStyle/>
          <a:p>
            <a:pPr indent="0" marL="0">
              <a:buNone/>
            </a:pPr>
            <a:r>
              <a:rPr lang="en-US" sz="2600" b="1" dirty="0">
                <a:solidFill>
                  <a:srgbClr val="1C1E29"/>
                </a:solidFill>
                <a:latin typeface="Cambria" pitchFamily="34" charset="0"/>
                <a:ea typeface="Cambria" pitchFamily="34" charset="-122"/>
                <a:cs typeface="Cambria" pitchFamily="34" charset="-120"/>
              </a:rPr>
              <a:t>1,908.8억원</a:t>
            </a:r>
            <a:endParaRPr lang="en-US" sz="2600" dirty="0"/>
          </a:p>
        </p:txBody>
      </p:sp>
      <p:sp>
        <p:nvSpPr>
          <p:cNvPr id="28" name="Text 26"/>
          <p:cNvSpPr/>
          <p:nvPr/>
        </p:nvSpPr>
        <p:spPr>
          <a:xfrm>
            <a:off x="6355080" y="5074920"/>
            <a:ext cx="4846320" cy="1097280"/>
          </a:xfrm>
          <a:prstGeom prst="rect">
            <a:avLst/>
          </a:prstGeom>
          <a:noFill/>
          <a:ln/>
        </p:spPr>
        <p:txBody>
          <a:bodyPr wrap="square" lIns="0" tIns="0" rIns="0" bIns="0" rtlCol="0" anchor="ctr"/>
          <a:lstStyle/>
          <a:p>
            <a:pPr indent="0" marL="0">
              <a:lnSpc>
                <a:spcPct val="125000"/>
              </a:lnSpc>
              <a:buNone/>
            </a:pPr>
            <a:r>
              <a:rPr lang="en-US" sz="1080" dirty="0">
                <a:solidFill>
                  <a:srgbClr val="444858"/>
                </a:solidFill>
                <a:latin typeface="Calibri" pitchFamily="34" charset="0"/>
                <a:ea typeface="Calibri" pitchFamily="34" charset="-122"/>
                <a:cs typeface="Calibri" pitchFamily="34" charset="-120"/>
              </a:rPr>
              <a:t>FY2025 연간(1,056.6억)의 180.7% — 반기 만에 작년 전체를 초과, 리니지2M 중국 출시 등 영향</a:t>
            </a:r>
            <a:endParaRPr lang="en-US" sz="1080" dirty="0"/>
          </a:p>
        </p:txBody>
      </p:sp>
      <p:sp>
        <p:nvSpPr>
          <p:cNvPr id="29" name="Text 27"/>
          <p:cNvSpPr/>
          <p:nvPr/>
        </p:nvSpPr>
        <p:spPr>
          <a:xfrm>
            <a:off x="548640" y="6355080"/>
            <a:ext cx="10058400" cy="274320"/>
          </a:xfrm>
          <a:prstGeom prst="rect">
            <a:avLst/>
          </a:prstGeom>
          <a:noFill/>
          <a:ln/>
        </p:spPr>
        <p:txBody>
          <a:bodyPr wrap="square" lIns="0" tIns="0" rIns="0" bIns="0" rtlCol="0" anchor="ctr"/>
          <a:lstStyle/>
          <a:p>
            <a:pPr indent="0" marL="0">
              <a:buNone/>
            </a:pPr>
            <a:r>
              <a:rPr lang="en-US" sz="900" i="1" dirty="0">
                <a:solidFill>
                  <a:srgbClr val="6B6F80"/>
                </a:solidFill>
                <a:latin typeface="Calibri" pitchFamily="34" charset="0"/>
                <a:ea typeface="Calibri" pitchFamily="34" charset="-122"/>
                <a:cs typeface="Calibri" pitchFamily="34" charset="-120"/>
              </a:rPr>
              <a:t>※ 넥슨코리아는 반기보고서 상 동일 주석이 확인되지 않아 상반기 수치를 표시하지 않았습니다.</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lIns="0" tIns="0" rIns="0" bIns="0" rtlCol="0" anchor="ctr"/>
          <a:lstStyle/>
          <a:p>
            <a:pPr indent="0" marL="0">
              <a:buNone/>
            </a:pPr>
            <a:r>
              <a:rPr lang="en-US" sz="1250" b="1" spc="200" kern="0" dirty="0">
                <a:solidFill>
                  <a:srgbClr val="F0692B"/>
                </a:solidFill>
                <a:latin typeface="Calibri" pitchFamily="34" charset="0"/>
                <a:ea typeface="Calibri" pitchFamily="34" charset="-122"/>
                <a:cs typeface="Calibri" pitchFamily="34" charset="-120"/>
              </a:rPr>
              <a:t>03 · AD SPEND &amp; EFFICIENCY</a:t>
            </a:r>
            <a:endParaRPr lang="en-US" sz="1250" dirty="0"/>
          </a:p>
        </p:txBody>
      </p:sp>
      <p:sp>
        <p:nvSpPr>
          <p:cNvPr id="3" name="Text 1"/>
          <p:cNvSpPr/>
          <p:nvPr/>
        </p:nvSpPr>
        <p:spPr>
          <a:xfrm>
            <a:off x="548640" y="749808"/>
            <a:ext cx="8869680" cy="640080"/>
          </a:xfrm>
          <a:prstGeom prst="rect">
            <a:avLst/>
          </a:prstGeom>
          <a:noFill/>
          <a:ln/>
        </p:spPr>
        <p:txBody>
          <a:bodyPr wrap="square" lIns="0" tIns="0" rIns="0" bIns="0" rtlCol="0" anchor="ctr"/>
          <a:lstStyle/>
          <a:p>
            <a:pPr indent="0" marL="0">
              <a:buNone/>
            </a:pPr>
            <a:r>
              <a:rPr lang="en-US" sz="2800" b="1" dirty="0">
                <a:solidFill>
                  <a:srgbClr val="1C1E29"/>
                </a:solidFill>
                <a:latin typeface="Cambria" pitchFamily="34" charset="0"/>
                <a:ea typeface="Cambria" pitchFamily="34" charset="-122"/>
                <a:cs typeface="Cambria" pitchFamily="34" charset="-120"/>
              </a:rPr>
              <a:t>UA 노출강도 지수 (Meta 광고 라이브러리, 2026.08 스냅샷)</a:t>
            </a:r>
            <a:endParaRPr lang="en-US" sz="2800" dirty="0"/>
          </a:p>
        </p:txBody>
      </p:sp>
      <p:sp>
        <p:nvSpPr>
          <p:cNvPr id="4" name="Shape 2"/>
          <p:cNvSpPr/>
          <p:nvPr/>
        </p:nvSpPr>
        <p:spPr>
          <a:xfrm>
            <a:off x="9646920" y="475488"/>
            <a:ext cx="1965960" cy="365760"/>
          </a:xfrm>
          <a:prstGeom prst="roundRect">
            <a:avLst>
              <a:gd name="adj" fmla="val 15000"/>
            </a:avLst>
          </a:prstGeom>
          <a:solidFill>
            <a:srgbClr val="F2F2F5"/>
          </a:solidFill>
          <a:ln/>
        </p:spPr>
      </p:sp>
      <p:sp>
        <p:nvSpPr>
          <p:cNvPr id="5" name="Text 3"/>
          <p:cNvSpPr/>
          <p:nvPr/>
        </p:nvSpPr>
        <p:spPr>
          <a:xfrm>
            <a:off x="9646920" y="475488"/>
            <a:ext cx="1965960" cy="365760"/>
          </a:xfrm>
          <a:prstGeom prst="rect">
            <a:avLst/>
          </a:prstGeom>
          <a:noFill/>
          <a:ln/>
        </p:spPr>
        <p:txBody>
          <a:bodyPr wrap="square" lIns="0" tIns="0" rIns="0" bIns="0" rtlCol="0" anchor="ctr"/>
          <a:lstStyle/>
          <a:p>
            <a:pPr algn="ctr" indent="0" marL="0">
              <a:buNone/>
            </a:pPr>
            <a:r>
              <a:rPr lang="en-US" sz="1050" b="1" dirty="0">
                <a:solidFill>
                  <a:srgbClr val="6B6F80"/>
                </a:solidFill>
                <a:latin typeface="Calibri" pitchFamily="34" charset="0"/>
                <a:ea typeface="Calibri" pitchFamily="34" charset="-122"/>
                <a:cs typeface="Calibri" pitchFamily="34" charset="-120"/>
              </a:rPr>
              <a:t>TILE · 06</a:t>
            </a:r>
            <a:endParaRPr lang="en-US" sz="1050" dirty="0"/>
          </a:p>
        </p:txBody>
      </p:sp>
      <p:sp>
        <p:nvSpPr>
          <p:cNvPr id="6" name="Text 4"/>
          <p:cNvSpPr/>
          <p:nvPr/>
        </p:nvSpPr>
        <p:spPr>
          <a:xfrm>
            <a:off x="548640" y="6400800"/>
            <a:ext cx="10332720" cy="274320"/>
          </a:xfrm>
          <a:prstGeom prst="rect">
            <a:avLst/>
          </a:prstGeom>
          <a:noFill/>
          <a:ln/>
        </p:spPr>
        <p:txBody>
          <a:bodyPr wrap="square" lIns="0" tIns="0" rIns="0" bIns="0" rtlCol="0" anchor="ctr"/>
          <a:lstStyle/>
          <a:p>
            <a:pPr indent="0" marL="0">
              <a:buNone/>
            </a:pPr>
            <a:r>
              <a:rPr lang="en-US" sz="900" dirty="0">
                <a:solidFill>
                  <a:srgbClr val="9A9DAC"/>
                </a:solidFill>
                <a:latin typeface="Calibri" pitchFamily="34" charset="0"/>
                <a:ea typeface="Calibri" pitchFamily="34" charset="-122"/>
                <a:cs typeface="Calibri" pitchFamily="34" charset="-120"/>
              </a:rPr>
              <a:t>출처: Meta Ads Library 캡처(2026.08.26 기준, 활성 소재만) · 아이온2는 메타 UA 미확인 · 지수 정의는 지표 정의서② 참조</a:t>
            </a:r>
            <a:endParaRPr lang="en-US" sz="900" dirty="0"/>
          </a:p>
        </p:txBody>
      </p:sp>
      <p:sp>
        <p:nvSpPr>
          <p:cNvPr id="7" name="Text 5"/>
          <p:cNvSpPr/>
          <p:nvPr/>
        </p:nvSpPr>
        <p:spPr>
          <a:xfrm>
            <a:off x="11365992" y="6446520"/>
            <a:ext cx="548640" cy="274320"/>
          </a:xfrm>
          <a:prstGeom prst="rect">
            <a:avLst/>
          </a:prstGeom>
          <a:noFill/>
          <a:ln/>
        </p:spPr>
        <p:txBody>
          <a:bodyPr wrap="square" lIns="0" tIns="0" rIns="0" bIns="0" rtlCol="0" anchor="ctr"/>
          <a:lstStyle/>
          <a:p>
            <a:pPr algn="r" indent="0" marL="0">
              <a:buNone/>
            </a:pPr>
            <a:r>
              <a:rPr lang="en-US" sz="900" dirty="0">
                <a:solidFill>
                  <a:srgbClr val="A8ABB8"/>
                </a:solidFill>
                <a:latin typeface="Calibri" pitchFamily="34" charset="0"/>
                <a:ea typeface="Calibri" pitchFamily="34" charset="-122"/>
                <a:cs typeface="Calibri" pitchFamily="34" charset="-120"/>
              </a:rPr>
              <a:t>16</a:t>
            </a:r>
            <a:endParaRPr lang="en-US" sz="900" dirty="0"/>
          </a:p>
        </p:txBody>
      </p:sp>
      <p:sp>
        <p:nvSpPr>
          <p:cNvPr id="8" name="Shape 6"/>
          <p:cNvSpPr/>
          <p:nvPr/>
        </p:nvSpPr>
        <p:spPr>
          <a:xfrm>
            <a:off x="548640" y="1691640"/>
            <a:ext cx="11064240" cy="932688"/>
          </a:xfrm>
          <a:prstGeom prst="roundRect">
            <a:avLst>
              <a:gd name="adj" fmla="val 5882"/>
            </a:avLst>
          </a:prstGeom>
          <a:solidFill>
            <a:srgbClr val="FAFAFB"/>
          </a:solidFill>
          <a:ln w="12700">
            <a:solidFill>
              <a:srgbClr val="EFEFF3"/>
            </a:solidFill>
            <a:prstDash val="solid"/>
          </a:ln>
        </p:spPr>
      </p:sp>
      <p:sp>
        <p:nvSpPr>
          <p:cNvPr id="9" name="Shape 7"/>
          <p:cNvSpPr/>
          <p:nvPr/>
        </p:nvSpPr>
        <p:spPr>
          <a:xfrm>
            <a:off x="548640" y="1691640"/>
            <a:ext cx="128016" cy="932688"/>
          </a:xfrm>
          <a:prstGeom prst="roundRect">
            <a:avLst>
              <a:gd name="adj" fmla="val 21429"/>
            </a:avLst>
          </a:prstGeom>
          <a:solidFill>
            <a:srgbClr val="F0692B"/>
          </a:solidFill>
          <a:ln/>
        </p:spPr>
      </p:sp>
      <p:sp>
        <p:nvSpPr>
          <p:cNvPr id="10" name="Text 8"/>
          <p:cNvSpPr/>
          <p:nvPr/>
        </p:nvSpPr>
        <p:spPr>
          <a:xfrm>
            <a:off x="868680" y="1691640"/>
            <a:ext cx="1965960" cy="932688"/>
          </a:xfrm>
          <a:prstGeom prst="rect">
            <a:avLst/>
          </a:prstGeom>
          <a:noFill/>
          <a:ln/>
        </p:spPr>
        <p:txBody>
          <a:bodyPr wrap="square" lIns="0" tIns="0" rIns="0" bIns="0" rtlCol="0" anchor="ctr"/>
          <a:lstStyle/>
          <a:p>
            <a:pPr indent="0" marL="0">
              <a:buNone/>
            </a:pPr>
            <a:r>
              <a:rPr lang="en-US" sz="1350" b="1" dirty="0">
                <a:solidFill>
                  <a:srgbClr val="1C1E29"/>
                </a:solidFill>
                <a:latin typeface="Calibri" pitchFamily="34" charset="0"/>
                <a:ea typeface="Calibri" pitchFamily="34" charset="-122"/>
                <a:cs typeface="Calibri" pitchFamily="34" charset="-120"/>
              </a:rPr>
              <a:t>메이플스토리M</a:t>
            </a:r>
            <a:endParaRPr lang="en-US" sz="1350" dirty="0"/>
          </a:p>
        </p:txBody>
      </p:sp>
      <p:sp>
        <p:nvSpPr>
          <p:cNvPr id="11" name="Text 9"/>
          <p:cNvSpPr/>
          <p:nvPr/>
        </p:nvSpPr>
        <p:spPr>
          <a:xfrm>
            <a:off x="2880360" y="1691640"/>
            <a:ext cx="1097280" cy="932688"/>
          </a:xfrm>
          <a:prstGeom prst="rect">
            <a:avLst/>
          </a:prstGeom>
          <a:noFill/>
          <a:ln/>
        </p:spPr>
        <p:txBody>
          <a:bodyPr wrap="square" lIns="0" tIns="0" rIns="0" bIns="0" rtlCol="0" anchor="ctr"/>
          <a:lstStyle/>
          <a:p>
            <a:pPr algn="ctr" indent="0" marL="0">
              <a:buNone/>
            </a:pPr>
            <a:r>
              <a:rPr lang="en-US" sz="2000" b="1" dirty="0">
                <a:solidFill>
                  <a:srgbClr val="F0692B"/>
                </a:solidFill>
                <a:latin typeface="Cambria" pitchFamily="34" charset="0"/>
                <a:ea typeface="Cambria" pitchFamily="34" charset="-122"/>
                <a:cs typeface="Cambria" pitchFamily="34" charset="-120"/>
              </a:rPr>
              <a:t>65</a:t>
            </a:r>
            <a:endParaRPr lang="en-US" sz="2000" dirty="0"/>
          </a:p>
        </p:txBody>
      </p:sp>
      <p:sp>
        <p:nvSpPr>
          <p:cNvPr id="12" name="Text 10"/>
          <p:cNvSpPr/>
          <p:nvPr/>
        </p:nvSpPr>
        <p:spPr>
          <a:xfrm>
            <a:off x="3977640" y="1691640"/>
            <a:ext cx="914400" cy="932688"/>
          </a:xfrm>
          <a:prstGeom prst="rect">
            <a:avLst/>
          </a:prstGeom>
          <a:noFill/>
          <a:ln/>
        </p:spPr>
        <p:txBody>
          <a:bodyPr wrap="square" lIns="0" tIns="0" rIns="0" bIns="0" rtlCol="0" anchor="ctr"/>
          <a:lstStyle/>
          <a:p>
            <a:pPr algn="l" indent="0" marL="0">
              <a:lnSpc>
                <a:spcPct val="100000"/>
              </a:lnSpc>
              <a:buNone/>
            </a:pPr>
            <a:r>
              <a:rPr lang="en-US" sz="830" dirty="0">
                <a:solidFill>
                  <a:srgbClr val="6B6F80"/>
                </a:solidFill>
                <a:latin typeface="Calibri" pitchFamily="34" charset="0"/>
                <a:ea typeface="Calibri" pitchFamily="34" charset="-122"/>
                <a:cs typeface="Calibri" pitchFamily="34" charset="-120"/>
              </a:rPr>
              <a:t>노출강도</a:t>
            </a:r>
            <a:endParaRPr lang="en-US" sz="830" dirty="0"/>
          </a:p>
          <a:p>
            <a:pPr algn="l" indent="0" marL="0">
              <a:lnSpc>
                <a:spcPct val="100000"/>
              </a:lnSpc>
              <a:buNone/>
            </a:pPr>
            <a:r>
              <a:rPr lang="en-US" sz="830" dirty="0">
                <a:solidFill>
                  <a:srgbClr val="6B6F80"/>
                </a:solidFill>
                <a:latin typeface="Calibri" pitchFamily="34" charset="0"/>
                <a:ea typeface="Calibri" pitchFamily="34" charset="-122"/>
                <a:cs typeface="Calibri" pitchFamily="34" charset="-120"/>
              </a:rPr>
              <a:t>지수</a:t>
            </a:r>
            <a:endParaRPr lang="en-US" sz="830" dirty="0"/>
          </a:p>
        </p:txBody>
      </p:sp>
      <p:sp>
        <p:nvSpPr>
          <p:cNvPr id="13" name="Text 11"/>
          <p:cNvSpPr/>
          <p:nvPr/>
        </p:nvSpPr>
        <p:spPr>
          <a:xfrm>
            <a:off x="4937760" y="1691640"/>
            <a:ext cx="1554480" cy="932688"/>
          </a:xfrm>
          <a:prstGeom prst="rect">
            <a:avLst/>
          </a:prstGeom>
          <a:noFill/>
          <a:ln/>
        </p:spPr>
        <p:txBody>
          <a:bodyPr wrap="square" lIns="0" tIns="0" rIns="0" bIns="0" rtlCol="0" anchor="ctr"/>
          <a:lstStyle/>
          <a:p>
            <a:pPr algn="ctr" indent="0" marL="0">
              <a:buNone/>
            </a:pPr>
            <a:r>
              <a:rPr lang="en-US" sz="1100" dirty="0">
                <a:solidFill>
                  <a:srgbClr val="5A5E70"/>
                </a:solidFill>
                <a:latin typeface="Calibri" pitchFamily="34" charset="0"/>
                <a:ea typeface="Calibri" pitchFamily="34" charset="-122"/>
                <a:cs typeface="Calibri" pitchFamily="34" charset="-120"/>
              </a:rPr>
              <a:t>13건 · 5.0채널</a:t>
            </a:r>
            <a:endParaRPr lang="en-US" sz="1100" dirty="0"/>
          </a:p>
        </p:txBody>
      </p:sp>
      <p:sp>
        <p:nvSpPr>
          <p:cNvPr id="14" name="Text 12"/>
          <p:cNvSpPr/>
          <p:nvPr/>
        </p:nvSpPr>
        <p:spPr>
          <a:xfrm>
            <a:off x="6629400" y="1691640"/>
            <a:ext cx="4800600" cy="932688"/>
          </a:xfrm>
          <a:prstGeom prst="rect">
            <a:avLst/>
          </a:prstGeom>
          <a:noFill/>
          <a:ln/>
        </p:spPr>
        <p:txBody>
          <a:bodyPr wrap="square" lIns="0" tIns="0" rIns="0" bIns="0" rtlCol="0" anchor="ctr"/>
          <a:lstStyle/>
          <a:p>
            <a:pPr indent="0" marL="0">
              <a:lnSpc>
                <a:spcPct val="115000"/>
              </a:lnSpc>
              <a:buNone/>
            </a:pPr>
            <a:r>
              <a:rPr lang="en-US" sz="1040" dirty="0">
                <a:solidFill>
                  <a:srgbClr val="5A5E70"/>
                </a:solidFill>
                <a:latin typeface="Calibri" pitchFamily="34" charset="0"/>
                <a:ea typeface="Calibri" pitchFamily="34" charset="-122"/>
                <a:cs typeface="Calibri" pitchFamily="34" charset="-120"/>
              </a:rPr>
              <a:t>8/20~24 4개 파(wave)로 밀도 높게 투입, 6채널 풀세팅 포함 — 4사 중 가장 넓은 도달</a:t>
            </a:r>
            <a:endParaRPr lang="en-US" sz="1040" dirty="0"/>
          </a:p>
        </p:txBody>
      </p:sp>
      <p:sp>
        <p:nvSpPr>
          <p:cNvPr id="15" name="Shape 13"/>
          <p:cNvSpPr/>
          <p:nvPr/>
        </p:nvSpPr>
        <p:spPr>
          <a:xfrm>
            <a:off x="548640" y="2770632"/>
            <a:ext cx="11064240" cy="932688"/>
          </a:xfrm>
          <a:prstGeom prst="roundRect">
            <a:avLst>
              <a:gd name="adj" fmla="val 5882"/>
            </a:avLst>
          </a:prstGeom>
          <a:solidFill>
            <a:srgbClr val="FAFAFB"/>
          </a:solidFill>
          <a:ln w="12700">
            <a:solidFill>
              <a:srgbClr val="EFEFF3"/>
            </a:solidFill>
            <a:prstDash val="solid"/>
          </a:ln>
        </p:spPr>
      </p:sp>
      <p:sp>
        <p:nvSpPr>
          <p:cNvPr id="16" name="Shape 14"/>
          <p:cNvSpPr/>
          <p:nvPr/>
        </p:nvSpPr>
        <p:spPr>
          <a:xfrm>
            <a:off x="548640" y="2770632"/>
            <a:ext cx="128016" cy="932688"/>
          </a:xfrm>
          <a:prstGeom prst="roundRect">
            <a:avLst>
              <a:gd name="adj" fmla="val 21429"/>
            </a:avLst>
          </a:prstGeom>
          <a:solidFill>
            <a:srgbClr val="2FA89A"/>
          </a:solidFill>
          <a:ln/>
        </p:spPr>
      </p:sp>
      <p:sp>
        <p:nvSpPr>
          <p:cNvPr id="17" name="Text 15"/>
          <p:cNvSpPr/>
          <p:nvPr/>
        </p:nvSpPr>
        <p:spPr>
          <a:xfrm>
            <a:off x="868680" y="2770632"/>
            <a:ext cx="1965960" cy="932688"/>
          </a:xfrm>
          <a:prstGeom prst="rect">
            <a:avLst/>
          </a:prstGeom>
          <a:noFill/>
          <a:ln/>
        </p:spPr>
        <p:txBody>
          <a:bodyPr wrap="square" lIns="0" tIns="0" rIns="0" bIns="0" rtlCol="0" anchor="ctr"/>
          <a:lstStyle/>
          <a:p>
            <a:pPr indent="0" marL="0">
              <a:buNone/>
            </a:pPr>
            <a:r>
              <a:rPr lang="en-US" sz="1350" b="1" dirty="0">
                <a:solidFill>
                  <a:srgbClr val="1C1E29"/>
                </a:solidFill>
                <a:latin typeface="Calibri" pitchFamily="34" charset="0"/>
                <a:ea typeface="Calibri" pitchFamily="34" charset="-122"/>
                <a:cs typeface="Calibri" pitchFamily="34" charset="-120"/>
              </a:rPr>
              <a:t>마비노기모바일</a:t>
            </a:r>
            <a:endParaRPr lang="en-US" sz="1350" dirty="0"/>
          </a:p>
        </p:txBody>
      </p:sp>
      <p:sp>
        <p:nvSpPr>
          <p:cNvPr id="18" name="Text 16"/>
          <p:cNvSpPr/>
          <p:nvPr/>
        </p:nvSpPr>
        <p:spPr>
          <a:xfrm>
            <a:off x="2880360" y="2770632"/>
            <a:ext cx="1097280" cy="932688"/>
          </a:xfrm>
          <a:prstGeom prst="rect">
            <a:avLst/>
          </a:prstGeom>
          <a:noFill/>
          <a:ln/>
        </p:spPr>
        <p:txBody>
          <a:bodyPr wrap="square" lIns="0" tIns="0" rIns="0" bIns="0" rtlCol="0" anchor="ctr"/>
          <a:lstStyle/>
          <a:p>
            <a:pPr algn="ctr" indent="0" marL="0">
              <a:buNone/>
            </a:pPr>
            <a:r>
              <a:rPr lang="en-US" sz="2000" b="1" dirty="0">
                <a:solidFill>
                  <a:srgbClr val="2FA89A"/>
                </a:solidFill>
                <a:latin typeface="Cambria" pitchFamily="34" charset="0"/>
                <a:ea typeface="Cambria" pitchFamily="34" charset="-122"/>
                <a:cs typeface="Cambria" pitchFamily="34" charset="-120"/>
              </a:rPr>
              <a:t>15</a:t>
            </a:r>
            <a:endParaRPr lang="en-US" sz="2000" dirty="0"/>
          </a:p>
        </p:txBody>
      </p:sp>
      <p:sp>
        <p:nvSpPr>
          <p:cNvPr id="19" name="Text 17"/>
          <p:cNvSpPr/>
          <p:nvPr/>
        </p:nvSpPr>
        <p:spPr>
          <a:xfrm>
            <a:off x="3977640" y="2770632"/>
            <a:ext cx="914400" cy="932688"/>
          </a:xfrm>
          <a:prstGeom prst="rect">
            <a:avLst/>
          </a:prstGeom>
          <a:noFill/>
          <a:ln/>
        </p:spPr>
        <p:txBody>
          <a:bodyPr wrap="square" lIns="0" tIns="0" rIns="0" bIns="0" rtlCol="0" anchor="ctr"/>
          <a:lstStyle/>
          <a:p>
            <a:pPr algn="l" indent="0" marL="0">
              <a:lnSpc>
                <a:spcPct val="100000"/>
              </a:lnSpc>
              <a:buNone/>
            </a:pPr>
            <a:r>
              <a:rPr lang="en-US" sz="830" dirty="0">
                <a:solidFill>
                  <a:srgbClr val="6B6F80"/>
                </a:solidFill>
                <a:latin typeface="Calibri" pitchFamily="34" charset="0"/>
                <a:ea typeface="Calibri" pitchFamily="34" charset="-122"/>
                <a:cs typeface="Calibri" pitchFamily="34" charset="-120"/>
              </a:rPr>
              <a:t>노출강도</a:t>
            </a:r>
            <a:endParaRPr lang="en-US" sz="830" dirty="0"/>
          </a:p>
          <a:p>
            <a:pPr algn="l" indent="0" marL="0">
              <a:lnSpc>
                <a:spcPct val="100000"/>
              </a:lnSpc>
              <a:buNone/>
            </a:pPr>
            <a:r>
              <a:rPr lang="en-US" sz="830" dirty="0">
                <a:solidFill>
                  <a:srgbClr val="6B6F80"/>
                </a:solidFill>
                <a:latin typeface="Calibri" pitchFamily="34" charset="0"/>
                <a:ea typeface="Calibri" pitchFamily="34" charset="-122"/>
                <a:cs typeface="Calibri" pitchFamily="34" charset="-120"/>
              </a:rPr>
              <a:t>지수</a:t>
            </a:r>
            <a:endParaRPr lang="en-US" sz="830" dirty="0"/>
          </a:p>
        </p:txBody>
      </p:sp>
      <p:sp>
        <p:nvSpPr>
          <p:cNvPr id="20" name="Text 18"/>
          <p:cNvSpPr/>
          <p:nvPr/>
        </p:nvSpPr>
        <p:spPr>
          <a:xfrm>
            <a:off x="4937760" y="2770632"/>
            <a:ext cx="1554480" cy="932688"/>
          </a:xfrm>
          <a:prstGeom prst="rect">
            <a:avLst/>
          </a:prstGeom>
          <a:noFill/>
          <a:ln/>
        </p:spPr>
        <p:txBody>
          <a:bodyPr wrap="square" lIns="0" tIns="0" rIns="0" bIns="0" rtlCol="0" anchor="ctr"/>
          <a:lstStyle/>
          <a:p>
            <a:pPr algn="ctr" indent="0" marL="0">
              <a:buNone/>
            </a:pPr>
            <a:r>
              <a:rPr lang="en-US" sz="1100" dirty="0">
                <a:solidFill>
                  <a:srgbClr val="5A5E70"/>
                </a:solidFill>
                <a:latin typeface="Calibri" pitchFamily="34" charset="0"/>
                <a:ea typeface="Calibri" pitchFamily="34" charset="-122"/>
                <a:cs typeface="Calibri" pitchFamily="34" charset="-120"/>
              </a:rPr>
              <a:t>3건 · 5.0채널</a:t>
            </a:r>
            <a:endParaRPr lang="en-US" sz="1100" dirty="0"/>
          </a:p>
        </p:txBody>
      </p:sp>
      <p:sp>
        <p:nvSpPr>
          <p:cNvPr id="21" name="Text 19"/>
          <p:cNvSpPr/>
          <p:nvPr/>
        </p:nvSpPr>
        <p:spPr>
          <a:xfrm>
            <a:off x="6629400" y="2770632"/>
            <a:ext cx="4800600" cy="932688"/>
          </a:xfrm>
          <a:prstGeom prst="rect">
            <a:avLst/>
          </a:prstGeom>
          <a:noFill/>
          <a:ln/>
        </p:spPr>
        <p:txBody>
          <a:bodyPr wrap="square" lIns="0" tIns="0" rIns="0" bIns="0" rtlCol="0" anchor="ctr"/>
          <a:lstStyle/>
          <a:p>
            <a:pPr indent="0" marL="0">
              <a:lnSpc>
                <a:spcPct val="115000"/>
              </a:lnSpc>
              <a:buNone/>
            </a:pPr>
            <a:r>
              <a:rPr lang="en-US" sz="1040" dirty="0">
                <a:solidFill>
                  <a:srgbClr val="5A5E70"/>
                </a:solidFill>
                <a:latin typeface="Calibri" pitchFamily="34" charset="0"/>
                <a:ea typeface="Calibri" pitchFamily="34" charset="-122"/>
                <a:cs typeface="Calibri" pitchFamily="34" charset="-120"/>
              </a:rPr>
              <a:t>8/5~6 동일 문구 반복 배포 — 신규 캠페인보다 기존 소재 복제 운영</a:t>
            </a:r>
            <a:endParaRPr lang="en-US" sz="1040" dirty="0"/>
          </a:p>
        </p:txBody>
      </p:sp>
      <p:sp>
        <p:nvSpPr>
          <p:cNvPr id="22" name="Shape 20"/>
          <p:cNvSpPr/>
          <p:nvPr/>
        </p:nvSpPr>
        <p:spPr>
          <a:xfrm>
            <a:off x="548640" y="3849624"/>
            <a:ext cx="11064240" cy="932688"/>
          </a:xfrm>
          <a:prstGeom prst="roundRect">
            <a:avLst>
              <a:gd name="adj" fmla="val 5882"/>
            </a:avLst>
          </a:prstGeom>
          <a:solidFill>
            <a:srgbClr val="FAFAFB"/>
          </a:solidFill>
          <a:ln w="12700">
            <a:solidFill>
              <a:srgbClr val="EFEFF3"/>
            </a:solidFill>
            <a:prstDash val="solid"/>
          </a:ln>
        </p:spPr>
      </p:sp>
      <p:sp>
        <p:nvSpPr>
          <p:cNvPr id="23" name="Shape 21"/>
          <p:cNvSpPr/>
          <p:nvPr/>
        </p:nvSpPr>
        <p:spPr>
          <a:xfrm>
            <a:off x="548640" y="3849624"/>
            <a:ext cx="128016" cy="932688"/>
          </a:xfrm>
          <a:prstGeom prst="roundRect">
            <a:avLst>
              <a:gd name="adj" fmla="val 21429"/>
            </a:avLst>
          </a:prstGeom>
          <a:solidFill>
            <a:srgbClr val="8B2635"/>
          </a:solidFill>
          <a:ln/>
        </p:spPr>
      </p:sp>
      <p:sp>
        <p:nvSpPr>
          <p:cNvPr id="24" name="Text 22"/>
          <p:cNvSpPr/>
          <p:nvPr/>
        </p:nvSpPr>
        <p:spPr>
          <a:xfrm>
            <a:off x="868680" y="3849624"/>
            <a:ext cx="1965960" cy="932688"/>
          </a:xfrm>
          <a:prstGeom prst="rect">
            <a:avLst/>
          </a:prstGeom>
          <a:noFill/>
          <a:ln/>
        </p:spPr>
        <p:txBody>
          <a:bodyPr wrap="square" lIns="0" tIns="0" rIns="0" bIns="0" rtlCol="0" anchor="ctr"/>
          <a:lstStyle/>
          <a:p>
            <a:pPr indent="0" marL="0">
              <a:buNone/>
            </a:pPr>
            <a:r>
              <a:rPr lang="en-US" sz="1350" b="1" dirty="0">
                <a:solidFill>
                  <a:srgbClr val="1C1E29"/>
                </a:solidFill>
                <a:latin typeface="Calibri" pitchFamily="34" charset="0"/>
                <a:ea typeface="Calibri" pitchFamily="34" charset="-122"/>
                <a:cs typeface="Calibri" pitchFamily="34" charset="-120"/>
              </a:rPr>
              <a:t>검은사막모바일</a:t>
            </a:r>
            <a:endParaRPr lang="en-US" sz="1350" dirty="0"/>
          </a:p>
        </p:txBody>
      </p:sp>
      <p:sp>
        <p:nvSpPr>
          <p:cNvPr id="25" name="Text 23"/>
          <p:cNvSpPr/>
          <p:nvPr/>
        </p:nvSpPr>
        <p:spPr>
          <a:xfrm>
            <a:off x="2880360" y="3849624"/>
            <a:ext cx="1097280" cy="932688"/>
          </a:xfrm>
          <a:prstGeom prst="rect">
            <a:avLst/>
          </a:prstGeom>
          <a:noFill/>
          <a:ln/>
        </p:spPr>
        <p:txBody>
          <a:bodyPr wrap="square" lIns="0" tIns="0" rIns="0" bIns="0" rtlCol="0" anchor="ctr"/>
          <a:lstStyle/>
          <a:p>
            <a:pPr algn="ctr" indent="0" marL="0">
              <a:buNone/>
            </a:pPr>
            <a:r>
              <a:rPr lang="en-US" sz="2000" b="1" dirty="0">
                <a:solidFill>
                  <a:srgbClr val="8B2635"/>
                </a:solidFill>
                <a:latin typeface="Cambria" pitchFamily="34" charset="0"/>
                <a:ea typeface="Cambria" pitchFamily="34" charset="-122"/>
                <a:cs typeface="Cambria" pitchFamily="34" charset="-120"/>
              </a:rPr>
              <a:t>18</a:t>
            </a:r>
            <a:endParaRPr lang="en-US" sz="2000" dirty="0"/>
          </a:p>
        </p:txBody>
      </p:sp>
      <p:sp>
        <p:nvSpPr>
          <p:cNvPr id="26" name="Text 24"/>
          <p:cNvSpPr/>
          <p:nvPr/>
        </p:nvSpPr>
        <p:spPr>
          <a:xfrm>
            <a:off x="3977640" y="3849624"/>
            <a:ext cx="914400" cy="932688"/>
          </a:xfrm>
          <a:prstGeom prst="rect">
            <a:avLst/>
          </a:prstGeom>
          <a:noFill/>
          <a:ln/>
        </p:spPr>
        <p:txBody>
          <a:bodyPr wrap="square" lIns="0" tIns="0" rIns="0" bIns="0" rtlCol="0" anchor="ctr"/>
          <a:lstStyle/>
          <a:p>
            <a:pPr algn="l" indent="0" marL="0">
              <a:lnSpc>
                <a:spcPct val="100000"/>
              </a:lnSpc>
              <a:buNone/>
            </a:pPr>
            <a:r>
              <a:rPr lang="en-US" sz="830" dirty="0">
                <a:solidFill>
                  <a:srgbClr val="6B6F80"/>
                </a:solidFill>
                <a:latin typeface="Calibri" pitchFamily="34" charset="0"/>
                <a:ea typeface="Calibri" pitchFamily="34" charset="-122"/>
                <a:cs typeface="Calibri" pitchFamily="34" charset="-120"/>
              </a:rPr>
              <a:t>노출강도</a:t>
            </a:r>
            <a:endParaRPr lang="en-US" sz="830" dirty="0"/>
          </a:p>
          <a:p>
            <a:pPr algn="l" indent="0" marL="0">
              <a:lnSpc>
                <a:spcPct val="100000"/>
              </a:lnSpc>
              <a:buNone/>
            </a:pPr>
            <a:r>
              <a:rPr lang="en-US" sz="830" dirty="0">
                <a:solidFill>
                  <a:srgbClr val="6B6F80"/>
                </a:solidFill>
                <a:latin typeface="Calibri" pitchFamily="34" charset="0"/>
                <a:ea typeface="Calibri" pitchFamily="34" charset="-122"/>
                <a:cs typeface="Calibri" pitchFamily="34" charset="-120"/>
              </a:rPr>
              <a:t>지수</a:t>
            </a:r>
            <a:endParaRPr lang="en-US" sz="830" dirty="0"/>
          </a:p>
        </p:txBody>
      </p:sp>
      <p:sp>
        <p:nvSpPr>
          <p:cNvPr id="27" name="Text 25"/>
          <p:cNvSpPr/>
          <p:nvPr/>
        </p:nvSpPr>
        <p:spPr>
          <a:xfrm>
            <a:off x="4937760" y="3849624"/>
            <a:ext cx="1554480" cy="932688"/>
          </a:xfrm>
          <a:prstGeom prst="rect">
            <a:avLst/>
          </a:prstGeom>
          <a:noFill/>
          <a:ln/>
        </p:spPr>
        <p:txBody>
          <a:bodyPr wrap="square" lIns="0" tIns="0" rIns="0" bIns="0" rtlCol="0" anchor="ctr"/>
          <a:lstStyle/>
          <a:p>
            <a:pPr algn="ctr" indent="0" marL="0">
              <a:buNone/>
            </a:pPr>
            <a:r>
              <a:rPr lang="en-US" sz="1100" dirty="0">
                <a:solidFill>
                  <a:srgbClr val="5A5E70"/>
                </a:solidFill>
                <a:latin typeface="Calibri" pitchFamily="34" charset="0"/>
                <a:ea typeface="Calibri" pitchFamily="34" charset="-122"/>
                <a:cs typeface="Calibri" pitchFamily="34" charset="-120"/>
              </a:rPr>
              <a:t>6건 · 3.0채널</a:t>
            </a:r>
            <a:endParaRPr lang="en-US" sz="1100" dirty="0"/>
          </a:p>
        </p:txBody>
      </p:sp>
      <p:sp>
        <p:nvSpPr>
          <p:cNvPr id="28" name="Text 26"/>
          <p:cNvSpPr/>
          <p:nvPr/>
        </p:nvSpPr>
        <p:spPr>
          <a:xfrm>
            <a:off x="6629400" y="3849624"/>
            <a:ext cx="4800600" cy="932688"/>
          </a:xfrm>
          <a:prstGeom prst="rect">
            <a:avLst/>
          </a:prstGeom>
          <a:noFill/>
          <a:ln/>
        </p:spPr>
        <p:txBody>
          <a:bodyPr wrap="square" lIns="0" tIns="0" rIns="0" bIns="0" rtlCol="0" anchor="ctr"/>
          <a:lstStyle/>
          <a:p>
            <a:pPr indent="0" marL="0">
              <a:lnSpc>
                <a:spcPct val="115000"/>
              </a:lnSpc>
              <a:buNone/>
            </a:pPr>
            <a:r>
              <a:rPr lang="en-US" sz="1040" dirty="0">
                <a:solidFill>
                  <a:srgbClr val="5A5E70"/>
                </a:solidFill>
                <a:latin typeface="Calibri" pitchFamily="34" charset="0"/>
                <a:ea typeface="Calibri" pitchFamily="34" charset="-122"/>
                <a:cs typeface="Calibri" pitchFamily="34" charset="-120"/>
              </a:rPr>
              <a:t>7/11~8/4 약 2~3주 간격, FB·IG·오디언스네트워크 3채널 한정 — 가장 보수적</a:t>
            </a:r>
            <a:endParaRPr lang="en-US" sz="1040" dirty="0"/>
          </a:p>
        </p:txBody>
      </p:sp>
      <p:sp>
        <p:nvSpPr>
          <p:cNvPr id="29" name="Shape 27"/>
          <p:cNvSpPr/>
          <p:nvPr/>
        </p:nvSpPr>
        <p:spPr>
          <a:xfrm>
            <a:off x="548640" y="4928616"/>
            <a:ext cx="11064240" cy="932688"/>
          </a:xfrm>
          <a:prstGeom prst="roundRect">
            <a:avLst>
              <a:gd name="adj" fmla="val 5882"/>
            </a:avLst>
          </a:prstGeom>
          <a:solidFill>
            <a:srgbClr val="FAFAFB"/>
          </a:solidFill>
          <a:ln w="12700">
            <a:solidFill>
              <a:srgbClr val="EFEFF3"/>
            </a:solidFill>
            <a:prstDash val="solid"/>
          </a:ln>
        </p:spPr>
      </p:sp>
      <p:sp>
        <p:nvSpPr>
          <p:cNvPr id="30" name="Shape 28"/>
          <p:cNvSpPr/>
          <p:nvPr/>
        </p:nvSpPr>
        <p:spPr>
          <a:xfrm>
            <a:off x="548640" y="4928616"/>
            <a:ext cx="128016" cy="932688"/>
          </a:xfrm>
          <a:prstGeom prst="roundRect">
            <a:avLst>
              <a:gd name="adj" fmla="val 21429"/>
            </a:avLst>
          </a:prstGeom>
          <a:solidFill>
            <a:srgbClr val="6B4FA0"/>
          </a:solidFill>
          <a:ln/>
        </p:spPr>
      </p:sp>
      <p:sp>
        <p:nvSpPr>
          <p:cNvPr id="31" name="Text 29"/>
          <p:cNvSpPr/>
          <p:nvPr/>
        </p:nvSpPr>
        <p:spPr>
          <a:xfrm>
            <a:off x="868680" y="4928616"/>
            <a:ext cx="1965960" cy="932688"/>
          </a:xfrm>
          <a:prstGeom prst="rect">
            <a:avLst/>
          </a:prstGeom>
          <a:noFill/>
          <a:ln/>
        </p:spPr>
        <p:txBody>
          <a:bodyPr wrap="square" lIns="0" tIns="0" rIns="0" bIns="0" rtlCol="0" anchor="ctr"/>
          <a:lstStyle/>
          <a:p>
            <a:pPr indent="0" marL="0">
              <a:buNone/>
            </a:pPr>
            <a:r>
              <a:rPr lang="en-US" sz="1350" b="1" dirty="0">
                <a:solidFill>
                  <a:srgbClr val="1C1E29"/>
                </a:solidFill>
                <a:latin typeface="Calibri" pitchFamily="34" charset="0"/>
                <a:ea typeface="Calibri" pitchFamily="34" charset="-122"/>
                <a:cs typeface="Calibri" pitchFamily="34" charset="-120"/>
              </a:rPr>
              <a:t>아이온2</a:t>
            </a:r>
            <a:endParaRPr lang="en-US" sz="1350" dirty="0"/>
          </a:p>
        </p:txBody>
      </p:sp>
      <p:sp>
        <p:nvSpPr>
          <p:cNvPr id="32" name="Text 30"/>
          <p:cNvSpPr/>
          <p:nvPr/>
        </p:nvSpPr>
        <p:spPr>
          <a:xfrm>
            <a:off x="2880360" y="4928616"/>
            <a:ext cx="1097280" cy="932688"/>
          </a:xfrm>
          <a:prstGeom prst="rect">
            <a:avLst/>
          </a:prstGeom>
          <a:noFill/>
          <a:ln/>
        </p:spPr>
        <p:txBody>
          <a:bodyPr wrap="square" lIns="0" tIns="0" rIns="0" bIns="0" rtlCol="0" anchor="ctr"/>
          <a:lstStyle/>
          <a:p>
            <a:pPr algn="ctr" indent="0" marL="0">
              <a:buNone/>
            </a:pPr>
            <a:r>
              <a:rPr lang="en-US" sz="2000" b="1" dirty="0">
                <a:solidFill>
                  <a:srgbClr val="6B4FA0"/>
                </a:solidFill>
                <a:latin typeface="Cambria" pitchFamily="34" charset="0"/>
                <a:ea typeface="Cambria" pitchFamily="34" charset="-122"/>
                <a:cs typeface="Cambria" pitchFamily="34" charset="-120"/>
              </a:rPr>
              <a:t>—</a:t>
            </a:r>
            <a:endParaRPr lang="en-US" sz="2000" dirty="0"/>
          </a:p>
        </p:txBody>
      </p:sp>
      <p:sp>
        <p:nvSpPr>
          <p:cNvPr id="33" name="Text 31"/>
          <p:cNvSpPr/>
          <p:nvPr/>
        </p:nvSpPr>
        <p:spPr>
          <a:xfrm>
            <a:off x="3977640" y="4928616"/>
            <a:ext cx="914400" cy="932688"/>
          </a:xfrm>
          <a:prstGeom prst="rect">
            <a:avLst/>
          </a:prstGeom>
          <a:noFill/>
          <a:ln/>
        </p:spPr>
        <p:txBody>
          <a:bodyPr wrap="square" lIns="0" tIns="0" rIns="0" bIns="0" rtlCol="0" anchor="ctr"/>
          <a:lstStyle/>
          <a:p>
            <a:pPr algn="l" indent="0" marL="0">
              <a:lnSpc>
                <a:spcPct val="100000"/>
              </a:lnSpc>
              <a:buNone/>
            </a:pPr>
            <a:r>
              <a:rPr lang="en-US" sz="830" dirty="0">
                <a:solidFill>
                  <a:srgbClr val="6B6F80"/>
                </a:solidFill>
                <a:latin typeface="Calibri" pitchFamily="34" charset="0"/>
                <a:ea typeface="Calibri" pitchFamily="34" charset="-122"/>
                <a:cs typeface="Calibri" pitchFamily="34" charset="-120"/>
              </a:rPr>
              <a:t>노출강도</a:t>
            </a:r>
            <a:endParaRPr lang="en-US" sz="830" dirty="0"/>
          </a:p>
          <a:p>
            <a:pPr algn="l" indent="0" marL="0">
              <a:lnSpc>
                <a:spcPct val="100000"/>
              </a:lnSpc>
              <a:buNone/>
            </a:pPr>
            <a:r>
              <a:rPr lang="en-US" sz="830" dirty="0">
                <a:solidFill>
                  <a:srgbClr val="6B6F80"/>
                </a:solidFill>
                <a:latin typeface="Calibri" pitchFamily="34" charset="0"/>
                <a:ea typeface="Calibri" pitchFamily="34" charset="-122"/>
                <a:cs typeface="Calibri" pitchFamily="34" charset="-120"/>
              </a:rPr>
              <a:t>지수</a:t>
            </a:r>
            <a:endParaRPr lang="en-US" sz="830" dirty="0"/>
          </a:p>
        </p:txBody>
      </p:sp>
      <p:sp>
        <p:nvSpPr>
          <p:cNvPr id="34" name="Text 32"/>
          <p:cNvSpPr/>
          <p:nvPr/>
        </p:nvSpPr>
        <p:spPr>
          <a:xfrm>
            <a:off x="4937760" y="4928616"/>
            <a:ext cx="1554480" cy="932688"/>
          </a:xfrm>
          <a:prstGeom prst="rect">
            <a:avLst/>
          </a:prstGeom>
          <a:noFill/>
          <a:ln/>
        </p:spPr>
        <p:txBody>
          <a:bodyPr wrap="square" lIns="0" tIns="0" rIns="0" bIns="0" rtlCol="0" anchor="ctr"/>
          <a:lstStyle/>
          <a:p>
            <a:pPr algn="ctr" indent="0" marL="0">
              <a:buNone/>
            </a:pPr>
            <a:r>
              <a:rPr lang="en-US" sz="1100" dirty="0">
                <a:solidFill>
                  <a:srgbClr val="5A5E70"/>
                </a:solidFill>
                <a:latin typeface="Calibri" pitchFamily="34" charset="0"/>
                <a:ea typeface="Calibri" pitchFamily="34" charset="-122"/>
                <a:cs typeface="Calibri" pitchFamily="34" charset="-120"/>
              </a:rPr>
              <a:t>0건 · —</a:t>
            </a:r>
            <a:endParaRPr lang="en-US" sz="1100" dirty="0"/>
          </a:p>
        </p:txBody>
      </p:sp>
      <p:sp>
        <p:nvSpPr>
          <p:cNvPr id="35" name="Text 33"/>
          <p:cNvSpPr/>
          <p:nvPr/>
        </p:nvSpPr>
        <p:spPr>
          <a:xfrm>
            <a:off x="6629400" y="4928616"/>
            <a:ext cx="4800600" cy="932688"/>
          </a:xfrm>
          <a:prstGeom prst="rect">
            <a:avLst/>
          </a:prstGeom>
          <a:noFill/>
          <a:ln/>
        </p:spPr>
        <p:txBody>
          <a:bodyPr wrap="square" lIns="0" tIns="0" rIns="0" bIns="0" rtlCol="0" anchor="ctr"/>
          <a:lstStyle/>
          <a:p>
            <a:pPr indent="0" marL="0">
              <a:lnSpc>
                <a:spcPct val="115000"/>
              </a:lnSpc>
              <a:buNone/>
            </a:pPr>
            <a:r>
              <a:rPr lang="en-US" sz="1040" dirty="0">
                <a:solidFill>
                  <a:srgbClr val="5A5E70"/>
                </a:solidFill>
                <a:latin typeface="Calibri" pitchFamily="34" charset="0"/>
                <a:ea typeface="Calibri" pitchFamily="34" charset="-122"/>
                <a:cs typeface="Calibri" pitchFamily="34" charset="-120"/>
              </a:rPr>
              <a:t>메타 UA 미확인 — 스팀·커뮤니티·크리에이터 협업 등 타 채널 추정</a:t>
            </a:r>
            <a:endParaRPr lang="en-US" sz="104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lIns="0" tIns="0" rIns="0" bIns="0" rtlCol="0" anchor="ctr"/>
          <a:lstStyle/>
          <a:p>
            <a:pPr indent="0" marL="0">
              <a:buNone/>
            </a:pPr>
            <a:r>
              <a:rPr lang="en-US" sz="1250" b="1" spc="200" kern="0" dirty="0">
                <a:solidFill>
                  <a:srgbClr val="F0692B"/>
                </a:solidFill>
                <a:latin typeface="Calibri" pitchFamily="34" charset="0"/>
                <a:ea typeface="Calibri" pitchFamily="34" charset="-122"/>
                <a:cs typeface="Calibri" pitchFamily="34" charset="-120"/>
              </a:rPr>
              <a:t>03 · AD SPEND &amp; EFFICIENCY</a:t>
            </a:r>
            <a:endParaRPr lang="en-US" sz="1250" dirty="0"/>
          </a:p>
        </p:txBody>
      </p:sp>
      <p:sp>
        <p:nvSpPr>
          <p:cNvPr id="3" name="Text 1"/>
          <p:cNvSpPr/>
          <p:nvPr/>
        </p:nvSpPr>
        <p:spPr>
          <a:xfrm>
            <a:off x="548640" y="749808"/>
            <a:ext cx="10789920" cy="640080"/>
          </a:xfrm>
          <a:prstGeom prst="rect">
            <a:avLst/>
          </a:prstGeom>
          <a:noFill/>
          <a:ln/>
        </p:spPr>
        <p:txBody>
          <a:bodyPr wrap="square" lIns="0" tIns="0" rIns="0" bIns="0" rtlCol="0" anchor="ctr"/>
          <a:lstStyle/>
          <a:p>
            <a:pPr indent="0" marL="0">
              <a:buNone/>
            </a:pPr>
            <a:r>
              <a:rPr lang="en-US" sz="2800" b="1" dirty="0">
                <a:solidFill>
                  <a:srgbClr val="1C1E29"/>
                </a:solidFill>
                <a:latin typeface="Cambria" pitchFamily="34" charset="0"/>
                <a:ea typeface="Cambria" pitchFamily="34" charset="-122"/>
                <a:cs typeface="Cambria" pitchFamily="34" charset="-120"/>
              </a:rPr>
              <a:t>마케팅 효율 지수 (방향성 진단)</a:t>
            </a:r>
            <a:endParaRPr lang="en-US" sz="2800" dirty="0"/>
          </a:p>
        </p:txBody>
      </p:sp>
      <p:sp>
        <p:nvSpPr>
          <p:cNvPr id="4" name="Shape 2"/>
          <p:cNvSpPr/>
          <p:nvPr/>
        </p:nvSpPr>
        <p:spPr>
          <a:xfrm>
            <a:off x="9646920" y="475488"/>
            <a:ext cx="1965960" cy="365760"/>
          </a:xfrm>
          <a:prstGeom prst="roundRect">
            <a:avLst>
              <a:gd name="adj" fmla="val 15000"/>
            </a:avLst>
          </a:prstGeom>
          <a:solidFill>
            <a:srgbClr val="F2F2F5"/>
          </a:solidFill>
          <a:ln/>
        </p:spPr>
      </p:sp>
      <p:sp>
        <p:nvSpPr>
          <p:cNvPr id="5" name="Text 3"/>
          <p:cNvSpPr/>
          <p:nvPr/>
        </p:nvSpPr>
        <p:spPr>
          <a:xfrm>
            <a:off x="9646920" y="475488"/>
            <a:ext cx="1965960" cy="365760"/>
          </a:xfrm>
          <a:prstGeom prst="rect">
            <a:avLst/>
          </a:prstGeom>
          <a:noFill/>
          <a:ln/>
        </p:spPr>
        <p:txBody>
          <a:bodyPr wrap="square" lIns="0" tIns="0" rIns="0" bIns="0" rtlCol="0" anchor="ctr"/>
          <a:lstStyle/>
          <a:p>
            <a:pPr algn="ctr" indent="0" marL="0">
              <a:buNone/>
            </a:pPr>
            <a:r>
              <a:rPr lang="en-US" sz="1050" b="1" dirty="0">
                <a:solidFill>
                  <a:srgbClr val="6B6F80"/>
                </a:solidFill>
                <a:latin typeface="Calibri" pitchFamily="34" charset="0"/>
                <a:ea typeface="Calibri" pitchFamily="34" charset="-122"/>
                <a:cs typeface="Calibri" pitchFamily="34" charset="-120"/>
              </a:rPr>
              <a:t>TILE · 07</a:t>
            </a:r>
            <a:endParaRPr lang="en-US" sz="1050" dirty="0"/>
          </a:p>
        </p:txBody>
      </p:sp>
      <p:sp>
        <p:nvSpPr>
          <p:cNvPr id="6" name="Text 4"/>
          <p:cNvSpPr/>
          <p:nvPr/>
        </p:nvSpPr>
        <p:spPr>
          <a:xfrm>
            <a:off x="548640" y="6400800"/>
            <a:ext cx="10332720" cy="274320"/>
          </a:xfrm>
          <a:prstGeom prst="rect">
            <a:avLst/>
          </a:prstGeom>
          <a:noFill/>
          <a:ln/>
        </p:spPr>
        <p:txBody>
          <a:bodyPr wrap="square" lIns="0" tIns="0" rIns="0" bIns="0" rtlCol="0" anchor="ctr"/>
          <a:lstStyle/>
          <a:p>
            <a:pPr indent="0" marL="0">
              <a:buNone/>
            </a:pPr>
            <a:r>
              <a:rPr lang="en-US" sz="900" dirty="0">
                <a:solidFill>
                  <a:srgbClr val="9A9DAC"/>
                </a:solidFill>
                <a:latin typeface="Calibri" pitchFamily="34" charset="0"/>
                <a:ea typeface="Calibri" pitchFamily="34" charset="-122"/>
                <a:cs typeface="Calibri" pitchFamily="34" charset="-120"/>
              </a:rPr>
              <a:t>산출: 광고비 YoY 증감 방향 × 순위/실적 개선 방향 교차분류 (지표 정의서② 참조) — 절대 ROI 수치 아님</a:t>
            </a:r>
            <a:endParaRPr lang="en-US" sz="900" dirty="0"/>
          </a:p>
        </p:txBody>
      </p:sp>
      <p:sp>
        <p:nvSpPr>
          <p:cNvPr id="7" name="Text 5"/>
          <p:cNvSpPr/>
          <p:nvPr/>
        </p:nvSpPr>
        <p:spPr>
          <a:xfrm>
            <a:off x="11365992" y="6446520"/>
            <a:ext cx="548640" cy="274320"/>
          </a:xfrm>
          <a:prstGeom prst="rect">
            <a:avLst/>
          </a:prstGeom>
          <a:noFill/>
          <a:ln/>
        </p:spPr>
        <p:txBody>
          <a:bodyPr wrap="square" lIns="0" tIns="0" rIns="0" bIns="0" rtlCol="0" anchor="ctr"/>
          <a:lstStyle/>
          <a:p>
            <a:pPr algn="r" indent="0" marL="0">
              <a:buNone/>
            </a:pPr>
            <a:r>
              <a:rPr lang="en-US" sz="900" dirty="0">
                <a:solidFill>
                  <a:srgbClr val="A8ABB8"/>
                </a:solidFill>
                <a:latin typeface="Calibri" pitchFamily="34" charset="0"/>
                <a:ea typeface="Calibri" pitchFamily="34" charset="-122"/>
                <a:cs typeface="Calibri" pitchFamily="34" charset="-120"/>
              </a:rPr>
              <a:t>17</a:t>
            </a:r>
            <a:endParaRPr lang="en-US" sz="900" dirty="0"/>
          </a:p>
        </p:txBody>
      </p:sp>
      <p:sp>
        <p:nvSpPr>
          <p:cNvPr id="8" name="Shape 6"/>
          <p:cNvSpPr/>
          <p:nvPr/>
        </p:nvSpPr>
        <p:spPr>
          <a:xfrm>
            <a:off x="548640" y="1691640"/>
            <a:ext cx="11109960" cy="1417320"/>
          </a:xfrm>
          <a:prstGeom prst="roundRect">
            <a:avLst>
              <a:gd name="adj" fmla="val 3871"/>
            </a:avLst>
          </a:prstGeom>
          <a:solidFill>
            <a:srgbClr val="FAFAFB"/>
          </a:solidFill>
          <a:ln w="12700">
            <a:solidFill>
              <a:srgbClr val="EBEBF0"/>
            </a:solidFill>
            <a:prstDash val="solid"/>
          </a:ln>
        </p:spPr>
      </p:sp>
      <p:sp>
        <p:nvSpPr>
          <p:cNvPr id="9" name="Shape 7"/>
          <p:cNvSpPr/>
          <p:nvPr/>
        </p:nvSpPr>
        <p:spPr>
          <a:xfrm>
            <a:off x="548640" y="1691640"/>
            <a:ext cx="128016" cy="1417320"/>
          </a:xfrm>
          <a:prstGeom prst="roundRect">
            <a:avLst>
              <a:gd name="adj" fmla="val 21429"/>
            </a:avLst>
          </a:prstGeom>
          <a:solidFill>
            <a:srgbClr val="F0692B"/>
          </a:solidFill>
          <a:ln/>
        </p:spPr>
      </p:sp>
      <p:sp>
        <p:nvSpPr>
          <p:cNvPr id="10" name="Text 8"/>
          <p:cNvSpPr/>
          <p:nvPr/>
        </p:nvSpPr>
        <p:spPr>
          <a:xfrm>
            <a:off x="868680" y="1819656"/>
            <a:ext cx="2651760" cy="365760"/>
          </a:xfrm>
          <a:prstGeom prst="rect">
            <a:avLst/>
          </a:prstGeom>
          <a:noFill/>
          <a:ln/>
        </p:spPr>
        <p:txBody>
          <a:bodyPr wrap="square" lIns="0" tIns="0" rIns="0" bIns="0" rtlCol="0" anchor="ctr"/>
          <a:lstStyle/>
          <a:p>
            <a:pPr indent="0" marL="0">
              <a:buNone/>
            </a:pPr>
            <a:r>
              <a:rPr lang="en-US" sz="1300" b="1" dirty="0">
                <a:solidFill>
                  <a:srgbClr val="1C1E29"/>
                </a:solidFill>
                <a:latin typeface="Calibri" pitchFamily="34" charset="0"/>
                <a:ea typeface="Calibri" pitchFamily="34" charset="-122"/>
                <a:cs typeface="Calibri" pitchFamily="34" charset="-120"/>
              </a:rPr>
              <a:t>넥슨코리아 (메이플M)</a:t>
            </a:r>
            <a:endParaRPr lang="en-US" sz="1300" dirty="0"/>
          </a:p>
        </p:txBody>
      </p:sp>
      <p:sp>
        <p:nvSpPr>
          <p:cNvPr id="11" name="Text 9"/>
          <p:cNvSpPr/>
          <p:nvPr/>
        </p:nvSpPr>
        <p:spPr>
          <a:xfrm>
            <a:off x="868680" y="2194560"/>
            <a:ext cx="2651760" cy="320040"/>
          </a:xfrm>
          <a:prstGeom prst="rect">
            <a:avLst/>
          </a:prstGeom>
          <a:noFill/>
          <a:ln/>
        </p:spPr>
        <p:txBody>
          <a:bodyPr wrap="square" lIns="0" tIns="0" rIns="0" bIns="0" rtlCol="0" anchor="ctr"/>
          <a:lstStyle/>
          <a:p>
            <a:pPr indent="0" marL="0">
              <a:buNone/>
            </a:pPr>
            <a:r>
              <a:rPr lang="en-US" sz="1000" dirty="0">
                <a:solidFill>
                  <a:srgbClr val="5A5E70"/>
                </a:solidFill>
                <a:latin typeface="Calibri" pitchFamily="34" charset="0"/>
                <a:ea typeface="Calibri" pitchFamily="34" charset="-122"/>
                <a:cs typeface="Calibri" pitchFamily="34" charset="-120"/>
              </a:rPr>
              <a:t>광고비 +29.4%</a:t>
            </a:r>
            <a:endParaRPr lang="en-US" sz="1000" dirty="0"/>
          </a:p>
        </p:txBody>
      </p:sp>
      <p:sp>
        <p:nvSpPr>
          <p:cNvPr id="12" name="Text 10"/>
          <p:cNvSpPr/>
          <p:nvPr/>
        </p:nvSpPr>
        <p:spPr>
          <a:xfrm>
            <a:off x="868680" y="2496312"/>
            <a:ext cx="2651760" cy="457200"/>
          </a:xfrm>
          <a:prstGeom prst="rect">
            <a:avLst/>
          </a:prstGeom>
          <a:noFill/>
          <a:ln/>
        </p:spPr>
        <p:txBody>
          <a:bodyPr wrap="square" lIns="0" tIns="0" rIns="0" bIns="0" rtlCol="0" anchor="ctr"/>
          <a:lstStyle/>
          <a:p>
            <a:pPr indent="0" marL="0">
              <a:lnSpc>
                <a:spcPct val="115000"/>
              </a:lnSpc>
              <a:buNone/>
            </a:pPr>
            <a:r>
              <a:rPr lang="en-US" sz="1000" dirty="0">
                <a:solidFill>
                  <a:srgbClr val="5A5E70"/>
                </a:solidFill>
                <a:latin typeface="Calibri" pitchFamily="34" charset="0"/>
                <a:ea typeface="Calibri" pitchFamily="34" charset="-122"/>
                <a:cs typeface="Calibri" pitchFamily="34" charset="-120"/>
              </a:rPr>
              <a:t>순위 87→21위 급등</a:t>
            </a:r>
            <a:endParaRPr lang="en-US" sz="1000" dirty="0"/>
          </a:p>
        </p:txBody>
      </p:sp>
      <p:sp>
        <p:nvSpPr>
          <p:cNvPr id="13" name="Shape 11"/>
          <p:cNvSpPr/>
          <p:nvPr/>
        </p:nvSpPr>
        <p:spPr>
          <a:xfrm>
            <a:off x="3703320" y="1819656"/>
            <a:ext cx="1920240" cy="566928"/>
          </a:xfrm>
          <a:prstGeom prst="roundRect">
            <a:avLst>
              <a:gd name="adj" fmla="val 48387"/>
            </a:avLst>
          </a:prstGeom>
          <a:solidFill>
            <a:srgbClr val="F0692B"/>
          </a:solidFill>
          <a:ln/>
        </p:spPr>
      </p:sp>
      <p:sp>
        <p:nvSpPr>
          <p:cNvPr id="14" name="Text 12"/>
          <p:cNvSpPr/>
          <p:nvPr/>
        </p:nvSpPr>
        <p:spPr>
          <a:xfrm>
            <a:off x="3703320" y="1819656"/>
            <a:ext cx="1920240" cy="56692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지출↑ · 성과↑</a:t>
            </a:r>
            <a:endParaRPr lang="en-US" sz="1000" dirty="0"/>
          </a:p>
        </p:txBody>
      </p:sp>
      <p:sp>
        <p:nvSpPr>
          <p:cNvPr id="15" name="Text 13"/>
          <p:cNvSpPr/>
          <p:nvPr/>
        </p:nvSpPr>
        <p:spPr>
          <a:xfrm>
            <a:off x="3703320" y="2468880"/>
            <a:ext cx="1920240" cy="457200"/>
          </a:xfrm>
          <a:prstGeom prst="rect">
            <a:avLst/>
          </a:prstGeom>
          <a:noFill/>
          <a:ln/>
        </p:spPr>
        <p:txBody>
          <a:bodyPr wrap="square" lIns="0" tIns="0" rIns="0" bIns="0" rtlCol="0" anchor="ctr"/>
          <a:lstStyle/>
          <a:p>
            <a:pPr algn="ctr" indent="0" marL="0">
              <a:buNone/>
            </a:pPr>
            <a:r>
              <a:rPr lang="en-US" sz="1300" b="1" dirty="0">
                <a:solidFill>
                  <a:srgbClr val="F0692B"/>
                </a:solidFill>
                <a:latin typeface="Cambria" pitchFamily="34" charset="0"/>
                <a:ea typeface="Cambria" pitchFamily="34" charset="-122"/>
                <a:cs typeface="Cambria" pitchFamily="34" charset="-120"/>
              </a:rPr>
              <a:t>방향 일치 (양호)</a:t>
            </a:r>
            <a:endParaRPr lang="en-US" sz="1300" dirty="0"/>
          </a:p>
        </p:txBody>
      </p:sp>
      <p:sp>
        <p:nvSpPr>
          <p:cNvPr id="16" name="Text 14"/>
          <p:cNvSpPr/>
          <p:nvPr/>
        </p:nvSpPr>
        <p:spPr>
          <a:xfrm>
            <a:off x="5806440" y="1819656"/>
            <a:ext cx="5669280" cy="1161288"/>
          </a:xfrm>
          <a:prstGeom prst="rect">
            <a:avLst/>
          </a:prstGeom>
          <a:noFill/>
          <a:ln/>
        </p:spPr>
        <p:txBody>
          <a:bodyPr wrap="square" lIns="0" tIns="0" rIns="0" bIns="0" rtlCol="0" anchor="ctr"/>
          <a:lstStyle/>
          <a:p>
            <a:pPr indent="0" marL="0">
              <a:lnSpc>
                <a:spcPct val="125000"/>
              </a:lnSpc>
              <a:buNone/>
            </a:pPr>
            <a:r>
              <a:rPr lang="en-US" sz="1080" dirty="0">
                <a:solidFill>
                  <a:srgbClr val="444858"/>
                </a:solidFill>
                <a:latin typeface="Calibri" pitchFamily="34" charset="0"/>
                <a:ea typeface="Calibri" pitchFamily="34" charset="-122"/>
                <a:cs typeface="Calibri" pitchFamily="34" charset="-120"/>
              </a:rPr>
              <a:t>지출 증가와 성과 개선이 같은 방향 — 다만 광고비가 회사 전체 기준이라 메이플M 단독 기여분은 분리 불가</a:t>
            </a:r>
            <a:endParaRPr lang="en-US" sz="1080" dirty="0"/>
          </a:p>
        </p:txBody>
      </p:sp>
      <p:sp>
        <p:nvSpPr>
          <p:cNvPr id="17" name="Shape 15"/>
          <p:cNvSpPr/>
          <p:nvPr/>
        </p:nvSpPr>
        <p:spPr>
          <a:xfrm>
            <a:off x="548640" y="3200400"/>
            <a:ext cx="11109960" cy="1417320"/>
          </a:xfrm>
          <a:prstGeom prst="roundRect">
            <a:avLst>
              <a:gd name="adj" fmla="val 3871"/>
            </a:avLst>
          </a:prstGeom>
          <a:solidFill>
            <a:srgbClr val="FAFAFB"/>
          </a:solidFill>
          <a:ln w="12700">
            <a:solidFill>
              <a:srgbClr val="EBEBF0"/>
            </a:solidFill>
            <a:prstDash val="solid"/>
          </a:ln>
        </p:spPr>
      </p:sp>
      <p:sp>
        <p:nvSpPr>
          <p:cNvPr id="18" name="Shape 16"/>
          <p:cNvSpPr/>
          <p:nvPr/>
        </p:nvSpPr>
        <p:spPr>
          <a:xfrm>
            <a:off x="548640" y="3200400"/>
            <a:ext cx="128016" cy="1417320"/>
          </a:xfrm>
          <a:prstGeom prst="roundRect">
            <a:avLst>
              <a:gd name="adj" fmla="val 21429"/>
            </a:avLst>
          </a:prstGeom>
          <a:solidFill>
            <a:srgbClr val="8B2635"/>
          </a:solidFill>
          <a:ln/>
        </p:spPr>
      </p:sp>
      <p:sp>
        <p:nvSpPr>
          <p:cNvPr id="19" name="Text 17"/>
          <p:cNvSpPr/>
          <p:nvPr/>
        </p:nvSpPr>
        <p:spPr>
          <a:xfrm>
            <a:off x="868680" y="3328416"/>
            <a:ext cx="2651760" cy="365760"/>
          </a:xfrm>
          <a:prstGeom prst="rect">
            <a:avLst/>
          </a:prstGeom>
          <a:noFill/>
          <a:ln/>
        </p:spPr>
        <p:txBody>
          <a:bodyPr wrap="square" lIns="0" tIns="0" rIns="0" bIns="0" rtlCol="0" anchor="ctr"/>
          <a:lstStyle/>
          <a:p>
            <a:pPr indent="0" marL="0">
              <a:buNone/>
            </a:pPr>
            <a:r>
              <a:rPr lang="en-US" sz="1300" b="1" dirty="0">
                <a:solidFill>
                  <a:srgbClr val="1C1E29"/>
                </a:solidFill>
                <a:latin typeface="Calibri" pitchFamily="34" charset="0"/>
                <a:ea typeface="Calibri" pitchFamily="34" charset="-122"/>
                <a:cs typeface="Calibri" pitchFamily="34" charset="-120"/>
              </a:rPr>
              <a:t>펄어비스 (검은사막M)</a:t>
            </a:r>
            <a:endParaRPr lang="en-US" sz="1300" dirty="0"/>
          </a:p>
        </p:txBody>
      </p:sp>
      <p:sp>
        <p:nvSpPr>
          <p:cNvPr id="20" name="Text 18"/>
          <p:cNvSpPr/>
          <p:nvPr/>
        </p:nvSpPr>
        <p:spPr>
          <a:xfrm>
            <a:off x="868680" y="3703320"/>
            <a:ext cx="2651760" cy="320040"/>
          </a:xfrm>
          <a:prstGeom prst="rect">
            <a:avLst/>
          </a:prstGeom>
          <a:noFill/>
          <a:ln/>
        </p:spPr>
        <p:txBody>
          <a:bodyPr wrap="square" lIns="0" tIns="0" rIns="0" bIns="0" rtlCol="0" anchor="ctr"/>
          <a:lstStyle/>
          <a:p>
            <a:pPr indent="0" marL="0">
              <a:buNone/>
            </a:pPr>
            <a:r>
              <a:rPr lang="en-US" sz="1000" dirty="0">
                <a:solidFill>
                  <a:srgbClr val="5A5E70"/>
                </a:solidFill>
                <a:latin typeface="Calibri" pitchFamily="34" charset="0"/>
                <a:ea typeface="Calibri" pitchFamily="34" charset="-122"/>
                <a:cs typeface="Calibri" pitchFamily="34" charset="-120"/>
              </a:rPr>
              <a:t>광고비 별도 -6.7% / 연결 +29.9%</a:t>
            </a:r>
            <a:endParaRPr lang="en-US" sz="1000" dirty="0"/>
          </a:p>
        </p:txBody>
      </p:sp>
      <p:sp>
        <p:nvSpPr>
          <p:cNvPr id="21" name="Text 19"/>
          <p:cNvSpPr/>
          <p:nvPr/>
        </p:nvSpPr>
        <p:spPr>
          <a:xfrm>
            <a:off x="868680" y="4005072"/>
            <a:ext cx="2651760" cy="457200"/>
          </a:xfrm>
          <a:prstGeom prst="rect">
            <a:avLst/>
          </a:prstGeom>
          <a:noFill/>
          <a:ln/>
        </p:spPr>
        <p:txBody>
          <a:bodyPr wrap="square" lIns="0" tIns="0" rIns="0" bIns="0" rtlCol="0" anchor="ctr"/>
          <a:lstStyle/>
          <a:p>
            <a:pPr indent="0" marL="0">
              <a:lnSpc>
                <a:spcPct val="115000"/>
              </a:lnSpc>
              <a:buNone/>
            </a:pPr>
            <a:r>
              <a:rPr lang="en-US" sz="1000" dirty="0">
                <a:solidFill>
                  <a:srgbClr val="5A5E70"/>
                </a:solidFill>
                <a:latin typeface="Calibri" pitchFamily="34" charset="0"/>
                <a:ea typeface="Calibri" pitchFamily="34" charset="-122"/>
                <a:cs typeface="Calibri" pitchFamily="34" charset="-120"/>
              </a:rPr>
              <a:t>순위 트래킹 이탈(하락)</a:t>
            </a:r>
            <a:endParaRPr lang="en-US" sz="1000" dirty="0"/>
          </a:p>
        </p:txBody>
      </p:sp>
      <p:sp>
        <p:nvSpPr>
          <p:cNvPr id="22" name="Shape 20"/>
          <p:cNvSpPr/>
          <p:nvPr/>
        </p:nvSpPr>
        <p:spPr>
          <a:xfrm>
            <a:off x="3703320" y="3328416"/>
            <a:ext cx="1920240" cy="566928"/>
          </a:xfrm>
          <a:prstGeom prst="roundRect">
            <a:avLst>
              <a:gd name="adj" fmla="val 48387"/>
            </a:avLst>
          </a:prstGeom>
          <a:solidFill>
            <a:srgbClr val="8B2635"/>
          </a:solidFill>
          <a:ln/>
        </p:spPr>
      </p:sp>
      <p:sp>
        <p:nvSpPr>
          <p:cNvPr id="23" name="Text 21"/>
          <p:cNvSpPr/>
          <p:nvPr/>
        </p:nvSpPr>
        <p:spPr>
          <a:xfrm>
            <a:off x="3703320" y="3328416"/>
            <a:ext cx="1920240" cy="56692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지출 혼조 · 성과↓</a:t>
            </a:r>
            <a:endParaRPr lang="en-US" sz="1000" dirty="0"/>
          </a:p>
        </p:txBody>
      </p:sp>
      <p:sp>
        <p:nvSpPr>
          <p:cNvPr id="24" name="Text 22"/>
          <p:cNvSpPr/>
          <p:nvPr/>
        </p:nvSpPr>
        <p:spPr>
          <a:xfrm>
            <a:off x="3703320" y="3977640"/>
            <a:ext cx="1920240" cy="457200"/>
          </a:xfrm>
          <a:prstGeom prst="rect">
            <a:avLst/>
          </a:prstGeom>
          <a:noFill/>
          <a:ln/>
        </p:spPr>
        <p:txBody>
          <a:bodyPr wrap="square" lIns="0" tIns="0" rIns="0" bIns="0" rtlCol="0" anchor="ctr"/>
          <a:lstStyle/>
          <a:p>
            <a:pPr algn="ctr" indent="0" marL="0">
              <a:buNone/>
            </a:pPr>
            <a:r>
              <a:rPr lang="en-US" sz="1300" b="1" dirty="0">
                <a:solidFill>
                  <a:srgbClr val="8B2635"/>
                </a:solidFill>
                <a:latin typeface="Cambria" pitchFamily="34" charset="0"/>
                <a:ea typeface="Cambria" pitchFamily="34" charset="-122"/>
                <a:cs typeface="Cambria" pitchFamily="34" charset="-120"/>
              </a:rPr>
              <a:t>비효율 시그널</a:t>
            </a:r>
            <a:endParaRPr lang="en-US" sz="1300" dirty="0"/>
          </a:p>
        </p:txBody>
      </p:sp>
      <p:sp>
        <p:nvSpPr>
          <p:cNvPr id="25" name="Text 23"/>
          <p:cNvSpPr/>
          <p:nvPr/>
        </p:nvSpPr>
        <p:spPr>
          <a:xfrm>
            <a:off x="5806440" y="3328416"/>
            <a:ext cx="5669280" cy="1161288"/>
          </a:xfrm>
          <a:prstGeom prst="rect">
            <a:avLst/>
          </a:prstGeom>
          <a:noFill/>
          <a:ln/>
        </p:spPr>
        <p:txBody>
          <a:bodyPr wrap="square" lIns="0" tIns="0" rIns="0" bIns="0" rtlCol="0" anchor="ctr"/>
          <a:lstStyle/>
          <a:p>
            <a:pPr indent="0" marL="0">
              <a:lnSpc>
                <a:spcPct val="125000"/>
              </a:lnSpc>
              <a:buNone/>
            </a:pPr>
            <a:r>
              <a:rPr lang="en-US" sz="1080" dirty="0">
                <a:solidFill>
                  <a:srgbClr val="444858"/>
                </a:solidFill>
                <a:latin typeface="Calibri" pitchFamily="34" charset="0"/>
                <a:ea typeface="Calibri" pitchFamily="34" charset="-122"/>
                <a:cs typeface="Calibri" pitchFamily="34" charset="-120"/>
              </a:rPr>
              <a:t>연결 지출은 늘었지만 모바일 순위는 하락 — 늘어난 예산이 신작 '붉은사막'으로 쏠렸을 가능성을 시사</a:t>
            </a:r>
            <a:endParaRPr lang="en-US" sz="1080" dirty="0"/>
          </a:p>
        </p:txBody>
      </p:sp>
      <p:sp>
        <p:nvSpPr>
          <p:cNvPr id="26" name="Shape 24"/>
          <p:cNvSpPr/>
          <p:nvPr/>
        </p:nvSpPr>
        <p:spPr>
          <a:xfrm>
            <a:off x="548640" y="4709160"/>
            <a:ext cx="11109960" cy="1417320"/>
          </a:xfrm>
          <a:prstGeom prst="roundRect">
            <a:avLst>
              <a:gd name="adj" fmla="val 3871"/>
            </a:avLst>
          </a:prstGeom>
          <a:solidFill>
            <a:srgbClr val="FAFAFB"/>
          </a:solidFill>
          <a:ln w="12700">
            <a:solidFill>
              <a:srgbClr val="EBEBF0"/>
            </a:solidFill>
            <a:prstDash val="solid"/>
          </a:ln>
        </p:spPr>
      </p:sp>
      <p:sp>
        <p:nvSpPr>
          <p:cNvPr id="27" name="Shape 25"/>
          <p:cNvSpPr/>
          <p:nvPr/>
        </p:nvSpPr>
        <p:spPr>
          <a:xfrm>
            <a:off x="548640" y="4709160"/>
            <a:ext cx="128016" cy="1417320"/>
          </a:xfrm>
          <a:prstGeom prst="roundRect">
            <a:avLst>
              <a:gd name="adj" fmla="val 21429"/>
            </a:avLst>
          </a:prstGeom>
          <a:solidFill>
            <a:srgbClr val="6B4FA0"/>
          </a:solidFill>
          <a:ln/>
        </p:spPr>
      </p:sp>
      <p:sp>
        <p:nvSpPr>
          <p:cNvPr id="28" name="Text 26"/>
          <p:cNvSpPr/>
          <p:nvPr/>
        </p:nvSpPr>
        <p:spPr>
          <a:xfrm>
            <a:off x="868680" y="4837176"/>
            <a:ext cx="2651760" cy="365760"/>
          </a:xfrm>
          <a:prstGeom prst="rect">
            <a:avLst/>
          </a:prstGeom>
          <a:noFill/>
          <a:ln/>
        </p:spPr>
        <p:txBody>
          <a:bodyPr wrap="square" lIns="0" tIns="0" rIns="0" bIns="0" rtlCol="0" anchor="ctr"/>
          <a:lstStyle/>
          <a:p>
            <a:pPr indent="0" marL="0">
              <a:buNone/>
            </a:pPr>
            <a:r>
              <a:rPr lang="en-US" sz="1300" b="1" dirty="0">
                <a:solidFill>
                  <a:srgbClr val="1C1E29"/>
                </a:solidFill>
                <a:latin typeface="Calibri" pitchFamily="34" charset="0"/>
                <a:ea typeface="Calibri" pitchFamily="34" charset="-122"/>
                <a:cs typeface="Calibri" pitchFamily="34" charset="-120"/>
              </a:rPr>
              <a:t>엔씨/NC (아이온2)</a:t>
            </a:r>
            <a:endParaRPr lang="en-US" sz="1300" dirty="0"/>
          </a:p>
        </p:txBody>
      </p:sp>
      <p:sp>
        <p:nvSpPr>
          <p:cNvPr id="29" name="Text 27"/>
          <p:cNvSpPr/>
          <p:nvPr/>
        </p:nvSpPr>
        <p:spPr>
          <a:xfrm>
            <a:off x="868680" y="5212080"/>
            <a:ext cx="2651760" cy="320040"/>
          </a:xfrm>
          <a:prstGeom prst="rect">
            <a:avLst/>
          </a:prstGeom>
          <a:noFill/>
          <a:ln/>
        </p:spPr>
        <p:txBody>
          <a:bodyPr wrap="square" lIns="0" tIns="0" rIns="0" bIns="0" rtlCol="0" anchor="ctr"/>
          <a:lstStyle/>
          <a:p>
            <a:pPr indent="0" marL="0">
              <a:buNone/>
            </a:pPr>
            <a:r>
              <a:rPr lang="en-US" sz="1000" dirty="0">
                <a:solidFill>
                  <a:srgbClr val="5A5E70"/>
                </a:solidFill>
                <a:latin typeface="Calibri" pitchFamily="34" charset="0"/>
                <a:ea typeface="Calibri" pitchFamily="34" charset="-122"/>
                <a:cs typeface="Calibri" pitchFamily="34" charset="-120"/>
              </a:rPr>
              <a:t>광고비 -38.2%(별도)</a:t>
            </a:r>
            <a:endParaRPr lang="en-US" sz="1000" dirty="0"/>
          </a:p>
        </p:txBody>
      </p:sp>
      <p:sp>
        <p:nvSpPr>
          <p:cNvPr id="30" name="Text 28"/>
          <p:cNvSpPr/>
          <p:nvPr/>
        </p:nvSpPr>
        <p:spPr>
          <a:xfrm>
            <a:off x="868680" y="5513832"/>
            <a:ext cx="2651760" cy="457200"/>
          </a:xfrm>
          <a:prstGeom prst="rect">
            <a:avLst/>
          </a:prstGeom>
          <a:noFill/>
          <a:ln/>
        </p:spPr>
        <p:txBody>
          <a:bodyPr wrap="square" lIns="0" tIns="0" rIns="0" bIns="0" rtlCol="0" anchor="ctr"/>
          <a:lstStyle/>
          <a:p>
            <a:pPr indent="0" marL="0">
              <a:lnSpc>
                <a:spcPct val="115000"/>
              </a:lnSpc>
              <a:buNone/>
            </a:pPr>
            <a:r>
              <a:rPr lang="en-US" sz="1000" dirty="0">
                <a:solidFill>
                  <a:srgbClr val="5A5E70"/>
                </a:solidFill>
                <a:latin typeface="Calibri" pitchFamily="34" charset="0"/>
                <a:ea typeface="Calibri" pitchFamily="34" charset="-122"/>
                <a:cs typeface="Calibri" pitchFamily="34" charset="-120"/>
              </a:rPr>
              <a:t>신작 안착 + 연결 영업이익 흑자전환</a:t>
            </a:r>
            <a:endParaRPr lang="en-US" sz="1000" dirty="0"/>
          </a:p>
        </p:txBody>
      </p:sp>
      <p:sp>
        <p:nvSpPr>
          <p:cNvPr id="31" name="Shape 29"/>
          <p:cNvSpPr/>
          <p:nvPr/>
        </p:nvSpPr>
        <p:spPr>
          <a:xfrm>
            <a:off x="3703320" y="4837176"/>
            <a:ext cx="1920240" cy="566928"/>
          </a:xfrm>
          <a:prstGeom prst="roundRect">
            <a:avLst>
              <a:gd name="adj" fmla="val 48387"/>
            </a:avLst>
          </a:prstGeom>
          <a:solidFill>
            <a:srgbClr val="6B4FA0"/>
          </a:solidFill>
          <a:ln/>
        </p:spPr>
      </p:sp>
      <p:sp>
        <p:nvSpPr>
          <p:cNvPr id="32" name="Text 30"/>
          <p:cNvSpPr/>
          <p:nvPr/>
        </p:nvSpPr>
        <p:spPr>
          <a:xfrm>
            <a:off x="3703320" y="4837176"/>
            <a:ext cx="1920240" cy="56692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지출↓ · 성과↑</a:t>
            </a:r>
            <a:endParaRPr lang="en-US" sz="1000" dirty="0"/>
          </a:p>
        </p:txBody>
      </p:sp>
      <p:sp>
        <p:nvSpPr>
          <p:cNvPr id="33" name="Text 31"/>
          <p:cNvSpPr/>
          <p:nvPr/>
        </p:nvSpPr>
        <p:spPr>
          <a:xfrm>
            <a:off x="3703320" y="5486400"/>
            <a:ext cx="1920240" cy="457200"/>
          </a:xfrm>
          <a:prstGeom prst="rect">
            <a:avLst/>
          </a:prstGeom>
          <a:noFill/>
          <a:ln/>
        </p:spPr>
        <p:txBody>
          <a:bodyPr wrap="square" lIns="0" tIns="0" rIns="0" bIns="0" rtlCol="0" anchor="ctr"/>
          <a:lstStyle/>
          <a:p>
            <a:pPr algn="ctr" indent="0" marL="0">
              <a:buNone/>
            </a:pPr>
            <a:r>
              <a:rPr lang="en-US" sz="1300" b="1" dirty="0">
                <a:solidFill>
                  <a:srgbClr val="6B4FA0"/>
                </a:solidFill>
                <a:latin typeface="Cambria" pitchFamily="34" charset="0"/>
                <a:ea typeface="Cambria" pitchFamily="34" charset="-122"/>
                <a:cs typeface="Cambria" pitchFamily="34" charset="-120"/>
              </a:rPr>
              <a:t>4사 중 최고 효율</a:t>
            </a:r>
            <a:endParaRPr lang="en-US" sz="1300" dirty="0"/>
          </a:p>
        </p:txBody>
      </p:sp>
      <p:sp>
        <p:nvSpPr>
          <p:cNvPr id="34" name="Text 32"/>
          <p:cNvSpPr/>
          <p:nvPr/>
        </p:nvSpPr>
        <p:spPr>
          <a:xfrm>
            <a:off x="5806440" y="4837176"/>
            <a:ext cx="5669280" cy="1161288"/>
          </a:xfrm>
          <a:prstGeom prst="rect">
            <a:avLst/>
          </a:prstGeom>
          <a:noFill/>
          <a:ln/>
        </p:spPr>
        <p:txBody>
          <a:bodyPr wrap="square" lIns="0" tIns="0" rIns="0" bIns="0" rtlCol="0" anchor="ctr"/>
          <a:lstStyle/>
          <a:p>
            <a:pPr indent="0" marL="0">
              <a:lnSpc>
                <a:spcPct val="125000"/>
              </a:lnSpc>
              <a:buNone/>
            </a:pPr>
            <a:r>
              <a:rPr lang="en-US" sz="1080" dirty="0">
                <a:solidFill>
                  <a:srgbClr val="444858"/>
                </a:solidFill>
                <a:latin typeface="Calibri" pitchFamily="34" charset="0"/>
                <a:ea typeface="Calibri" pitchFamily="34" charset="-122"/>
                <a:cs typeface="Calibri" pitchFamily="34" charset="-120"/>
              </a:rPr>
              <a:t>메타 UA 없이 라이브방송·쇼케이스로 지출 대비 최대 성과 — 벤치마킹 우선순위 1순위</a:t>
            </a:r>
            <a:endParaRPr lang="en-US" sz="10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161F"/>
        </a:solidFill>
      </p:bgPr>
    </p:bg>
    <p:spTree>
      <p:nvGrpSpPr>
        <p:cNvPr id="1" name=""/>
        <p:cNvGrpSpPr/>
        <p:nvPr/>
      </p:nvGrpSpPr>
      <p:grpSpPr>
        <a:xfrm>
          <a:off x="0" y="0"/>
          <a:ext cx="0" cy="0"/>
          <a:chOff x="0" y="0"/>
          <a:chExt cx="0" cy="0"/>
        </a:xfrm>
      </p:grpSpPr>
      <p:sp>
        <p:nvSpPr>
          <p:cNvPr id="2" name="Shape 0"/>
          <p:cNvSpPr/>
          <p:nvPr/>
        </p:nvSpPr>
        <p:spPr>
          <a:xfrm>
            <a:off x="-2377440" y="4206240"/>
            <a:ext cx="5943600" cy="5943600"/>
          </a:xfrm>
          <a:prstGeom prst="ellipse">
            <a:avLst/>
          </a:prstGeom>
          <a:solidFill>
            <a:srgbClr val="1B1E2C"/>
          </a:solidFill>
          <a:ln/>
        </p:spPr>
      </p:sp>
      <p:sp>
        <p:nvSpPr>
          <p:cNvPr id="3" name="Text 1"/>
          <p:cNvSpPr/>
          <p:nvPr/>
        </p:nvSpPr>
        <p:spPr>
          <a:xfrm>
            <a:off x="822960" y="2286000"/>
            <a:ext cx="3657600" cy="1463040"/>
          </a:xfrm>
          <a:prstGeom prst="rect">
            <a:avLst/>
          </a:prstGeom>
          <a:noFill/>
          <a:ln/>
        </p:spPr>
        <p:txBody>
          <a:bodyPr wrap="square" lIns="0" tIns="0" rIns="0" bIns="0" rtlCol="0" anchor="ctr"/>
          <a:lstStyle/>
          <a:p>
            <a:pPr indent="0" marL="0">
              <a:buNone/>
            </a:pPr>
            <a:r>
              <a:rPr lang="en-US" sz="9000" b="1" dirty="0">
                <a:solidFill>
                  <a:srgbClr val="2A2E42"/>
                </a:solidFill>
                <a:latin typeface="Cambria" pitchFamily="34" charset="0"/>
                <a:ea typeface="Cambria" pitchFamily="34" charset="-122"/>
                <a:cs typeface="Cambria" pitchFamily="34" charset="-120"/>
              </a:rPr>
              <a:t>04</a:t>
            </a:r>
            <a:endParaRPr lang="en-US" sz="9000" dirty="0"/>
          </a:p>
        </p:txBody>
      </p:sp>
      <p:sp>
        <p:nvSpPr>
          <p:cNvPr id="4" name="Text 2"/>
          <p:cNvSpPr/>
          <p:nvPr/>
        </p:nvSpPr>
        <p:spPr>
          <a:xfrm>
            <a:off x="868680" y="3246120"/>
            <a:ext cx="9144000" cy="365760"/>
          </a:xfrm>
          <a:prstGeom prst="rect">
            <a:avLst/>
          </a:prstGeom>
          <a:noFill/>
          <a:ln/>
        </p:spPr>
        <p:txBody>
          <a:bodyPr wrap="square" lIns="0" tIns="0" rIns="0" bIns="0" rtlCol="0" anchor="ctr"/>
          <a:lstStyle/>
          <a:p>
            <a:pPr indent="0" marL="0">
              <a:buNone/>
            </a:pPr>
            <a:r>
              <a:rPr lang="en-US" sz="1300" b="1" spc="300" kern="0" dirty="0">
                <a:solidFill>
                  <a:srgbClr val="F0692B"/>
                </a:solidFill>
                <a:latin typeface="Calibri" pitchFamily="34" charset="0"/>
                <a:ea typeface="Calibri" pitchFamily="34" charset="-122"/>
                <a:cs typeface="Calibri" pitchFamily="34" charset="-120"/>
              </a:rPr>
              <a:t>CASE DEEP-DIVE</a:t>
            </a:r>
            <a:endParaRPr lang="en-US" sz="1300" dirty="0"/>
          </a:p>
        </p:txBody>
      </p:sp>
      <p:sp>
        <p:nvSpPr>
          <p:cNvPr id="5" name="Text 3"/>
          <p:cNvSpPr/>
          <p:nvPr/>
        </p:nvSpPr>
        <p:spPr>
          <a:xfrm>
            <a:off x="822960" y="3611880"/>
            <a:ext cx="10058400" cy="10058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케이스 딥다이브</a:t>
            </a:r>
            <a:endParaRPr lang="en-US" sz="3400" dirty="0"/>
          </a:p>
        </p:txBody>
      </p:sp>
      <p:sp>
        <p:nvSpPr>
          <p:cNvPr id="6" name="Text 4"/>
          <p:cNvSpPr/>
          <p:nvPr/>
        </p:nvSpPr>
        <p:spPr>
          <a:xfrm>
            <a:off x="11365992" y="6446520"/>
            <a:ext cx="548640" cy="274320"/>
          </a:xfrm>
          <a:prstGeom prst="rect">
            <a:avLst/>
          </a:prstGeom>
          <a:noFill/>
          <a:ln/>
        </p:spPr>
        <p:txBody>
          <a:bodyPr wrap="square" lIns="0" tIns="0" rIns="0" bIns="0" rtlCol="0" anchor="ctr"/>
          <a:lstStyle/>
          <a:p>
            <a:pPr algn="r" indent="0" marL="0">
              <a:buNone/>
            </a:pPr>
            <a:r>
              <a:rPr lang="en-US" sz="900" dirty="0">
                <a:solidFill>
                  <a:srgbClr val="6A6E8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lIns="0" tIns="0" rIns="0" bIns="0" rtlCol="0" anchor="ctr"/>
          <a:lstStyle/>
          <a:p>
            <a:pPr indent="0" marL="0">
              <a:buNone/>
            </a:pPr>
            <a:r>
              <a:rPr lang="en-US" sz="1250" b="1" spc="200" kern="0" dirty="0">
                <a:solidFill>
                  <a:srgbClr val="F0692B"/>
                </a:solidFill>
                <a:latin typeface="Calibri" pitchFamily="34" charset="0"/>
                <a:ea typeface="Calibri" pitchFamily="34" charset="-122"/>
                <a:cs typeface="Calibri" pitchFamily="34" charset="-120"/>
              </a:rPr>
              <a:t>04 · CASE DEEP-DIVE</a:t>
            </a:r>
            <a:endParaRPr lang="en-US" sz="1250" dirty="0"/>
          </a:p>
        </p:txBody>
      </p:sp>
      <p:sp>
        <p:nvSpPr>
          <p:cNvPr id="3" name="Text 1"/>
          <p:cNvSpPr/>
          <p:nvPr/>
        </p:nvSpPr>
        <p:spPr>
          <a:xfrm>
            <a:off x="548640" y="749808"/>
            <a:ext cx="10789920" cy="640080"/>
          </a:xfrm>
          <a:prstGeom prst="rect">
            <a:avLst/>
          </a:prstGeom>
          <a:noFill/>
          <a:ln/>
        </p:spPr>
        <p:txBody>
          <a:bodyPr wrap="square" lIns="0" tIns="0" rIns="0" bIns="0" rtlCol="0" anchor="ctr"/>
          <a:lstStyle/>
          <a:p>
            <a:pPr indent="0" marL="0">
              <a:buNone/>
            </a:pPr>
            <a:r>
              <a:rPr lang="en-US" sz="2800" b="1" dirty="0">
                <a:solidFill>
                  <a:srgbClr val="1C1E29"/>
                </a:solidFill>
                <a:latin typeface="Cambria" pitchFamily="34" charset="0"/>
                <a:ea typeface="Cambria" pitchFamily="34" charset="-122"/>
                <a:cs typeface="Cambria" pitchFamily="34" charset="-120"/>
              </a:rPr>
              <a:t>메이플스토리M — RE:BOOST 업데이트 효과와 한계</a:t>
            </a:r>
            <a:endParaRPr lang="en-US" sz="2800" dirty="0"/>
          </a:p>
        </p:txBody>
      </p:sp>
      <p:sp>
        <p:nvSpPr>
          <p:cNvPr id="4" name="Shape 2"/>
          <p:cNvSpPr/>
          <p:nvPr/>
        </p:nvSpPr>
        <p:spPr>
          <a:xfrm>
            <a:off x="9646920" y="475488"/>
            <a:ext cx="1965960" cy="365760"/>
          </a:xfrm>
          <a:prstGeom prst="roundRect">
            <a:avLst>
              <a:gd name="adj" fmla="val 15000"/>
            </a:avLst>
          </a:prstGeom>
          <a:solidFill>
            <a:srgbClr val="F2F2F5"/>
          </a:solidFill>
          <a:ln/>
        </p:spPr>
      </p:sp>
      <p:sp>
        <p:nvSpPr>
          <p:cNvPr id="5" name="Text 3"/>
          <p:cNvSpPr/>
          <p:nvPr/>
        </p:nvSpPr>
        <p:spPr>
          <a:xfrm>
            <a:off x="9646920" y="475488"/>
            <a:ext cx="1965960" cy="365760"/>
          </a:xfrm>
          <a:prstGeom prst="rect">
            <a:avLst/>
          </a:prstGeom>
          <a:noFill/>
          <a:ln/>
        </p:spPr>
        <p:txBody>
          <a:bodyPr wrap="square" lIns="0" tIns="0" rIns="0" bIns="0" rtlCol="0" anchor="ctr"/>
          <a:lstStyle/>
          <a:p>
            <a:pPr algn="ctr" indent="0" marL="0">
              <a:buNone/>
            </a:pPr>
            <a:r>
              <a:rPr lang="en-US" sz="1050" b="1" dirty="0">
                <a:solidFill>
                  <a:srgbClr val="6B6F80"/>
                </a:solidFill>
                <a:latin typeface="Calibri" pitchFamily="34" charset="0"/>
                <a:ea typeface="Calibri" pitchFamily="34" charset="-122"/>
                <a:cs typeface="Calibri" pitchFamily="34" charset="-120"/>
              </a:rPr>
              <a:t>TILE · 08</a:t>
            </a:r>
            <a:endParaRPr lang="en-US" sz="1050" dirty="0"/>
          </a:p>
        </p:txBody>
      </p:sp>
      <p:sp>
        <p:nvSpPr>
          <p:cNvPr id="6" name="Text 4"/>
          <p:cNvSpPr/>
          <p:nvPr/>
        </p:nvSpPr>
        <p:spPr>
          <a:xfrm>
            <a:off x="11365992" y="6446520"/>
            <a:ext cx="548640" cy="274320"/>
          </a:xfrm>
          <a:prstGeom prst="rect">
            <a:avLst/>
          </a:prstGeom>
          <a:noFill/>
          <a:ln/>
        </p:spPr>
        <p:txBody>
          <a:bodyPr wrap="square" lIns="0" tIns="0" rIns="0" bIns="0" rtlCol="0" anchor="ctr"/>
          <a:lstStyle/>
          <a:p>
            <a:pPr algn="r" indent="0" marL="0">
              <a:buNone/>
            </a:pPr>
            <a:r>
              <a:rPr lang="en-US" sz="900" dirty="0">
                <a:solidFill>
                  <a:srgbClr val="A8ABB8"/>
                </a:solidFill>
                <a:latin typeface="Calibri" pitchFamily="34" charset="0"/>
                <a:ea typeface="Calibri" pitchFamily="34" charset="-122"/>
                <a:cs typeface="Calibri" pitchFamily="34" charset="-120"/>
              </a:rPr>
              <a:t>19</a:t>
            </a:r>
            <a:endParaRPr lang="en-US" sz="900" dirty="0"/>
          </a:p>
        </p:txBody>
      </p:sp>
      <p:sp>
        <p:nvSpPr>
          <p:cNvPr id="7" name="Shape 5"/>
          <p:cNvSpPr/>
          <p:nvPr/>
        </p:nvSpPr>
        <p:spPr>
          <a:xfrm>
            <a:off x="548640" y="1600200"/>
            <a:ext cx="3474720" cy="1417320"/>
          </a:xfrm>
          <a:prstGeom prst="roundRect">
            <a:avLst>
              <a:gd name="adj" fmla="val 4516"/>
            </a:avLst>
          </a:prstGeom>
          <a:solidFill>
            <a:srgbClr val="FAFAFB"/>
          </a:solidFill>
          <a:ln w="12700">
            <a:solidFill>
              <a:srgbClr val="EBEBF0"/>
            </a:solidFill>
            <a:prstDash val="solid"/>
          </a:ln>
        </p:spPr>
      </p:sp>
      <p:sp>
        <p:nvSpPr>
          <p:cNvPr id="8" name="Text 6"/>
          <p:cNvSpPr/>
          <p:nvPr/>
        </p:nvSpPr>
        <p:spPr>
          <a:xfrm>
            <a:off x="548640" y="1737360"/>
            <a:ext cx="3474720" cy="685800"/>
          </a:xfrm>
          <a:prstGeom prst="rect">
            <a:avLst/>
          </a:prstGeom>
          <a:noFill/>
          <a:ln/>
        </p:spPr>
        <p:txBody>
          <a:bodyPr wrap="square" lIns="0" tIns="0" rIns="0" bIns="0" rtlCol="0" anchor="ctr"/>
          <a:lstStyle/>
          <a:p>
            <a:pPr algn="ctr" indent="0" marL="0">
              <a:buNone/>
            </a:pPr>
            <a:r>
              <a:rPr lang="en-US" sz="2800" b="1" dirty="0">
                <a:solidFill>
                  <a:srgbClr val="F0692B"/>
                </a:solidFill>
                <a:latin typeface="Cambria" pitchFamily="34" charset="0"/>
                <a:ea typeface="Cambria" pitchFamily="34" charset="-122"/>
                <a:cs typeface="Cambria" pitchFamily="34" charset="-120"/>
              </a:rPr>
              <a:t>87 → 21위</a:t>
            </a:r>
            <a:endParaRPr lang="en-US" sz="2800" dirty="0"/>
          </a:p>
        </p:txBody>
      </p:sp>
      <p:sp>
        <p:nvSpPr>
          <p:cNvPr id="9" name="Text 7"/>
          <p:cNvSpPr/>
          <p:nvPr/>
        </p:nvSpPr>
        <p:spPr>
          <a:xfrm>
            <a:off x="548640" y="2423160"/>
            <a:ext cx="3474720" cy="502920"/>
          </a:xfrm>
          <a:prstGeom prst="rect">
            <a:avLst/>
          </a:prstGeom>
          <a:noFill/>
          <a:ln/>
        </p:spPr>
        <p:txBody>
          <a:bodyPr wrap="square" lIns="0" tIns="0" rIns="0" bIns="0" rtlCol="0" anchor="ctr"/>
          <a:lstStyle/>
          <a:p>
            <a:pPr algn="ctr" indent="0" marL="0">
              <a:buNone/>
            </a:pPr>
            <a:r>
              <a:rPr lang="en-US" sz="1100" dirty="0">
                <a:solidFill>
                  <a:srgbClr val="6B6F80"/>
                </a:solidFill>
                <a:latin typeface="Calibri" pitchFamily="34" charset="0"/>
                <a:ea typeface="Calibri" pitchFamily="34" charset="-122"/>
                <a:cs typeface="Calibri" pitchFamily="34" charset="-120"/>
              </a:rPr>
              <a:t>매출순위 (7/20 → 8/3)</a:t>
            </a:r>
            <a:endParaRPr lang="en-US" sz="1100" dirty="0"/>
          </a:p>
        </p:txBody>
      </p:sp>
      <p:sp>
        <p:nvSpPr>
          <p:cNvPr id="10" name="Shape 8"/>
          <p:cNvSpPr/>
          <p:nvPr/>
        </p:nvSpPr>
        <p:spPr>
          <a:xfrm>
            <a:off x="4251960" y="1600200"/>
            <a:ext cx="3474720" cy="1417320"/>
          </a:xfrm>
          <a:prstGeom prst="roundRect">
            <a:avLst>
              <a:gd name="adj" fmla="val 4516"/>
            </a:avLst>
          </a:prstGeom>
          <a:solidFill>
            <a:srgbClr val="FAFAFB"/>
          </a:solidFill>
          <a:ln w="12700">
            <a:solidFill>
              <a:srgbClr val="EBEBF0"/>
            </a:solidFill>
            <a:prstDash val="solid"/>
          </a:ln>
        </p:spPr>
      </p:sp>
      <p:sp>
        <p:nvSpPr>
          <p:cNvPr id="11" name="Text 9"/>
          <p:cNvSpPr/>
          <p:nvPr/>
        </p:nvSpPr>
        <p:spPr>
          <a:xfrm>
            <a:off x="4251960" y="1737360"/>
            <a:ext cx="3474720" cy="685800"/>
          </a:xfrm>
          <a:prstGeom prst="rect">
            <a:avLst/>
          </a:prstGeom>
          <a:noFill/>
          <a:ln/>
        </p:spPr>
        <p:txBody>
          <a:bodyPr wrap="square" lIns="0" tIns="0" rIns="0" bIns="0" rtlCol="0" anchor="ctr"/>
          <a:lstStyle/>
          <a:p>
            <a:pPr algn="ctr" indent="0" marL="0">
              <a:buNone/>
            </a:pPr>
            <a:r>
              <a:rPr lang="en-US" sz="2800" b="1" dirty="0">
                <a:solidFill>
                  <a:srgbClr val="F0692B"/>
                </a:solidFill>
                <a:latin typeface="Cambria" pitchFamily="34" charset="0"/>
                <a:ea typeface="Cambria" pitchFamily="34" charset="-122"/>
                <a:cs typeface="Cambria" pitchFamily="34" charset="-120"/>
              </a:rPr>
              <a:t>69 → 33위</a:t>
            </a:r>
            <a:endParaRPr lang="en-US" sz="2800" dirty="0"/>
          </a:p>
        </p:txBody>
      </p:sp>
      <p:sp>
        <p:nvSpPr>
          <p:cNvPr id="12" name="Text 10"/>
          <p:cNvSpPr/>
          <p:nvPr/>
        </p:nvSpPr>
        <p:spPr>
          <a:xfrm>
            <a:off x="4251960" y="2423160"/>
            <a:ext cx="3474720" cy="502920"/>
          </a:xfrm>
          <a:prstGeom prst="rect">
            <a:avLst/>
          </a:prstGeom>
          <a:noFill/>
          <a:ln/>
        </p:spPr>
        <p:txBody>
          <a:bodyPr wrap="square" lIns="0" tIns="0" rIns="0" bIns="0" rtlCol="0" anchor="ctr"/>
          <a:lstStyle/>
          <a:p>
            <a:pPr algn="ctr" indent="0" marL="0">
              <a:buNone/>
            </a:pPr>
            <a:r>
              <a:rPr lang="en-US" sz="1100" dirty="0">
                <a:solidFill>
                  <a:srgbClr val="6B6F80"/>
                </a:solidFill>
                <a:latin typeface="Calibri" pitchFamily="34" charset="0"/>
                <a:ea typeface="Calibri" pitchFamily="34" charset="-122"/>
                <a:cs typeface="Calibri" pitchFamily="34" charset="-120"/>
              </a:rPr>
              <a:t>이용자순위 (7/20 → 7/27)</a:t>
            </a:r>
            <a:endParaRPr lang="en-US" sz="1100" dirty="0"/>
          </a:p>
        </p:txBody>
      </p:sp>
      <p:sp>
        <p:nvSpPr>
          <p:cNvPr id="13" name="Shape 11"/>
          <p:cNvSpPr/>
          <p:nvPr/>
        </p:nvSpPr>
        <p:spPr>
          <a:xfrm>
            <a:off x="7955280" y="1600200"/>
            <a:ext cx="3474720" cy="1417320"/>
          </a:xfrm>
          <a:prstGeom prst="roundRect">
            <a:avLst>
              <a:gd name="adj" fmla="val 4516"/>
            </a:avLst>
          </a:prstGeom>
          <a:solidFill>
            <a:srgbClr val="FAFAFB"/>
          </a:solidFill>
          <a:ln w="12700">
            <a:solidFill>
              <a:srgbClr val="EBEBF0"/>
            </a:solidFill>
            <a:prstDash val="solid"/>
          </a:ln>
        </p:spPr>
      </p:sp>
      <p:sp>
        <p:nvSpPr>
          <p:cNvPr id="14" name="Text 12"/>
          <p:cNvSpPr/>
          <p:nvPr/>
        </p:nvSpPr>
        <p:spPr>
          <a:xfrm>
            <a:off x="7955280" y="1737360"/>
            <a:ext cx="3474720" cy="685800"/>
          </a:xfrm>
          <a:prstGeom prst="rect">
            <a:avLst/>
          </a:prstGeom>
          <a:noFill/>
          <a:ln/>
        </p:spPr>
        <p:txBody>
          <a:bodyPr wrap="square" lIns="0" tIns="0" rIns="0" bIns="0" rtlCol="0" anchor="ctr"/>
          <a:lstStyle/>
          <a:p>
            <a:pPr algn="ctr" indent="0" marL="0">
              <a:buNone/>
            </a:pPr>
            <a:r>
              <a:rPr lang="en-US" sz="2800" b="1" dirty="0">
                <a:solidFill>
                  <a:srgbClr val="E8B84B"/>
                </a:solidFill>
                <a:latin typeface="Cambria" pitchFamily="34" charset="0"/>
                <a:ea typeface="Cambria" pitchFamily="34" charset="-122"/>
                <a:cs typeface="Cambria" pitchFamily="34" charset="-120"/>
              </a:rPr>
              <a:t>+29.4%</a:t>
            </a:r>
            <a:endParaRPr lang="en-US" sz="2800" dirty="0"/>
          </a:p>
        </p:txBody>
      </p:sp>
      <p:sp>
        <p:nvSpPr>
          <p:cNvPr id="15" name="Text 13"/>
          <p:cNvSpPr/>
          <p:nvPr/>
        </p:nvSpPr>
        <p:spPr>
          <a:xfrm>
            <a:off x="7955280" y="2423160"/>
            <a:ext cx="3474720" cy="502920"/>
          </a:xfrm>
          <a:prstGeom prst="rect">
            <a:avLst/>
          </a:prstGeom>
          <a:noFill/>
          <a:ln/>
        </p:spPr>
        <p:txBody>
          <a:bodyPr wrap="square" lIns="0" tIns="0" rIns="0" bIns="0" rtlCol="0" anchor="ctr"/>
          <a:lstStyle/>
          <a:p>
            <a:pPr algn="ctr" indent="0" marL="0">
              <a:buNone/>
            </a:pPr>
            <a:r>
              <a:rPr lang="en-US" sz="1100" dirty="0">
                <a:solidFill>
                  <a:srgbClr val="6B6F80"/>
                </a:solidFill>
                <a:latin typeface="Calibri" pitchFamily="34" charset="0"/>
                <a:ea typeface="Calibri" pitchFamily="34" charset="-122"/>
                <a:cs typeface="Calibri" pitchFamily="34" charset="-120"/>
              </a:rPr>
              <a:t>광고선전비 YoY (넥슨코리아 별도)</a:t>
            </a:r>
            <a:endParaRPr lang="en-US" sz="1100" dirty="0"/>
          </a:p>
        </p:txBody>
      </p:sp>
      <p:sp>
        <p:nvSpPr>
          <p:cNvPr id="16" name="Shape 14"/>
          <p:cNvSpPr/>
          <p:nvPr/>
        </p:nvSpPr>
        <p:spPr>
          <a:xfrm>
            <a:off x="548640" y="3246120"/>
            <a:ext cx="5394960" cy="2971800"/>
          </a:xfrm>
          <a:prstGeom prst="roundRect">
            <a:avLst>
              <a:gd name="adj" fmla="val 2154"/>
            </a:avLst>
          </a:prstGeom>
          <a:solidFill>
            <a:srgbClr val="FFF3EC"/>
          </a:solidFill>
          <a:ln w="12700">
            <a:solidFill>
              <a:srgbClr val="F6D9C6"/>
            </a:solidFill>
            <a:prstDash val="solid"/>
          </a:ln>
        </p:spPr>
      </p:sp>
      <p:sp>
        <p:nvSpPr>
          <p:cNvPr id="17" name="Text 15"/>
          <p:cNvSpPr/>
          <p:nvPr/>
        </p:nvSpPr>
        <p:spPr>
          <a:xfrm>
            <a:off x="822960" y="3429000"/>
            <a:ext cx="4846320" cy="320040"/>
          </a:xfrm>
          <a:prstGeom prst="rect">
            <a:avLst/>
          </a:prstGeom>
          <a:noFill/>
          <a:ln/>
        </p:spPr>
        <p:txBody>
          <a:bodyPr wrap="square" lIns="0" tIns="0" rIns="0" bIns="0" rtlCol="0" anchor="ctr"/>
          <a:lstStyle/>
          <a:p>
            <a:pPr indent="0" marL="0">
              <a:buNone/>
            </a:pPr>
            <a:r>
              <a:rPr lang="en-US" sz="1300" b="1" dirty="0">
                <a:solidFill>
                  <a:srgbClr val="F0692B"/>
                </a:solidFill>
                <a:latin typeface="Calibri" pitchFamily="34" charset="0"/>
                <a:ea typeface="Calibri" pitchFamily="34" charset="-122"/>
                <a:cs typeface="Calibri" pitchFamily="34" charset="-120"/>
              </a:rPr>
              <a:t>무엇이 통했나</a:t>
            </a:r>
            <a:endParaRPr lang="en-US" sz="1300" dirty="0"/>
          </a:p>
        </p:txBody>
      </p:sp>
      <p:sp>
        <p:nvSpPr>
          <p:cNvPr id="18" name="Text 16"/>
          <p:cNvSpPr/>
          <p:nvPr/>
        </p:nvSpPr>
        <p:spPr>
          <a:xfrm>
            <a:off x="822960" y="3794760"/>
            <a:ext cx="4846320" cy="2286000"/>
          </a:xfrm>
          <a:prstGeom prst="rect">
            <a:avLst/>
          </a:prstGeom>
          <a:noFill/>
          <a:ln/>
        </p:spPr>
        <p:txBody>
          <a:bodyPr wrap="square" lIns="0" tIns="0" rIns="0" bIns="0" rtlCol="0" anchor="ctr"/>
          <a:lstStyle/>
          <a:p>
            <a:pPr marL="177800" indent="-177800">
              <a:lnSpc>
                <a:spcPct val="130000"/>
              </a:lnSpc>
              <a:buSzPct val="100000"/>
              <a:buChar char="•"/>
            </a:pPr>
            <a:r>
              <a:rPr lang="en-US" sz="1150" dirty="0">
                <a:solidFill>
                  <a:srgbClr val="5A3B26"/>
                </a:solidFill>
                <a:latin typeface="Calibri" pitchFamily="34" charset="0"/>
                <a:ea typeface="Calibri" pitchFamily="34" charset="-122"/>
                <a:cs typeface="Calibri" pitchFamily="34" charset="-120"/>
              </a:rPr>
              <a:t>신규 캐릭터·시즌서버·신규지역을 7/31 한 시점에 몰아 배치</a:t>
            </a:r>
            <a:endParaRPr lang="en-US" sz="1150" dirty="0"/>
          </a:p>
          <a:p>
            <a:pPr marL="177800" indent="-177800">
              <a:lnSpc>
                <a:spcPct val="130000"/>
              </a:lnSpc>
              <a:buSzPct val="100000"/>
              <a:buChar char="•"/>
            </a:pPr>
            <a:r>
              <a:rPr lang="en-US" sz="1150" dirty="0">
                <a:solidFill>
                  <a:srgbClr val="5A3B26"/>
                </a:solidFill>
                <a:latin typeface="Calibri" pitchFamily="34" charset="0"/>
                <a:ea typeface="Calibri" pitchFamily="34" charset="-122"/>
                <a:cs typeface="Calibri" pitchFamily="34" charset="-120"/>
              </a:rPr>
              <a:t>업데이트 직후 6채널 풀세팅 UA(FB·IG·오디언스네트워크·메신저·왓츠앱·스레드)</a:t>
            </a:r>
            <a:endParaRPr lang="en-US" sz="1150" dirty="0"/>
          </a:p>
          <a:p>
            <a:pPr marL="177800" indent="-177800">
              <a:lnSpc>
                <a:spcPct val="130000"/>
              </a:lnSpc>
              <a:buSzPct val="100000"/>
              <a:buChar char="•"/>
            </a:pPr>
            <a:r>
              <a:rPr lang="en-US" sz="1150" dirty="0">
                <a:solidFill>
                  <a:srgbClr val="5A3B26"/>
                </a:solidFill>
                <a:latin typeface="Calibri" pitchFamily="34" charset="0"/>
                <a:ea typeface="Calibri" pitchFamily="34" charset="-122"/>
                <a:cs typeface="Calibri" pitchFamily="34" charset="-120"/>
              </a:rPr>
              <a:t>결과적으로 4사 중 가장 가파른 순위 반등폭</a:t>
            </a:r>
            <a:endParaRPr lang="en-US" sz="1150" dirty="0"/>
          </a:p>
        </p:txBody>
      </p:sp>
      <p:sp>
        <p:nvSpPr>
          <p:cNvPr id="19" name="Shape 17"/>
          <p:cNvSpPr/>
          <p:nvPr/>
        </p:nvSpPr>
        <p:spPr>
          <a:xfrm>
            <a:off x="6172200" y="3246120"/>
            <a:ext cx="5468112" cy="2971800"/>
          </a:xfrm>
          <a:prstGeom prst="roundRect">
            <a:avLst>
              <a:gd name="adj" fmla="val 2154"/>
            </a:avLst>
          </a:prstGeom>
          <a:solidFill>
            <a:srgbClr val="F5F0FA"/>
          </a:solidFill>
          <a:ln w="12700">
            <a:solidFill>
              <a:srgbClr val="E3D6F0"/>
            </a:solidFill>
            <a:prstDash val="solid"/>
          </a:ln>
        </p:spPr>
      </p:sp>
      <p:sp>
        <p:nvSpPr>
          <p:cNvPr id="20" name="Text 18"/>
          <p:cNvSpPr/>
          <p:nvPr/>
        </p:nvSpPr>
        <p:spPr>
          <a:xfrm>
            <a:off x="6446520" y="3429000"/>
            <a:ext cx="4846320" cy="320040"/>
          </a:xfrm>
          <a:prstGeom prst="rect">
            <a:avLst/>
          </a:prstGeom>
          <a:noFill/>
          <a:ln/>
        </p:spPr>
        <p:txBody>
          <a:bodyPr wrap="square" lIns="0" tIns="0" rIns="0" bIns="0" rtlCol="0" anchor="ctr"/>
          <a:lstStyle/>
          <a:p>
            <a:pPr indent="0" marL="0">
              <a:buNone/>
            </a:pPr>
            <a:r>
              <a:rPr lang="en-US" sz="1300" b="1" dirty="0">
                <a:solidFill>
                  <a:srgbClr val="6B4FA0"/>
                </a:solidFill>
                <a:latin typeface="Calibri" pitchFamily="34" charset="0"/>
                <a:ea typeface="Calibri" pitchFamily="34" charset="-122"/>
                <a:cs typeface="Calibri" pitchFamily="34" charset="-120"/>
              </a:rPr>
              <a:t>남은 리스크</a:t>
            </a:r>
            <a:endParaRPr lang="en-US" sz="1300" dirty="0"/>
          </a:p>
        </p:txBody>
      </p:sp>
      <p:sp>
        <p:nvSpPr>
          <p:cNvPr id="21" name="Text 19"/>
          <p:cNvSpPr/>
          <p:nvPr/>
        </p:nvSpPr>
        <p:spPr>
          <a:xfrm>
            <a:off x="6446520" y="3794760"/>
            <a:ext cx="4846320" cy="2286000"/>
          </a:xfrm>
          <a:prstGeom prst="rect">
            <a:avLst/>
          </a:prstGeom>
          <a:noFill/>
          <a:ln/>
        </p:spPr>
        <p:txBody>
          <a:bodyPr wrap="square" lIns="0" tIns="0" rIns="0" bIns="0" rtlCol="0" anchor="ctr"/>
          <a:lstStyle/>
          <a:p>
            <a:pPr marL="177800" indent="-177800">
              <a:lnSpc>
                <a:spcPct val="130000"/>
              </a:lnSpc>
              <a:buSzPct val="100000"/>
              <a:buChar char="•"/>
            </a:pPr>
            <a:r>
              <a:rPr lang="en-US" sz="1150" dirty="0">
                <a:solidFill>
                  <a:srgbClr val="3D3050"/>
                </a:solidFill>
                <a:latin typeface="Calibri" pitchFamily="34" charset="0"/>
                <a:ea typeface="Calibri" pitchFamily="34" charset="-122"/>
                <a:cs typeface="Calibri" pitchFamily="34" charset="-120"/>
              </a:rPr>
              <a:t>8월 현재 '신규 대형업데이트 없음' — 8/3→8/10 순위 21→29위로 재하락 시작</a:t>
            </a:r>
            <a:endParaRPr lang="en-US" sz="1150" dirty="0"/>
          </a:p>
          <a:p>
            <a:pPr marL="177800" indent="-177800">
              <a:lnSpc>
                <a:spcPct val="130000"/>
              </a:lnSpc>
              <a:buSzPct val="100000"/>
              <a:buChar char="•"/>
            </a:pPr>
            <a:r>
              <a:rPr lang="en-US" sz="1150" dirty="0">
                <a:solidFill>
                  <a:srgbClr val="3D3050"/>
                </a:solidFill>
                <a:latin typeface="Calibri" pitchFamily="34" charset="0"/>
                <a:ea typeface="Calibri" pitchFamily="34" charset="-122"/>
                <a:cs typeface="Calibri" pitchFamily="34" charset="-120"/>
              </a:rPr>
              <a:t>광고비는 늘었지만(+29.4%) 이는 회사 전체 기준 — 콘텐츠 없이 지출만으로는 방어 한계</a:t>
            </a:r>
            <a:endParaRPr lang="en-US" sz="1150" dirty="0"/>
          </a:p>
          <a:p>
            <a:pPr marL="177800" indent="-177800">
              <a:lnSpc>
                <a:spcPct val="130000"/>
              </a:lnSpc>
              <a:buSzPct val="100000"/>
              <a:buChar char="•"/>
            </a:pPr>
            <a:r>
              <a:rPr lang="en-US" sz="1150" dirty="0">
                <a:solidFill>
                  <a:srgbClr val="3D3050"/>
                </a:solidFill>
                <a:latin typeface="Calibri" pitchFamily="34" charset="0"/>
                <a:ea typeface="Calibri" pitchFamily="34" charset="-122"/>
                <a:cs typeface="Calibri" pitchFamily="34" charset="-120"/>
              </a:rPr>
              <a:t>메타 단일 채널 UA 집중 — 아이온2식 채널 다각화 여지가 낮음</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lIns="0" tIns="0" rIns="0" bIns="0" rtlCol="0" anchor="ctr"/>
          <a:lstStyle/>
          <a:p>
            <a:pPr indent="0" marL="0">
              <a:buNone/>
            </a:pPr>
            <a:r>
              <a:rPr lang="en-US" sz="1250" b="1" spc="200" kern="0" dirty="0">
                <a:solidFill>
                  <a:srgbClr val="F0692B"/>
                </a:solidFill>
                <a:latin typeface="Calibri" pitchFamily="34" charset="0"/>
                <a:ea typeface="Calibri" pitchFamily="34" charset="-122"/>
                <a:cs typeface="Calibri" pitchFamily="34" charset="-120"/>
              </a:rPr>
              <a:t>04 · CASE DEEP-DIVE</a:t>
            </a:r>
            <a:endParaRPr lang="en-US" sz="1250" dirty="0"/>
          </a:p>
        </p:txBody>
      </p:sp>
      <p:sp>
        <p:nvSpPr>
          <p:cNvPr id="3" name="Text 1"/>
          <p:cNvSpPr/>
          <p:nvPr/>
        </p:nvSpPr>
        <p:spPr>
          <a:xfrm>
            <a:off x="548640" y="749808"/>
            <a:ext cx="8869680" cy="640080"/>
          </a:xfrm>
          <a:prstGeom prst="rect">
            <a:avLst/>
          </a:prstGeom>
          <a:noFill/>
          <a:ln/>
        </p:spPr>
        <p:txBody>
          <a:bodyPr wrap="square" lIns="0" tIns="0" rIns="0" bIns="0" rtlCol="0" anchor="ctr"/>
          <a:lstStyle/>
          <a:p>
            <a:pPr indent="0" marL="0">
              <a:buNone/>
            </a:pPr>
            <a:r>
              <a:rPr lang="en-US" sz="2800" b="1" dirty="0">
                <a:solidFill>
                  <a:srgbClr val="1C1E29"/>
                </a:solidFill>
                <a:latin typeface="Cambria" pitchFamily="34" charset="0"/>
                <a:ea typeface="Cambria" pitchFamily="34" charset="-122"/>
                <a:cs typeface="Cambria" pitchFamily="34" charset="-120"/>
              </a:rPr>
              <a:t>마비노기모바일 — 콘텐츠 공백이 재무제표에 남긴 흔적</a:t>
            </a:r>
            <a:endParaRPr lang="en-US" sz="2800" dirty="0"/>
          </a:p>
        </p:txBody>
      </p:sp>
      <p:sp>
        <p:nvSpPr>
          <p:cNvPr id="4" name="Shape 2"/>
          <p:cNvSpPr/>
          <p:nvPr/>
        </p:nvSpPr>
        <p:spPr>
          <a:xfrm>
            <a:off x="9646920" y="475488"/>
            <a:ext cx="1965960" cy="365760"/>
          </a:xfrm>
          <a:prstGeom prst="roundRect">
            <a:avLst>
              <a:gd name="adj" fmla="val 15000"/>
            </a:avLst>
          </a:prstGeom>
          <a:solidFill>
            <a:srgbClr val="F2F2F5"/>
          </a:solidFill>
          <a:ln/>
        </p:spPr>
      </p:sp>
      <p:sp>
        <p:nvSpPr>
          <p:cNvPr id="5" name="Text 3"/>
          <p:cNvSpPr/>
          <p:nvPr/>
        </p:nvSpPr>
        <p:spPr>
          <a:xfrm>
            <a:off x="9646920" y="475488"/>
            <a:ext cx="1965960" cy="365760"/>
          </a:xfrm>
          <a:prstGeom prst="rect">
            <a:avLst/>
          </a:prstGeom>
          <a:noFill/>
          <a:ln/>
        </p:spPr>
        <p:txBody>
          <a:bodyPr wrap="square" lIns="0" tIns="0" rIns="0" bIns="0" rtlCol="0" anchor="ctr"/>
          <a:lstStyle/>
          <a:p>
            <a:pPr algn="ctr" indent="0" marL="0">
              <a:buNone/>
            </a:pPr>
            <a:r>
              <a:rPr lang="en-US" sz="1050" b="1" dirty="0">
                <a:solidFill>
                  <a:srgbClr val="6B6F80"/>
                </a:solidFill>
                <a:latin typeface="Calibri" pitchFamily="34" charset="0"/>
                <a:ea typeface="Calibri" pitchFamily="34" charset="-122"/>
                <a:cs typeface="Calibri" pitchFamily="34" charset="-120"/>
              </a:rPr>
              <a:t>TILE · 09</a:t>
            </a:r>
            <a:endParaRPr lang="en-US" sz="1050" dirty="0"/>
          </a:p>
        </p:txBody>
      </p:sp>
      <p:sp>
        <p:nvSpPr>
          <p:cNvPr id="6" name="Text 4"/>
          <p:cNvSpPr/>
          <p:nvPr/>
        </p:nvSpPr>
        <p:spPr>
          <a:xfrm>
            <a:off x="548640" y="6400800"/>
            <a:ext cx="10332720" cy="274320"/>
          </a:xfrm>
          <a:prstGeom prst="rect">
            <a:avLst/>
          </a:prstGeom>
          <a:noFill/>
          <a:ln/>
        </p:spPr>
        <p:txBody>
          <a:bodyPr wrap="square" lIns="0" tIns="0" rIns="0" bIns="0" rtlCol="0" anchor="ctr"/>
          <a:lstStyle/>
          <a:p>
            <a:pPr indent="0" marL="0">
              <a:buNone/>
            </a:pPr>
            <a:r>
              <a:rPr lang="en-US" sz="900" dirty="0">
                <a:solidFill>
                  <a:srgbClr val="9A9DAC"/>
                </a:solidFill>
                <a:latin typeface="Calibri" pitchFamily="34" charset="0"/>
                <a:ea typeface="Calibri" pitchFamily="34" charset="-122"/>
                <a:cs typeface="Calibri" pitchFamily="34" charset="-120"/>
              </a:rPr>
              <a:t>출처: 넥슨게임즈(마비노기모바일 개발사) FY2025 별도 재무자료, 4사 이벤트 타임라인 비교 보고서</a:t>
            </a:r>
            <a:endParaRPr lang="en-US" sz="900" dirty="0"/>
          </a:p>
        </p:txBody>
      </p:sp>
      <p:sp>
        <p:nvSpPr>
          <p:cNvPr id="7" name="Text 5"/>
          <p:cNvSpPr/>
          <p:nvPr/>
        </p:nvSpPr>
        <p:spPr>
          <a:xfrm>
            <a:off x="11365992" y="6446520"/>
            <a:ext cx="548640" cy="274320"/>
          </a:xfrm>
          <a:prstGeom prst="rect">
            <a:avLst/>
          </a:prstGeom>
          <a:noFill/>
          <a:ln/>
        </p:spPr>
        <p:txBody>
          <a:bodyPr wrap="square" lIns="0" tIns="0" rIns="0" bIns="0" rtlCol="0" anchor="ctr"/>
          <a:lstStyle/>
          <a:p>
            <a:pPr algn="r" indent="0" marL="0">
              <a:buNone/>
            </a:pPr>
            <a:r>
              <a:rPr lang="en-US" sz="900" dirty="0">
                <a:solidFill>
                  <a:srgbClr val="A8ABB8"/>
                </a:solidFill>
                <a:latin typeface="Calibri" pitchFamily="34" charset="0"/>
                <a:ea typeface="Calibri" pitchFamily="34" charset="-122"/>
                <a:cs typeface="Calibri" pitchFamily="34" charset="-120"/>
              </a:rPr>
              <a:t>20</a:t>
            </a:r>
            <a:endParaRPr lang="en-US" sz="900" dirty="0"/>
          </a:p>
        </p:txBody>
      </p:sp>
      <p:sp>
        <p:nvSpPr>
          <p:cNvPr id="8" name="Shape 6"/>
          <p:cNvSpPr/>
          <p:nvPr/>
        </p:nvSpPr>
        <p:spPr>
          <a:xfrm>
            <a:off x="548640" y="1691640"/>
            <a:ext cx="3429000" cy="1325880"/>
          </a:xfrm>
          <a:prstGeom prst="roundRect">
            <a:avLst>
              <a:gd name="adj" fmla="val 4828"/>
            </a:avLst>
          </a:prstGeom>
          <a:solidFill>
            <a:srgbClr val="EAF7F4"/>
          </a:solidFill>
          <a:ln/>
        </p:spPr>
      </p:sp>
      <p:sp>
        <p:nvSpPr>
          <p:cNvPr id="9" name="Text 7"/>
          <p:cNvSpPr/>
          <p:nvPr/>
        </p:nvSpPr>
        <p:spPr>
          <a:xfrm>
            <a:off x="777240" y="1801368"/>
            <a:ext cx="2971800" cy="292608"/>
          </a:xfrm>
          <a:prstGeom prst="rect">
            <a:avLst/>
          </a:prstGeom>
          <a:noFill/>
          <a:ln/>
        </p:spPr>
        <p:txBody>
          <a:bodyPr wrap="square" lIns="0" tIns="0" rIns="0" bIns="0" rtlCol="0" anchor="ctr"/>
          <a:lstStyle/>
          <a:p>
            <a:pPr indent="0" marL="0">
              <a:buNone/>
            </a:pPr>
            <a:r>
              <a:rPr lang="en-US" sz="1150" b="1" dirty="0">
                <a:solidFill>
                  <a:srgbClr val="2FA89A"/>
                </a:solidFill>
                <a:latin typeface="Calibri" pitchFamily="34" charset="0"/>
                <a:ea typeface="Calibri" pitchFamily="34" charset="-122"/>
                <a:cs typeface="Calibri" pitchFamily="34" charset="-120"/>
              </a:rPr>
              <a:t>3월</a:t>
            </a:r>
            <a:endParaRPr lang="en-US" sz="1150" dirty="0"/>
          </a:p>
        </p:txBody>
      </p:sp>
      <p:sp>
        <p:nvSpPr>
          <p:cNvPr id="10" name="Text 8"/>
          <p:cNvSpPr/>
          <p:nvPr/>
        </p:nvSpPr>
        <p:spPr>
          <a:xfrm>
            <a:off x="777240" y="2112264"/>
            <a:ext cx="2971800" cy="822960"/>
          </a:xfrm>
          <a:prstGeom prst="rect">
            <a:avLst/>
          </a:prstGeom>
          <a:noFill/>
          <a:ln/>
        </p:spPr>
        <p:txBody>
          <a:bodyPr wrap="square" lIns="0" tIns="0" rIns="0" bIns="0" rtlCol="0" anchor="ctr"/>
          <a:lstStyle/>
          <a:p>
            <a:pPr indent="0" marL="0">
              <a:lnSpc>
                <a:spcPct val="120000"/>
              </a:lnSpc>
              <a:buNone/>
            </a:pPr>
            <a:r>
              <a:rPr lang="en-US" sz="1200" dirty="0">
                <a:solidFill>
                  <a:srgbClr val="3A3D4A"/>
                </a:solidFill>
                <a:latin typeface="Calibri" pitchFamily="34" charset="0"/>
                <a:ea typeface="Calibri" pitchFamily="34" charset="-122"/>
                <a:cs typeface="Calibri" pitchFamily="34" charset="-120"/>
              </a:rPr>
              <a:t>1주년 업데이트</a:t>
            </a:r>
            <a:endParaRPr lang="en-US" sz="1200" dirty="0"/>
          </a:p>
          <a:p>
            <a:pPr indent="0" marL="0">
              <a:lnSpc>
                <a:spcPct val="120000"/>
              </a:lnSpc>
              <a:buNone/>
            </a:pPr>
            <a:r>
              <a:rPr lang="en-US" sz="1200" dirty="0">
                <a:solidFill>
                  <a:srgbClr val="3A3D4A"/>
                </a:solidFill>
                <a:latin typeface="Calibri" pitchFamily="34" charset="0"/>
                <a:ea typeface="Calibri" pitchFamily="34" charset="-122"/>
                <a:cs typeface="Calibri" pitchFamily="34" charset="-120"/>
              </a:rPr>
              <a:t>매출TOP10 재진입</a:t>
            </a:r>
            <a:endParaRPr lang="en-US" sz="1200" dirty="0"/>
          </a:p>
        </p:txBody>
      </p:sp>
      <p:sp>
        <p:nvSpPr>
          <p:cNvPr id="11" name="Shape 9"/>
          <p:cNvSpPr/>
          <p:nvPr/>
        </p:nvSpPr>
        <p:spPr>
          <a:xfrm>
            <a:off x="4114800" y="1691640"/>
            <a:ext cx="3429000" cy="1325880"/>
          </a:xfrm>
          <a:prstGeom prst="roundRect">
            <a:avLst>
              <a:gd name="adj" fmla="val 4828"/>
            </a:avLst>
          </a:prstGeom>
          <a:solidFill>
            <a:srgbClr val="FBEAEC"/>
          </a:solidFill>
          <a:ln/>
        </p:spPr>
      </p:sp>
      <p:sp>
        <p:nvSpPr>
          <p:cNvPr id="12" name="Text 10"/>
          <p:cNvSpPr/>
          <p:nvPr/>
        </p:nvSpPr>
        <p:spPr>
          <a:xfrm>
            <a:off x="4343400" y="1801368"/>
            <a:ext cx="2971800" cy="292608"/>
          </a:xfrm>
          <a:prstGeom prst="rect">
            <a:avLst/>
          </a:prstGeom>
          <a:noFill/>
          <a:ln/>
        </p:spPr>
        <p:txBody>
          <a:bodyPr wrap="square" lIns="0" tIns="0" rIns="0" bIns="0" rtlCol="0" anchor="ctr"/>
          <a:lstStyle/>
          <a:p>
            <a:pPr indent="0" marL="0">
              <a:buNone/>
            </a:pPr>
            <a:r>
              <a:rPr lang="en-US" sz="1150" b="1" dirty="0">
                <a:solidFill>
                  <a:srgbClr val="8B2635"/>
                </a:solidFill>
                <a:latin typeface="Calibri" pitchFamily="34" charset="0"/>
                <a:ea typeface="Calibri" pitchFamily="34" charset="-122"/>
                <a:cs typeface="Calibri" pitchFamily="34" charset="-120"/>
              </a:rPr>
              <a:t>4월~5월</a:t>
            </a:r>
            <a:endParaRPr lang="en-US" sz="1150" dirty="0"/>
          </a:p>
        </p:txBody>
      </p:sp>
      <p:sp>
        <p:nvSpPr>
          <p:cNvPr id="13" name="Text 11"/>
          <p:cNvSpPr/>
          <p:nvPr/>
        </p:nvSpPr>
        <p:spPr>
          <a:xfrm>
            <a:off x="4343400" y="2112264"/>
            <a:ext cx="2971800" cy="822960"/>
          </a:xfrm>
          <a:prstGeom prst="rect">
            <a:avLst/>
          </a:prstGeom>
          <a:noFill/>
          <a:ln/>
        </p:spPr>
        <p:txBody>
          <a:bodyPr wrap="square" lIns="0" tIns="0" rIns="0" bIns="0" rtlCol="0" anchor="ctr"/>
          <a:lstStyle/>
          <a:p>
            <a:pPr indent="0" marL="0">
              <a:lnSpc>
                <a:spcPct val="120000"/>
              </a:lnSpc>
              <a:buNone/>
            </a:pPr>
            <a:r>
              <a:rPr lang="en-US" sz="1200" dirty="0">
                <a:solidFill>
                  <a:srgbClr val="3A3D4A"/>
                </a:solidFill>
                <a:latin typeface="Calibri" pitchFamily="34" charset="0"/>
                <a:ea typeface="Calibri" pitchFamily="34" charset="-122"/>
                <a:cs typeface="Calibri" pitchFamily="34" charset="-120"/>
              </a:rPr>
              <a:t>대형 업데이트 공백</a:t>
            </a:r>
            <a:endParaRPr lang="en-US" sz="1200" dirty="0"/>
          </a:p>
          <a:p>
            <a:pPr indent="0" marL="0">
              <a:lnSpc>
                <a:spcPct val="120000"/>
              </a:lnSpc>
              <a:buNone/>
            </a:pPr>
            <a:r>
              <a:rPr lang="en-US" sz="1200" dirty="0">
                <a:solidFill>
                  <a:srgbClr val="3A3D4A"/>
                </a:solidFill>
                <a:latin typeface="Calibri" pitchFamily="34" charset="0"/>
                <a:ea typeface="Calibri" pitchFamily="34" charset="-122"/>
                <a:cs typeface="Calibri" pitchFamily="34" charset="-120"/>
              </a:rPr>
              <a:t>유저 급감·TOP10 이탈</a:t>
            </a:r>
            <a:endParaRPr lang="en-US" sz="1200" dirty="0"/>
          </a:p>
        </p:txBody>
      </p:sp>
      <p:sp>
        <p:nvSpPr>
          <p:cNvPr id="14" name="Shape 12"/>
          <p:cNvSpPr/>
          <p:nvPr/>
        </p:nvSpPr>
        <p:spPr>
          <a:xfrm>
            <a:off x="7680960" y="1691640"/>
            <a:ext cx="3429000" cy="1325880"/>
          </a:xfrm>
          <a:prstGeom prst="roundRect">
            <a:avLst>
              <a:gd name="adj" fmla="val 4828"/>
            </a:avLst>
          </a:prstGeom>
          <a:solidFill>
            <a:srgbClr val="EAF7F4"/>
          </a:solidFill>
          <a:ln/>
        </p:spPr>
      </p:sp>
      <p:sp>
        <p:nvSpPr>
          <p:cNvPr id="15" name="Text 13"/>
          <p:cNvSpPr/>
          <p:nvPr/>
        </p:nvSpPr>
        <p:spPr>
          <a:xfrm>
            <a:off x="7909560" y="1801368"/>
            <a:ext cx="2971800" cy="292608"/>
          </a:xfrm>
          <a:prstGeom prst="rect">
            <a:avLst/>
          </a:prstGeom>
          <a:noFill/>
          <a:ln/>
        </p:spPr>
        <p:txBody>
          <a:bodyPr wrap="square" lIns="0" tIns="0" rIns="0" bIns="0" rtlCol="0" anchor="ctr"/>
          <a:lstStyle/>
          <a:p>
            <a:pPr indent="0" marL="0">
              <a:buNone/>
            </a:pPr>
            <a:r>
              <a:rPr lang="en-US" sz="1150" b="1" dirty="0">
                <a:solidFill>
                  <a:srgbClr val="2FA89A"/>
                </a:solidFill>
                <a:latin typeface="Calibri" pitchFamily="34" charset="0"/>
                <a:ea typeface="Calibri" pitchFamily="34" charset="-122"/>
                <a:cs typeface="Calibri" pitchFamily="34" charset="-120"/>
              </a:rPr>
              <a:t>6월</a:t>
            </a:r>
            <a:endParaRPr lang="en-US" sz="1150" dirty="0"/>
          </a:p>
        </p:txBody>
      </p:sp>
      <p:sp>
        <p:nvSpPr>
          <p:cNvPr id="16" name="Text 14"/>
          <p:cNvSpPr/>
          <p:nvPr/>
        </p:nvSpPr>
        <p:spPr>
          <a:xfrm>
            <a:off x="7909560" y="2112264"/>
            <a:ext cx="2971800" cy="822960"/>
          </a:xfrm>
          <a:prstGeom prst="rect">
            <a:avLst/>
          </a:prstGeom>
          <a:noFill/>
          <a:ln/>
        </p:spPr>
        <p:txBody>
          <a:bodyPr wrap="square" lIns="0" tIns="0" rIns="0" bIns="0" rtlCol="0" anchor="ctr"/>
          <a:lstStyle/>
          <a:p>
            <a:pPr indent="0" marL="0">
              <a:lnSpc>
                <a:spcPct val="120000"/>
              </a:lnSpc>
              <a:buNone/>
            </a:pPr>
            <a:r>
              <a:rPr lang="en-US" sz="1200" dirty="0">
                <a:solidFill>
                  <a:srgbClr val="3A3D4A"/>
                </a:solidFill>
                <a:latin typeface="Calibri" pitchFamily="34" charset="0"/>
                <a:ea typeface="Calibri" pitchFamily="34" charset="-122"/>
                <a:cs typeface="Calibri" pitchFamily="34" charset="-120"/>
              </a:rPr>
              <a:t>시즌2 '빛과 어둠'</a:t>
            </a:r>
            <a:endParaRPr lang="en-US" sz="1200" dirty="0"/>
          </a:p>
          <a:p>
            <a:pPr indent="0" marL="0">
              <a:lnSpc>
                <a:spcPct val="120000"/>
              </a:lnSpc>
              <a:buNone/>
            </a:pPr>
            <a:r>
              <a:rPr lang="en-US" sz="1200" dirty="0">
                <a:solidFill>
                  <a:srgbClr val="3A3D4A"/>
                </a:solidFill>
                <a:latin typeface="Calibri" pitchFamily="34" charset="0"/>
                <a:ea typeface="Calibri" pitchFamily="34" charset="-122"/>
                <a:cs typeface="Calibri" pitchFamily="34" charset="-120"/>
              </a:rPr>
              <a:t>매출순위 7위 재기록</a:t>
            </a:r>
            <a:endParaRPr lang="en-US" sz="1200" dirty="0"/>
          </a:p>
        </p:txBody>
      </p:sp>
      <p:sp>
        <p:nvSpPr>
          <p:cNvPr id="17" name="Text 15"/>
          <p:cNvSpPr/>
          <p:nvPr/>
        </p:nvSpPr>
        <p:spPr>
          <a:xfrm>
            <a:off x="548640" y="3246120"/>
            <a:ext cx="7315200" cy="320040"/>
          </a:xfrm>
          <a:prstGeom prst="rect">
            <a:avLst/>
          </a:prstGeom>
          <a:noFill/>
          <a:ln/>
        </p:spPr>
        <p:txBody>
          <a:bodyPr wrap="square" lIns="0" tIns="0" rIns="0" bIns="0" rtlCol="0" anchor="ctr"/>
          <a:lstStyle/>
          <a:p>
            <a:pPr indent="0" marL="0">
              <a:buNone/>
            </a:pPr>
            <a:r>
              <a:rPr lang="en-US" sz="1300" b="1" dirty="0">
                <a:solidFill>
                  <a:srgbClr val="1C1E29"/>
                </a:solidFill>
                <a:latin typeface="Calibri" pitchFamily="34" charset="0"/>
                <a:ea typeface="Calibri" pitchFamily="34" charset="-122"/>
                <a:cs typeface="Calibri" pitchFamily="34" charset="-120"/>
              </a:rPr>
              <a:t>넥슨게임즈(마비노기모바일 개발사) FY2025 재무 임팩트</a:t>
            </a:r>
            <a:endParaRPr lang="en-US" sz="1300" dirty="0"/>
          </a:p>
        </p:txBody>
      </p:sp>
      <p:sp>
        <p:nvSpPr>
          <p:cNvPr id="18" name="Shape 16"/>
          <p:cNvSpPr/>
          <p:nvPr/>
        </p:nvSpPr>
        <p:spPr>
          <a:xfrm>
            <a:off x="548640" y="3657600"/>
            <a:ext cx="3474720" cy="1783080"/>
          </a:xfrm>
          <a:prstGeom prst="roundRect">
            <a:avLst>
              <a:gd name="adj" fmla="val 3590"/>
            </a:avLst>
          </a:prstGeom>
          <a:solidFill>
            <a:srgbClr val="FAFAFB"/>
          </a:solidFill>
          <a:ln w="12700">
            <a:solidFill>
              <a:srgbClr val="EBEBF0"/>
            </a:solidFill>
            <a:prstDash val="solid"/>
          </a:ln>
        </p:spPr>
      </p:sp>
      <p:sp>
        <p:nvSpPr>
          <p:cNvPr id="19" name="Text 17"/>
          <p:cNvSpPr/>
          <p:nvPr/>
        </p:nvSpPr>
        <p:spPr>
          <a:xfrm>
            <a:off x="548640" y="3840480"/>
            <a:ext cx="3474720" cy="548640"/>
          </a:xfrm>
          <a:prstGeom prst="rect">
            <a:avLst/>
          </a:prstGeom>
          <a:noFill/>
          <a:ln/>
        </p:spPr>
        <p:txBody>
          <a:bodyPr wrap="square" lIns="0" tIns="0" rIns="0" bIns="0" rtlCol="0" anchor="ctr"/>
          <a:lstStyle/>
          <a:p>
            <a:pPr algn="ctr" indent="0" marL="0">
              <a:buNone/>
            </a:pPr>
            <a:r>
              <a:rPr lang="en-US" sz="2400" b="1" dirty="0">
                <a:solidFill>
                  <a:srgbClr val="8B2635"/>
                </a:solidFill>
                <a:latin typeface="Cambria" pitchFamily="34" charset="0"/>
                <a:ea typeface="Cambria" pitchFamily="34" charset="-122"/>
                <a:cs typeface="Cambria" pitchFamily="34" charset="-120"/>
              </a:rPr>
              <a:t>-30.8%</a:t>
            </a:r>
            <a:endParaRPr lang="en-US" sz="2400" dirty="0"/>
          </a:p>
        </p:txBody>
      </p:sp>
      <p:sp>
        <p:nvSpPr>
          <p:cNvPr id="20" name="Text 18"/>
          <p:cNvSpPr/>
          <p:nvPr/>
        </p:nvSpPr>
        <p:spPr>
          <a:xfrm>
            <a:off x="548640" y="4434840"/>
            <a:ext cx="3474720" cy="822960"/>
          </a:xfrm>
          <a:prstGeom prst="rect">
            <a:avLst/>
          </a:prstGeom>
          <a:noFill/>
          <a:ln/>
        </p:spPr>
        <p:txBody>
          <a:bodyPr wrap="square" lIns="0" tIns="0" rIns="0" bIns="0" rtlCol="0" anchor="ctr"/>
          <a:lstStyle/>
          <a:p>
            <a:pPr algn="ctr" indent="0" marL="0">
              <a:lnSpc>
                <a:spcPct val="125000"/>
              </a:lnSpc>
              <a:buNone/>
            </a:pPr>
            <a:r>
              <a:rPr lang="en-US" sz="1100" dirty="0">
                <a:solidFill>
                  <a:srgbClr val="6B6F80"/>
                </a:solidFill>
                <a:latin typeface="Calibri" pitchFamily="34" charset="0"/>
                <a:ea typeface="Calibri" pitchFamily="34" charset="-122"/>
                <a:cs typeface="Calibri" pitchFamily="34" charset="-120"/>
              </a:rPr>
              <a:t>매출액</a:t>
            </a:r>
            <a:endParaRPr lang="en-US" sz="1100" dirty="0"/>
          </a:p>
          <a:p>
            <a:pPr algn="ctr" indent="0" marL="0">
              <a:lnSpc>
                <a:spcPct val="125000"/>
              </a:lnSpc>
              <a:buNone/>
            </a:pPr>
            <a:r>
              <a:rPr lang="en-US" sz="1100" dirty="0">
                <a:solidFill>
                  <a:srgbClr val="6B6F80"/>
                </a:solidFill>
                <a:latin typeface="Calibri" pitchFamily="34" charset="0"/>
                <a:ea typeface="Calibri" pitchFamily="34" charset="-122"/>
                <a:cs typeface="Calibri" pitchFamily="34" charset="-120"/>
              </a:rPr>
              <a:t>2,520억원 → 1,744억원</a:t>
            </a:r>
            <a:endParaRPr lang="en-US" sz="1100" dirty="0"/>
          </a:p>
        </p:txBody>
      </p:sp>
      <p:sp>
        <p:nvSpPr>
          <p:cNvPr id="21" name="Shape 19"/>
          <p:cNvSpPr/>
          <p:nvPr/>
        </p:nvSpPr>
        <p:spPr>
          <a:xfrm>
            <a:off x="4251960" y="3657600"/>
            <a:ext cx="3474720" cy="1783080"/>
          </a:xfrm>
          <a:prstGeom prst="roundRect">
            <a:avLst>
              <a:gd name="adj" fmla="val 3590"/>
            </a:avLst>
          </a:prstGeom>
          <a:solidFill>
            <a:srgbClr val="FAFAFB"/>
          </a:solidFill>
          <a:ln w="12700">
            <a:solidFill>
              <a:srgbClr val="EBEBF0"/>
            </a:solidFill>
            <a:prstDash val="solid"/>
          </a:ln>
        </p:spPr>
      </p:sp>
      <p:sp>
        <p:nvSpPr>
          <p:cNvPr id="22" name="Text 20"/>
          <p:cNvSpPr/>
          <p:nvPr/>
        </p:nvSpPr>
        <p:spPr>
          <a:xfrm>
            <a:off x="4251960" y="3840480"/>
            <a:ext cx="3474720" cy="548640"/>
          </a:xfrm>
          <a:prstGeom prst="rect">
            <a:avLst/>
          </a:prstGeom>
          <a:noFill/>
          <a:ln/>
        </p:spPr>
        <p:txBody>
          <a:bodyPr wrap="square" lIns="0" tIns="0" rIns="0" bIns="0" rtlCol="0" anchor="ctr"/>
          <a:lstStyle/>
          <a:p>
            <a:pPr algn="ctr" indent="0" marL="0">
              <a:buNone/>
            </a:pPr>
            <a:r>
              <a:rPr lang="en-US" sz="2400" b="1" dirty="0">
                <a:solidFill>
                  <a:srgbClr val="8B2635"/>
                </a:solidFill>
                <a:latin typeface="Cambria" pitchFamily="34" charset="0"/>
                <a:ea typeface="Cambria" pitchFamily="34" charset="-122"/>
                <a:cs typeface="Cambria" pitchFamily="34" charset="-120"/>
              </a:rPr>
              <a:t>흑자→적자</a:t>
            </a:r>
            <a:endParaRPr lang="en-US" sz="2400" dirty="0"/>
          </a:p>
        </p:txBody>
      </p:sp>
      <p:sp>
        <p:nvSpPr>
          <p:cNvPr id="23" name="Text 21"/>
          <p:cNvSpPr/>
          <p:nvPr/>
        </p:nvSpPr>
        <p:spPr>
          <a:xfrm>
            <a:off x="4251960" y="4434840"/>
            <a:ext cx="3474720" cy="822960"/>
          </a:xfrm>
          <a:prstGeom prst="rect">
            <a:avLst/>
          </a:prstGeom>
          <a:noFill/>
          <a:ln/>
        </p:spPr>
        <p:txBody>
          <a:bodyPr wrap="square" lIns="0" tIns="0" rIns="0" bIns="0" rtlCol="0" anchor="ctr"/>
          <a:lstStyle/>
          <a:p>
            <a:pPr algn="ctr" indent="0" marL="0">
              <a:lnSpc>
                <a:spcPct val="125000"/>
              </a:lnSpc>
              <a:buNone/>
            </a:pPr>
            <a:r>
              <a:rPr lang="en-US" sz="1100" dirty="0">
                <a:solidFill>
                  <a:srgbClr val="6B6F80"/>
                </a:solidFill>
                <a:latin typeface="Calibri" pitchFamily="34" charset="0"/>
                <a:ea typeface="Calibri" pitchFamily="34" charset="-122"/>
                <a:cs typeface="Calibri" pitchFamily="34" charset="-120"/>
              </a:rPr>
              <a:t>당기순이익</a:t>
            </a:r>
            <a:endParaRPr lang="en-US" sz="1100" dirty="0"/>
          </a:p>
          <a:p>
            <a:pPr algn="ctr" indent="0" marL="0">
              <a:lnSpc>
                <a:spcPct val="125000"/>
              </a:lnSpc>
              <a:buNone/>
            </a:pPr>
            <a:r>
              <a:rPr lang="en-US" sz="1100" dirty="0">
                <a:solidFill>
                  <a:srgbClr val="6B6F80"/>
                </a:solidFill>
                <a:latin typeface="Calibri" pitchFamily="34" charset="0"/>
                <a:ea typeface="Calibri" pitchFamily="34" charset="-122"/>
                <a:cs typeface="Calibri" pitchFamily="34" charset="-120"/>
              </a:rPr>
              <a:t>+298억원 → -642억원</a:t>
            </a:r>
            <a:endParaRPr lang="en-US" sz="1100" dirty="0"/>
          </a:p>
        </p:txBody>
      </p:sp>
      <p:sp>
        <p:nvSpPr>
          <p:cNvPr id="24" name="Shape 22"/>
          <p:cNvSpPr/>
          <p:nvPr/>
        </p:nvSpPr>
        <p:spPr>
          <a:xfrm>
            <a:off x="7955280" y="3657600"/>
            <a:ext cx="3474720" cy="1783080"/>
          </a:xfrm>
          <a:prstGeom prst="roundRect">
            <a:avLst>
              <a:gd name="adj" fmla="val 3590"/>
            </a:avLst>
          </a:prstGeom>
          <a:solidFill>
            <a:srgbClr val="FAFAFB"/>
          </a:solidFill>
          <a:ln w="12700">
            <a:solidFill>
              <a:srgbClr val="EBEBF0"/>
            </a:solidFill>
            <a:prstDash val="solid"/>
          </a:ln>
        </p:spPr>
      </p:sp>
      <p:sp>
        <p:nvSpPr>
          <p:cNvPr id="25" name="Text 23"/>
          <p:cNvSpPr/>
          <p:nvPr/>
        </p:nvSpPr>
        <p:spPr>
          <a:xfrm>
            <a:off x="7955280" y="3840480"/>
            <a:ext cx="3474720" cy="548640"/>
          </a:xfrm>
          <a:prstGeom prst="rect">
            <a:avLst/>
          </a:prstGeom>
          <a:noFill/>
          <a:ln/>
        </p:spPr>
        <p:txBody>
          <a:bodyPr wrap="square" lIns="0" tIns="0" rIns="0" bIns="0" rtlCol="0" anchor="ctr"/>
          <a:lstStyle/>
          <a:p>
            <a:pPr algn="ctr" indent="0" marL="0">
              <a:buNone/>
            </a:pPr>
            <a:r>
              <a:rPr lang="en-US" sz="2400" b="1" dirty="0">
                <a:solidFill>
                  <a:srgbClr val="8B2635"/>
                </a:solidFill>
                <a:latin typeface="Cambria" pitchFamily="34" charset="0"/>
                <a:ea typeface="Cambria" pitchFamily="34" charset="-122"/>
                <a:cs typeface="Cambria" pitchFamily="34" charset="-120"/>
              </a:rPr>
              <a:t>4위 → 이탈</a:t>
            </a:r>
            <a:endParaRPr lang="en-US" sz="2400" dirty="0"/>
          </a:p>
        </p:txBody>
      </p:sp>
      <p:sp>
        <p:nvSpPr>
          <p:cNvPr id="26" name="Text 24"/>
          <p:cNvSpPr/>
          <p:nvPr/>
        </p:nvSpPr>
        <p:spPr>
          <a:xfrm>
            <a:off x="7955280" y="4434840"/>
            <a:ext cx="3474720" cy="822960"/>
          </a:xfrm>
          <a:prstGeom prst="rect">
            <a:avLst/>
          </a:prstGeom>
          <a:noFill/>
          <a:ln/>
        </p:spPr>
        <p:txBody>
          <a:bodyPr wrap="square" lIns="0" tIns="0" rIns="0" bIns="0" rtlCol="0" anchor="ctr"/>
          <a:lstStyle/>
          <a:p>
            <a:pPr algn="ctr" indent="0" marL="0">
              <a:lnSpc>
                <a:spcPct val="125000"/>
              </a:lnSpc>
              <a:buNone/>
            </a:pPr>
            <a:r>
              <a:rPr lang="en-US" sz="1100" dirty="0">
                <a:solidFill>
                  <a:srgbClr val="6B6F80"/>
                </a:solidFill>
                <a:latin typeface="Calibri" pitchFamily="34" charset="0"/>
                <a:ea typeface="Calibri" pitchFamily="34" charset="-122"/>
                <a:cs typeface="Calibri" pitchFamily="34" charset="-120"/>
              </a:rPr>
              <a:t>4월 매출 TOP10 순위권 이탈</a:t>
            </a:r>
            <a:endParaRPr lang="en-US" sz="1100" dirty="0"/>
          </a:p>
        </p:txBody>
      </p:sp>
      <p:sp>
        <p:nvSpPr>
          <p:cNvPr id="27" name="Shape 25"/>
          <p:cNvSpPr/>
          <p:nvPr/>
        </p:nvSpPr>
        <p:spPr>
          <a:xfrm>
            <a:off x="548640" y="5623560"/>
            <a:ext cx="11064240" cy="685800"/>
          </a:xfrm>
          <a:prstGeom prst="roundRect">
            <a:avLst>
              <a:gd name="adj" fmla="val 8000"/>
            </a:avLst>
          </a:prstGeom>
          <a:solidFill>
            <a:srgbClr val="1D2030"/>
          </a:solidFill>
          <a:ln/>
        </p:spPr>
      </p:sp>
      <p:sp>
        <p:nvSpPr>
          <p:cNvPr id="28" name="Text 26"/>
          <p:cNvSpPr/>
          <p:nvPr/>
        </p:nvSpPr>
        <p:spPr>
          <a:xfrm>
            <a:off x="822960" y="5623560"/>
            <a:ext cx="10515600" cy="685800"/>
          </a:xfrm>
          <a:prstGeom prst="rect">
            <a:avLst/>
          </a:prstGeom>
          <a:noFill/>
          <a:ln/>
        </p:spPr>
        <p:txBody>
          <a:bodyPr wrap="square" lIns="0" tIns="0" rIns="0" bIns="0" rtlCol="0" anchor="ctr"/>
          <a:lstStyle/>
          <a:p>
            <a:pPr indent="0" marL="0">
              <a:buNone/>
            </a:pPr>
            <a:r>
              <a:rPr lang="en-US" sz="1100" dirty="0">
                <a:solidFill>
                  <a:srgbClr val="E8E9F0"/>
                </a:solidFill>
                <a:latin typeface="Calibri" pitchFamily="34" charset="0"/>
                <a:ea typeface="Calibri" pitchFamily="34" charset="-122"/>
                <a:cs typeface="Calibri" pitchFamily="34" charset="-120"/>
              </a:rPr>
              <a:t>시사점 — 넥슨게임즈는 넥슨코리아와 별도 법인이라 광고선전비 주석이 공개되지 않지만, 매출·손익 낙폭만으로도 '콘텐츠 공백 → 매출 타격'의 인과관계가 뚜렷합니다.</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lIns="0" tIns="0" rIns="0" bIns="0" rtlCol="0" anchor="ctr"/>
          <a:lstStyle/>
          <a:p>
            <a:pPr indent="0" marL="0">
              <a:buNone/>
            </a:pPr>
            <a:r>
              <a:rPr lang="en-US" sz="1250" b="1" spc="200" kern="0" dirty="0">
                <a:solidFill>
                  <a:srgbClr val="F0692B"/>
                </a:solidFill>
                <a:latin typeface="Calibri" pitchFamily="34" charset="0"/>
                <a:ea typeface="Calibri" pitchFamily="34" charset="-122"/>
                <a:cs typeface="Calibri" pitchFamily="34" charset="-120"/>
              </a:rPr>
              <a:t>04 · CASE DEEP-DIVE</a:t>
            </a:r>
            <a:endParaRPr lang="en-US" sz="1250" dirty="0"/>
          </a:p>
        </p:txBody>
      </p:sp>
      <p:sp>
        <p:nvSpPr>
          <p:cNvPr id="3" name="Text 1"/>
          <p:cNvSpPr/>
          <p:nvPr/>
        </p:nvSpPr>
        <p:spPr>
          <a:xfrm>
            <a:off x="548640" y="749808"/>
            <a:ext cx="8869680" cy="640080"/>
          </a:xfrm>
          <a:prstGeom prst="rect">
            <a:avLst/>
          </a:prstGeom>
          <a:noFill/>
          <a:ln/>
        </p:spPr>
        <p:txBody>
          <a:bodyPr wrap="square" lIns="0" tIns="0" rIns="0" bIns="0" rtlCol="0" anchor="ctr"/>
          <a:lstStyle/>
          <a:p>
            <a:pPr indent="0" marL="0">
              <a:buNone/>
            </a:pPr>
            <a:r>
              <a:rPr lang="en-US" sz="2800" b="1" dirty="0">
                <a:solidFill>
                  <a:srgbClr val="1C1E29"/>
                </a:solidFill>
                <a:latin typeface="Cambria" pitchFamily="34" charset="0"/>
                <a:ea typeface="Cambria" pitchFamily="34" charset="-122"/>
                <a:cs typeface="Cambria" pitchFamily="34" charset="-120"/>
              </a:rPr>
              <a:t>검은사막M · 아이온2 — 재무·광고비로 본 상반된 승부수</a:t>
            </a:r>
            <a:endParaRPr lang="en-US" sz="2800" dirty="0"/>
          </a:p>
        </p:txBody>
      </p:sp>
      <p:sp>
        <p:nvSpPr>
          <p:cNvPr id="4" name="Shape 2"/>
          <p:cNvSpPr/>
          <p:nvPr/>
        </p:nvSpPr>
        <p:spPr>
          <a:xfrm>
            <a:off x="9646920" y="475488"/>
            <a:ext cx="1965960" cy="365760"/>
          </a:xfrm>
          <a:prstGeom prst="roundRect">
            <a:avLst>
              <a:gd name="adj" fmla="val 15000"/>
            </a:avLst>
          </a:prstGeom>
          <a:solidFill>
            <a:srgbClr val="F2F2F5"/>
          </a:solidFill>
          <a:ln/>
        </p:spPr>
      </p:sp>
      <p:sp>
        <p:nvSpPr>
          <p:cNvPr id="5" name="Text 3"/>
          <p:cNvSpPr/>
          <p:nvPr/>
        </p:nvSpPr>
        <p:spPr>
          <a:xfrm>
            <a:off x="9646920" y="475488"/>
            <a:ext cx="1965960" cy="365760"/>
          </a:xfrm>
          <a:prstGeom prst="rect">
            <a:avLst/>
          </a:prstGeom>
          <a:noFill/>
          <a:ln/>
        </p:spPr>
        <p:txBody>
          <a:bodyPr wrap="square" lIns="0" tIns="0" rIns="0" bIns="0" rtlCol="0" anchor="ctr"/>
          <a:lstStyle/>
          <a:p>
            <a:pPr algn="ctr" indent="0" marL="0">
              <a:buNone/>
            </a:pPr>
            <a:r>
              <a:rPr lang="en-US" sz="1050" b="1" dirty="0">
                <a:solidFill>
                  <a:srgbClr val="6B6F80"/>
                </a:solidFill>
                <a:latin typeface="Calibri" pitchFamily="34" charset="0"/>
                <a:ea typeface="Calibri" pitchFamily="34" charset="-122"/>
                <a:cs typeface="Calibri" pitchFamily="34" charset="-120"/>
              </a:rPr>
              <a:t>TILE · 10</a:t>
            </a:r>
            <a:endParaRPr lang="en-US" sz="1050" dirty="0"/>
          </a:p>
        </p:txBody>
      </p:sp>
      <p:sp>
        <p:nvSpPr>
          <p:cNvPr id="6" name="Text 4"/>
          <p:cNvSpPr/>
          <p:nvPr/>
        </p:nvSpPr>
        <p:spPr>
          <a:xfrm>
            <a:off x="548640" y="6400800"/>
            <a:ext cx="10332720" cy="274320"/>
          </a:xfrm>
          <a:prstGeom prst="rect">
            <a:avLst/>
          </a:prstGeom>
          <a:noFill/>
          <a:ln/>
        </p:spPr>
        <p:txBody>
          <a:bodyPr wrap="square" lIns="0" tIns="0" rIns="0" bIns="0" rtlCol="0" anchor="ctr"/>
          <a:lstStyle/>
          <a:p>
            <a:pPr indent="0" marL="0">
              <a:buNone/>
            </a:pPr>
            <a:r>
              <a:rPr lang="en-US" sz="900" dirty="0">
                <a:solidFill>
                  <a:srgbClr val="9A9DAC"/>
                </a:solidFill>
                <a:latin typeface="Calibri" pitchFamily="34" charset="0"/>
                <a:ea typeface="Calibri" pitchFamily="34" charset="-122"/>
                <a:cs typeface="Calibri" pitchFamily="34" charset="-120"/>
              </a:rPr>
              <a:t>출처: 펄어비스 반기보고서(2026H1)·사업보고서(FY2025), 엔씨소프트/엔씨 사업보고서·반기보고서</a:t>
            </a:r>
            <a:endParaRPr lang="en-US" sz="900" dirty="0"/>
          </a:p>
        </p:txBody>
      </p:sp>
      <p:sp>
        <p:nvSpPr>
          <p:cNvPr id="7" name="Text 5"/>
          <p:cNvSpPr/>
          <p:nvPr/>
        </p:nvSpPr>
        <p:spPr>
          <a:xfrm>
            <a:off x="11365992" y="6446520"/>
            <a:ext cx="548640" cy="274320"/>
          </a:xfrm>
          <a:prstGeom prst="rect">
            <a:avLst/>
          </a:prstGeom>
          <a:noFill/>
          <a:ln/>
        </p:spPr>
        <p:txBody>
          <a:bodyPr wrap="square" lIns="0" tIns="0" rIns="0" bIns="0" rtlCol="0" anchor="ctr"/>
          <a:lstStyle/>
          <a:p>
            <a:pPr algn="r" indent="0" marL="0">
              <a:buNone/>
            </a:pPr>
            <a:r>
              <a:rPr lang="en-US" sz="900" dirty="0">
                <a:solidFill>
                  <a:srgbClr val="A8ABB8"/>
                </a:solidFill>
                <a:latin typeface="Calibri" pitchFamily="34" charset="0"/>
                <a:ea typeface="Calibri" pitchFamily="34" charset="-122"/>
                <a:cs typeface="Calibri" pitchFamily="34" charset="-120"/>
              </a:rPr>
              <a:t>21</a:t>
            </a:r>
            <a:endParaRPr lang="en-US" sz="900" dirty="0"/>
          </a:p>
        </p:txBody>
      </p:sp>
      <p:sp>
        <p:nvSpPr>
          <p:cNvPr id="8" name="Shape 6"/>
          <p:cNvSpPr/>
          <p:nvPr/>
        </p:nvSpPr>
        <p:spPr>
          <a:xfrm>
            <a:off x="548640" y="1600200"/>
            <a:ext cx="5394960" cy="4617720"/>
          </a:xfrm>
          <a:prstGeom prst="roundRect">
            <a:avLst>
              <a:gd name="adj" fmla="val 1386"/>
            </a:avLst>
          </a:prstGeom>
          <a:solidFill>
            <a:srgbClr val="FAFAFB"/>
          </a:solidFill>
          <a:ln w="12700">
            <a:solidFill>
              <a:srgbClr val="EBEBF0"/>
            </a:solidFill>
            <a:prstDash val="solid"/>
          </a:ln>
        </p:spPr>
      </p:sp>
      <p:sp>
        <p:nvSpPr>
          <p:cNvPr id="9" name="Shape 7"/>
          <p:cNvSpPr/>
          <p:nvPr/>
        </p:nvSpPr>
        <p:spPr>
          <a:xfrm>
            <a:off x="822960" y="1810512"/>
            <a:ext cx="128016" cy="384048"/>
          </a:xfrm>
          <a:prstGeom prst="roundRect">
            <a:avLst>
              <a:gd name="adj" fmla="val 21429"/>
            </a:avLst>
          </a:prstGeom>
          <a:solidFill>
            <a:srgbClr val="8B2635"/>
          </a:solidFill>
          <a:ln/>
        </p:spPr>
      </p:sp>
      <p:sp>
        <p:nvSpPr>
          <p:cNvPr id="10" name="Text 8"/>
          <p:cNvSpPr/>
          <p:nvPr/>
        </p:nvSpPr>
        <p:spPr>
          <a:xfrm>
            <a:off x="1051560" y="1783080"/>
            <a:ext cx="4572000" cy="365760"/>
          </a:xfrm>
          <a:prstGeom prst="rect">
            <a:avLst/>
          </a:prstGeom>
          <a:noFill/>
          <a:ln/>
        </p:spPr>
        <p:txBody>
          <a:bodyPr wrap="square" lIns="0" tIns="0" rIns="0" bIns="0" rtlCol="0" anchor="ctr"/>
          <a:lstStyle/>
          <a:p>
            <a:pPr indent="0" marL="0">
              <a:buNone/>
            </a:pPr>
            <a:r>
              <a:rPr lang="en-US" sz="1600" b="1" dirty="0">
                <a:solidFill>
                  <a:srgbClr val="1C1E29"/>
                </a:solidFill>
                <a:latin typeface="Cambria" pitchFamily="34" charset="0"/>
                <a:ea typeface="Cambria" pitchFamily="34" charset="-122"/>
                <a:cs typeface="Cambria" pitchFamily="34" charset="-120"/>
              </a:rPr>
              <a:t>펄어비스 (검은사막모바일)</a:t>
            </a:r>
            <a:endParaRPr lang="en-US" sz="1600" dirty="0"/>
          </a:p>
        </p:txBody>
      </p:sp>
      <p:graphicFrame>
        <p:nvGraphicFramePr>
          <p:cNvPr id="11" name="Chart 0" descr=""/>
          <p:cNvGraphicFramePr/>
          <p:nvPr/>
        </p:nvGraphicFramePr>
        <p:xfrm>
          <a:off x="868680" y="2331720"/>
          <a:ext cx="4846320" cy="2057400"/>
        </p:xfrm>
        <a:graphic xmlns:a="http://schemas.openxmlformats.org/drawingml/2006/main">
          <a:graphicData uri="http://schemas.openxmlformats.org/drawingml/2006/chart">
            <c:chart xmlns:c="http://schemas.openxmlformats.org/drawingml/2006/chart" r:id="rId1"/>
          </a:graphicData>
        </a:graphic>
      </p:graphicFrame>
      <p:sp>
        <p:nvSpPr>
          <p:cNvPr id="12" name="Text 9"/>
          <p:cNvSpPr/>
          <p:nvPr/>
        </p:nvSpPr>
        <p:spPr>
          <a:xfrm>
            <a:off x="868680" y="4526280"/>
            <a:ext cx="4846320" cy="1600200"/>
          </a:xfrm>
          <a:prstGeom prst="rect">
            <a:avLst/>
          </a:prstGeom>
          <a:noFill/>
          <a:ln/>
        </p:spPr>
        <p:txBody>
          <a:bodyPr wrap="square" lIns="0" tIns="0" rIns="0" bIns="0" rtlCol="0" anchor="ctr"/>
          <a:lstStyle/>
          <a:p>
            <a:pPr marL="152400" indent="-152400">
              <a:lnSpc>
                <a:spcPct val="120000"/>
              </a:lnSpc>
              <a:buSzPct val="100000"/>
              <a:buChar char="•"/>
            </a:pPr>
            <a:r>
              <a:rPr lang="en-US" sz="1040" dirty="0">
                <a:solidFill>
                  <a:srgbClr val="444858"/>
                </a:solidFill>
                <a:latin typeface="Calibri" pitchFamily="34" charset="0"/>
                <a:ea typeface="Calibri" pitchFamily="34" charset="-122"/>
                <a:cs typeface="Calibri" pitchFamily="34" charset="-120"/>
              </a:rPr>
              <a:t>FY2025 매출 +6.4%지만 신작 개발비로 순손실(-84억원) 전환, 2026H1은 '붉은사막' 흥행으로 순이익 +2,575억원 급반전</a:t>
            </a:r>
            <a:endParaRPr lang="en-US" sz="1040" dirty="0"/>
          </a:p>
          <a:p>
            <a:pPr marL="152400" indent="-152400">
              <a:lnSpc>
                <a:spcPct val="120000"/>
              </a:lnSpc>
              <a:buSzPct val="100000"/>
              <a:buChar char="•"/>
            </a:pPr>
            <a:r>
              <a:rPr lang="en-US" sz="1040" dirty="0">
                <a:solidFill>
                  <a:srgbClr val="444858"/>
                </a:solidFill>
                <a:latin typeface="Calibri" pitchFamily="34" charset="0"/>
                <a:ea typeface="Calibri" pitchFamily="34" charset="-122"/>
                <a:cs typeface="Calibri" pitchFamily="34" charset="-120"/>
              </a:rPr>
              <a:t>광고비는 연결 기준 꾸준히 증가 — 그러나 검은사막모바일 자체 순위는 트래킹 이탈 → 예산이 신작으로 이동 정황</a:t>
            </a:r>
            <a:endParaRPr lang="en-US" sz="1040" dirty="0"/>
          </a:p>
          <a:p>
            <a:pPr marL="152400" indent="-152400">
              <a:lnSpc>
                <a:spcPct val="120000"/>
              </a:lnSpc>
              <a:buSzPct val="100000"/>
              <a:buChar char="•"/>
            </a:pPr>
            <a:r>
              <a:rPr lang="en-US" sz="1040" dirty="0">
                <a:solidFill>
                  <a:srgbClr val="444858"/>
                </a:solidFill>
                <a:latin typeface="Calibri" pitchFamily="34" charset="0"/>
                <a:ea typeface="Calibri" pitchFamily="34" charset="-122"/>
                <a:cs typeface="Calibri" pitchFamily="34" charset="-120"/>
              </a:rPr>
              <a:t>이용자순위 3월·매출순위 7월 이후 자사 트래킹 데이터에서도 이탈 확인</a:t>
            </a:r>
            <a:endParaRPr lang="en-US" sz="1040" dirty="0"/>
          </a:p>
        </p:txBody>
      </p:sp>
      <p:sp>
        <p:nvSpPr>
          <p:cNvPr id="13" name="Shape 10"/>
          <p:cNvSpPr/>
          <p:nvPr/>
        </p:nvSpPr>
        <p:spPr>
          <a:xfrm>
            <a:off x="6217920" y="1600200"/>
            <a:ext cx="5394960" cy="4617720"/>
          </a:xfrm>
          <a:prstGeom prst="roundRect">
            <a:avLst>
              <a:gd name="adj" fmla="val 1386"/>
            </a:avLst>
          </a:prstGeom>
          <a:solidFill>
            <a:srgbClr val="FAFAFB"/>
          </a:solidFill>
          <a:ln w="12700">
            <a:solidFill>
              <a:srgbClr val="EBEBF0"/>
            </a:solidFill>
            <a:prstDash val="solid"/>
          </a:ln>
        </p:spPr>
      </p:sp>
      <p:sp>
        <p:nvSpPr>
          <p:cNvPr id="14" name="Shape 11"/>
          <p:cNvSpPr/>
          <p:nvPr/>
        </p:nvSpPr>
        <p:spPr>
          <a:xfrm>
            <a:off x="6492240" y="1810512"/>
            <a:ext cx="128016" cy="384048"/>
          </a:xfrm>
          <a:prstGeom prst="roundRect">
            <a:avLst>
              <a:gd name="adj" fmla="val 21429"/>
            </a:avLst>
          </a:prstGeom>
          <a:solidFill>
            <a:srgbClr val="6B4FA0"/>
          </a:solidFill>
          <a:ln/>
        </p:spPr>
      </p:sp>
      <p:sp>
        <p:nvSpPr>
          <p:cNvPr id="15" name="Text 12"/>
          <p:cNvSpPr/>
          <p:nvPr/>
        </p:nvSpPr>
        <p:spPr>
          <a:xfrm>
            <a:off x="6720840" y="1783080"/>
            <a:ext cx="4572000" cy="365760"/>
          </a:xfrm>
          <a:prstGeom prst="rect">
            <a:avLst/>
          </a:prstGeom>
          <a:noFill/>
          <a:ln/>
        </p:spPr>
        <p:txBody>
          <a:bodyPr wrap="square" lIns="0" tIns="0" rIns="0" bIns="0" rtlCol="0" anchor="ctr"/>
          <a:lstStyle/>
          <a:p>
            <a:pPr indent="0" marL="0">
              <a:buNone/>
            </a:pPr>
            <a:r>
              <a:rPr lang="en-US" sz="1600" b="1" dirty="0">
                <a:solidFill>
                  <a:srgbClr val="1C1E29"/>
                </a:solidFill>
                <a:latin typeface="Cambria" pitchFamily="34" charset="0"/>
                <a:ea typeface="Cambria" pitchFamily="34" charset="-122"/>
                <a:cs typeface="Cambria" pitchFamily="34" charset="-120"/>
              </a:rPr>
              <a:t>엔씨소프트/엔씨 (아이온2)</a:t>
            </a:r>
            <a:endParaRPr lang="en-US" sz="1600" dirty="0"/>
          </a:p>
        </p:txBody>
      </p:sp>
      <p:graphicFrame>
        <p:nvGraphicFramePr>
          <p:cNvPr id="16" name="Chart 1" descr=""/>
          <p:cNvGraphicFramePr/>
          <p:nvPr/>
        </p:nvGraphicFramePr>
        <p:xfrm>
          <a:off x="6537960" y="2331720"/>
          <a:ext cx="4846320" cy="2057400"/>
        </p:xfrm>
        <a:graphic xmlns:a="http://schemas.openxmlformats.org/drawingml/2006/main">
          <a:graphicData uri="http://schemas.openxmlformats.org/drawingml/2006/chart">
            <c:chart xmlns:c="http://schemas.openxmlformats.org/drawingml/2006/chart" r:id="rId2"/>
          </a:graphicData>
        </a:graphic>
      </p:graphicFrame>
      <p:sp>
        <p:nvSpPr>
          <p:cNvPr id="17" name="Text 13"/>
          <p:cNvSpPr/>
          <p:nvPr/>
        </p:nvSpPr>
        <p:spPr>
          <a:xfrm>
            <a:off x="6537960" y="4526280"/>
            <a:ext cx="4846320" cy="1600200"/>
          </a:xfrm>
          <a:prstGeom prst="rect">
            <a:avLst/>
          </a:prstGeom>
          <a:noFill/>
          <a:ln/>
        </p:spPr>
        <p:txBody>
          <a:bodyPr wrap="square" lIns="0" tIns="0" rIns="0" bIns="0" rtlCol="0" anchor="ctr"/>
          <a:lstStyle/>
          <a:p>
            <a:pPr marL="152400" indent="-152400">
              <a:lnSpc>
                <a:spcPct val="120000"/>
              </a:lnSpc>
              <a:buSzPct val="100000"/>
              <a:buChar char="•"/>
            </a:pPr>
            <a:r>
              <a:rPr lang="en-US" sz="1040" dirty="0">
                <a:solidFill>
                  <a:srgbClr val="444858"/>
                </a:solidFill>
                <a:latin typeface="Calibri" pitchFamily="34" charset="0"/>
                <a:ea typeface="Calibri" pitchFamily="34" charset="-122"/>
                <a:cs typeface="Calibri" pitchFamily="34" charset="-120"/>
              </a:rPr>
              <a:t>FY2024 연결 영업적자(-1,092억) → FY2025 흑자전환(+161억) → 26H1 +2,871억으로 급성장</a:t>
            </a:r>
            <a:endParaRPr lang="en-US" sz="1040" dirty="0"/>
          </a:p>
          <a:p>
            <a:pPr marL="152400" indent="-152400">
              <a:lnSpc>
                <a:spcPct val="120000"/>
              </a:lnSpc>
              <a:buSzPct val="100000"/>
              <a:buChar char="•"/>
            </a:pPr>
            <a:r>
              <a:rPr lang="en-US" sz="1040" dirty="0">
                <a:solidFill>
                  <a:srgbClr val="444858"/>
                </a:solidFill>
                <a:latin typeface="Calibri" pitchFamily="34" charset="0"/>
                <a:ea typeface="Calibri" pitchFamily="34" charset="-122"/>
                <a:cs typeface="Calibri" pitchFamily="34" charset="-120"/>
              </a:rPr>
              <a:t>그 사이 광고선전비(별도)는 오히려 1,352억→836억→369억(반기)으로 축소 — 지출 감소·성과 개선의 대표 사례</a:t>
            </a:r>
            <a:endParaRPr lang="en-US" sz="1040" dirty="0"/>
          </a:p>
          <a:p>
            <a:pPr marL="152400" indent="-152400">
              <a:lnSpc>
                <a:spcPct val="120000"/>
              </a:lnSpc>
              <a:buSzPct val="100000"/>
              <a:buChar char="•"/>
            </a:pPr>
            <a:r>
              <a:rPr lang="en-US" sz="1040" dirty="0">
                <a:solidFill>
                  <a:srgbClr val="444858"/>
                </a:solidFill>
                <a:latin typeface="Calibri" pitchFamily="34" charset="0"/>
                <a:ea typeface="Calibri" pitchFamily="34" charset="-122"/>
                <a:cs typeface="Calibri" pitchFamily="34" charset="-120"/>
              </a:rPr>
              <a:t>출시 전 라이브방송 29회, 메타 UA 광고 없이 커뮤니티·쇼케이스 중심 성장</a:t>
            </a:r>
            <a:endParaRPr lang="en-US" sz="104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4161F"/>
        </a:solidFill>
      </p:bgPr>
    </p:bg>
    <p:spTree>
      <p:nvGrpSpPr>
        <p:cNvPr id="1" name=""/>
        <p:cNvGrpSpPr/>
        <p:nvPr/>
      </p:nvGrpSpPr>
      <p:grpSpPr>
        <a:xfrm>
          <a:off x="0" y="0"/>
          <a:ext cx="0" cy="0"/>
          <a:chOff x="0" y="0"/>
          <a:chExt cx="0" cy="0"/>
        </a:xfrm>
      </p:grpSpPr>
      <p:sp>
        <p:nvSpPr>
          <p:cNvPr id="2" name="Shape 0"/>
          <p:cNvSpPr/>
          <p:nvPr/>
        </p:nvSpPr>
        <p:spPr>
          <a:xfrm>
            <a:off x="-2377440" y="4206240"/>
            <a:ext cx="5943600" cy="5943600"/>
          </a:xfrm>
          <a:prstGeom prst="ellipse">
            <a:avLst/>
          </a:prstGeom>
          <a:solidFill>
            <a:srgbClr val="1B1E2C"/>
          </a:solidFill>
          <a:ln/>
        </p:spPr>
      </p:sp>
      <p:sp>
        <p:nvSpPr>
          <p:cNvPr id="3" name="Text 1"/>
          <p:cNvSpPr/>
          <p:nvPr/>
        </p:nvSpPr>
        <p:spPr>
          <a:xfrm>
            <a:off x="822960" y="2286000"/>
            <a:ext cx="3657600" cy="1463040"/>
          </a:xfrm>
          <a:prstGeom prst="rect">
            <a:avLst/>
          </a:prstGeom>
          <a:noFill/>
          <a:ln/>
        </p:spPr>
        <p:txBody>
          <a:bodyPr wrap="square" lIns="0" tIns="0" rIns="0" bIns="0" rtlCol="0" anchor="ctr"/>
          <a:lstStyle/>
          <a:p>
            <a:pPr indent="0" marL="0">
              <a:buNone/>
            </a:pPr>
            <a:r>
              <a:rPr lang="en-US" sz="9000" b="1" dirty="0">
                <a:solidFill>
                  <a:srgbClr val="2A2E42"/>
                </a:solidFill>
                <a:latin typeface="Cambria" pitchFamily="34" charset="0"/>
                <a:ea typeface="Cambria" pitchFamily="34" charset="-122"/>
                <a:cs typeface="Cambria" pitchFamily="34" charset="-120"/>
              </a:rPr>
              <a:t>05</a:t>
            </a:r>
            <a:endParaRPr lang="en-US" sz="9000" dirty="0"/>
          </a:p>
        </p:txBody>
      </p:sp>
      <p:sp>
        <p:nvSpPr>
          <p:cNvPr id="4" name="Text 2"/>
          <p:cNvSpPr/>
          <p:nvPr/>
        </p:nvSpPr>
        <p:spPr>
          <a:xfrm>
            <a:off x="868680" y="3246120"/>
            <a:ext cx="9144000" cy="365760"/>
          </a:xfrm>
          <a:prstGeom prst="rect">
            <a:avLst/>
          </a:prstGeom>
          <a:noFill/>
          <a:ln/>
        </p:spPr>
        <p:txBody>
          <a:bodyPr wrap="square" lIns="0" tIns="0" rIns="0" bIns="0" rtlCol="0" anchor="ctr"/>
          <a:lstStyle/>
          <a:p>
            <a:pPr indent="0" marL="0">
              <a:buNone/>
            </a:pPr>
            <a:r>
              <a:rPr lang="en-US" sz="1300" b="1" spc="300" kern="0" dirty="0">
                <a:solidFill>
                  <a:srgbClr val="F0692B"/>
                </a:solidFill>
                <a:latin typeface="Calibri" pitchFamily="34" charset="0"/>
                <a:ea typeface="Calibri" pitchFamily="34" charset="-122"/>
                <a:cs typeface="Calibri" pitchFamily="34" charset="-120"/>
              </a:rPr>
              <a:t>STRATEGY &amp; ROADMAP</a:t>
            </a:r>
            <a:endParaRPr lang="en-US" sz="1300" dirty="0"/>
          </a:p>
        </p:txBody>
      </p:sp>
      <p:sp>
        <p:nvSpPr>
          <p:cNvPr id="5" name="Text 3"/>
          <p:cNvSpPr/>
          <p:nvPr/>
        </p:nvSpPr>
        <p:spPr>
          <a:xfrm>
            <a:off x="822960" y="3611880"/>
            <a:ext cx="10058400" cy="10058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SWOT · 전략 제언</a:t>
            </a:r>
            <a:endParaRPr lang="en-US" sz="3400" dirty="0"/>
          </a:p>
        </p:txBody>
      </p:sp>
      <p:sp>
        <p:nvSpPr>
          <p:cNvPr id="6" name="Text 4"/>
          <p:cNvSpPr/>
          <p:nvPr/>
        </p:nvSpPr>
        <p:spPr>
          <a:xfrm>
            <a:off x="11365992" y="6446520"/>
            <a:ext cx="548640" cy="274320"/>
          </a:xfrm>
          <a:prstGeom prst="rect">
            <a:avLst/>
          </a:prstGeom>
          <a:noFill/>
          <a:ln/>
        </p:spPr>
        <p:txBody>
          <a:bodyPr wrap="square" lIns="0" tIns="0" rIns="0" bIns="0" rtlCol="0" anchor="ctr"/>
          <a:lstStyle/>
          <a:p>
            <a:pPr algn="r" indent="0" marL="0">
              <a:buNone/>
            </a:pPr>
            <a:r>
              <a:rPr lang="en-US" sz="900" dirty="0">
                <a:solidFill>
                  <a:srgbClr val="6A6E80"/>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lIns="0" tIns="0" rIns="0" bIns="0" rtlCol="0" anchor="ctr"/>
          <a:lstStyle/>
          <a:p>
            <a:pPr indent="0" marL="0">
              <a:buNone/>
            </a:pPr>
            <a:r>
              <a:rPr lang="en-US" sz="1250" b="1" spc="200" kern="0" dirty="0">
                <a:solidFill>
                  <a:srgbClr val="F0692B"/>
                </a:solidFill>
                <a:latin typeface="Calibri" pitchFamily="34" charset="0"/>
                <a:ea typeface="Calibri" pitchFamily="34" charset="-122"/>
                <a:cs typeface="Calibri" pitchFamily="34" charset="-120"/>
              </a:rPr>
              <a:t>05 · STRATEGY &amp; ROADMAP</a:t>
            </a:r>
            <a:endParaRPr lang="en-US" sz="1250" dirty="0"/>
          </a:p>
        </p:txBody>
      </p:sp>
      <p:sp>
        <p:nvSpPr>
          <p:cNvPr id="3" name="Text 1"/>
          <p:cNvSpPr/>
          <p:nvPr/>
        </p:nvSpPr>
        <p:spPr>
          <a:xfrm>
            <a:off x="548640" y="749808"/>
            <a:ext cx="10789920" cy="640080"/>
          </a:xfrm>
          <a:prstGeom prst="rect">
            <a:avLst/>
          </a:prstGeom>
          <a:noFill/>
          <a:ln/>
        </p:spPr>
        <p:txBody>
          <a:bodyPr wrap="square" lIns="0" tIns="0" rIns="0" bIns="0" rtlCol="0" anchor="ctr"/>
          <a:lstStyle/>
          <a:p>
            <a:pPr indent="0" marL="0">
              <a:buNone/>
            </a:pPr>
            <a:r>
              <a:rPr lang="en-US" sz="2800" b="1" dirty="0">
                <a:solidFill>
                  <a:srgbClr val="1C1E29"/>
                </a:solidFill>
                <a:latin typeface="Cambria" pitchFamily="34" charset="0"/>
                <a:ea typeface="Cambria" pitchFamily="34" charset="-122"/>
                <a:cs typeface="Cambria" pitchFamily="34" charset="-120"/>
              </a:rPr>
              <a:t>메이플스토리M SWOT 분석</a:t>
            </a:r>
            <a:endParaRPr lang="en-US" sz="2800" dirty="0"/>
          </a:p>
        </p:txBody>
      </p:sp>
      <p:sp>
        <p:nvSpPr>
          <p:cNvPr id="4" name="Text 2"/>
          <p:cNvSpPr/>
          <p:nvPr/>
        </p:nvSpPr>
        <p:spPr>
          <a:xfrm>
            <a:off x="11365992" y="6446520"/>
            <a:ext cx="548640" cy="274320"/>
          </a:xfrm>
          <a:prstGeom prst="rect">
            <a:avLst/>
          </a:prstGeom>
          <a:noFill/>
          <a:ln/>
        </p:spPr>
        <p:txBody>
          <a:bodyPr wrap="square" lIns="0" tIns="0" rIns="0" bIns="0" rtlCol="0" anchor="ctr"/>
          <a:lstStyle/>
          <a:p>
            <a:pPr algn="r" indent="0" marL="0">
              <a:buNone/>
            </a:pPr>
            <a:r>
              <a:rPr lang="en-US" sz="900" dirty="0">
                <a:solidFill>
                  <a:srgbClr val="A8ABB8"/>
                </a:solidFill>
                <a:latin typeface="Calibri" pitchFamily="34" charset="0"/>
                <a:ea typeface="Calibri" pitchFamily="34" charset="-122"/>
                <a:cs typeface="Calibri" pitchFamily="34" charset="-120"/>
              </a:rPr>
              <a:t>23</a:t>
            </a:r>
            <a:endParaRPr lang="en-US" sz="900" dirty="0"/>
          </a:p>
        </p:txBody>
      </p:sp>
      <p:sp>
        <p:nvSpPr>
          <p:cNvPr id="5" name="Shape 3"/>
          <p:cNvSpPr/>
          <p:nvPr/>
        </p:nvSpPr>
        <p:spPr>
          <a:xfrm>
            <a:off x="548640" y="1645920"/>
            <a:ext cx="5394960" cy="2286000"/>
          </a:xfrm>
          <a:prstGeom prst="roundRect">
            <a:avLst>
              <a:gd name="adj" fmla="val 2800"/>
            </a:avLst>
          </a:prstGeom>
          <a:solidFill>
            <a:srgbClr val="FFF3EC"/>
          </a:solidFill>
          <a:ln/>
        </p:spPr>
      </p:sp>
      <p:sp>
        <p:nvSpPr>
          <p:cNvPr id="6" name="Text 4"/>
          <p:cNvSpPr/>
          <p:nvPr/>
        </p:nvSpPr>
        <p:spPr>
          <a:xfrm>
            <a:off x="822960" y="1810512"/>
            <a:ext cx="3931920" cy="320040"/>
          </a:xfrm>
          <a:prstGeom prst="rect">
            <a:avLst/>
          </a:prstGeom>
          <a:noFill/>
          <a:ln/>
        </p:spPr>
        <p:txBody>
          <a:bodyPr wrap="square" lIns="0" tIns="0" rIns="0" bIns="0" rtlCol="0" anchor="ctr"/>
          <a:lstStyle/>
          <a:p>
            <a:pPr indent="0" marL="0">
              <a:buNone/>
            </a:pPr>
            <a:r>
              <a:rPr lang="en-US" sz="1500" b="1" dirty="0">
                <a:solidFill>
                  <a:srgbClr val="F0692B"/>
                </a:solidFill>
                <a:latin typeface="Cambria" pitchFamily="34" charset="0"/>
                <a:ea typeface="Cambria" pitchFamily="34" charset="-122"/>
                <a:cs typeface="Cambria" pitchFamily="34" charset="-120"/>
              </a:rPr>
              <a:t>Strengths</a:t>
            </a:r>
            <a:endParaRPr lang="en-US" sz="1500" dirty="0"/>
          </a:p>
        </p:txBody>
      </p:sp>
      <p:sp>
        <p:nvSpPr>
          <p:cNvPr id="7" name="Text 5"/>
          <p:cNvSpPr/>
          <p:nvPr/>
        </p:nvSpPr>
        <p:spPr>
          <a:xfrm>
            <a:off x="4892040" y="1810512"/>
            <a:ext cx="822960" cy="320040"/>
          </a:xfrm>
          <a:prstGeom prst="rect">
            <a:avLst/>
          </a:prstGeom>
          <a:noFill/>
          <a:ln/>
        </p:spPr>
        <p:txBody>
          <a:bodyPr wrap="square" lIns="0" tIns="0" rIns="0" bIns="0" rtlCol="0" anchor="ctr"/>
          <a:lstStyle/>
          <a:p>
            <a:pPr algn="r" indent="0" marL="0">
              <a:buNone/>
            </a:pPr>
            <a:r>
              <a:rPr lang="en-US" sz="1100" b="1" dirty="0">
                <a:solidFill>
                  <a:srgbClr val="F0692B"/>
                </a:solidFill>
                <a:latin typeface="Calibri" pitchFamily="34" charset="0"/>
                <a:ea typeface="Calibri" pitchFamily="34" charset="-122"/>
                <a:cs typeface="Calibri" pitchFamily="34" charset="-120"/>
              </a:rPr>
              <a:t>강점</a:t>
            </a:r>
            <a:endParaRPr lang="en-US" sz="1100" dirty="0"/>
          </a:p>
        </p:txBody>
      </p:sp>
      <p:sp>
        <p:nvSpPr>
          <p:cNvPr id="8" name="Text 6"/>
          <p:cNvSpPr/>
          <p:nvPr/>
        </p:nvSpPr>
        <p:spPr>
          <a:xfrm>
            <a:off x="822960" y="2176272"/>
            <a:ext cx="4846320" cy="1600200"/>
          </a:xfrm>
          <a:prstGeom prst="rect">
            <a:avLst/>
          </a:prstGeom>
          <a:noFill/>
          <a:ln/>
        </p:spPr>
        <p:txBody>
          <a:bodyPr wrap="square" lIns="0" tIns="0" rIns="0" bIns="0" rtlCol="0" anchor="ctr"/>
          <a:lstStyle/>
          <a:p>
            <a:pPr marL="152400" indent="-152400">
              <a:lnSpc>
                <a:spcPct val="120000"/>
              </a:lnSpc>
              <a:buSzPct val="100000"/>
              <a:buChar char="•"/>
            </a:pPr>
            <a:r>
              <a:rPr lang="en-US" sz="1030" dirty="0">
                <a:solidFill>
                  <a:srgbClr val="3A3D4A"/>
                </a:solidFill>
                <a:latin typeface="Calibri" pitchFamily="34" charset="0"/>
                <a:ea typeface="Calibri" pitchFamily="34" charset="-122"/>
                <a:cs typeface="Calibri" pitchFamily="34" charset="-120"/>
              </a:rPr>
              <a:t>9.8년 성숙기 IP — 넥슨코리아 별도 매출 3조원 돌파(+28.5%) 국면에서 핵심 프랜차이즈 지위 유지</a:t>
            </a:r>
            <a:endParaRPr lang="en-US" sz="1030" dirty="0"/>
          </a:p>
          <a:p>
            <a:pPr marL="152400" indent="-152400">
              <a:lnSpc>
                <a:spcPct val="120000"/>
              </a:lnSpc>
              <a:buSzPct val="100000"/>
              <a:buChar char="•"/>
            </a:pPr>
            <a:r>
              <a:rPr lang="en-US" sz="1030" dirty="0">
                <a:solidFill>
                  <a:srgbClr val="3A3D4A"/>
                </a:solidFill>
                <a:latin typeface="Calibri" pitchFamily="34" charset="0"/>
                <a:ea typeface="Calibri" pitchFamily="34" charset="-122"/>
                <a:cs typeface="Calibri" pitchFamily="34" charset="-120"/>
              </a:rPr>
              <a:t>대형 업데이트 클러스터링 실행력 — RE:BOOST로 4사 중 최대 반등폭 입증</a:t>
            </a:r>
            <a:endParaRPr lang="en-US" sz="1030" dirty="0"/>
          </a:p>
          <a:p>
            <a:pPr marL="152400" indent="-152400">
              <a:lnSpc>
                <a:spcPct val="120000"/>
              </a:lnSpc>
              <a:buSzPct val="100000"/>
              <a:buChar char="•"/>
            </a:pPr>
            <a:r>
              <a:rPr lang="en-US" sz="1030" dirty="0">
                <a:solidFill>
                  <a:srgbClr val="3A3D4A"/>
                </a:solidFill>
                <a:latin typeface="Calibri" pitchFamily="34" charset="0"/>
                <a:ea typeface="Calibri" pitchFamily="34" charset="-122"/>
                <a:cs typeface="Calibri" pitchFamily="34" charset="-120"/>
              </a:rPr>
              <a:t>4사 중 가장 넓은 UA 채널 도달력(평균 5개+ 채널, 유일한 6채널 풀세팅 사례 보유)</a:t>
            </a:r>
            <a:endParaRPr lang="en-US" sz="1030" dirty="0"/>
          </a:p>
        </p:txBody>
      </p:sp>
      <p:sp>
        <p:nvSpPr>
          <p:cNvPr id="9" name="Shape 7"/>
          <p:cNvSpPr/>
          <p:nvPr/>
        </p:nvSpPr>
        <p:spPr>
          <a:xfrm>
            <a:off x="6217920" y="1645920"/>
            <a:ext cx="5394960" cy="2286000"/>
          </a:xfrm>
          <a:prstGeom prst="roundRect">
            <a:avLst>
              <a:gd name="adj" fmla="val 2800"/>
            </a:avLst>
          </a:prstGeom>
          <a:solidFill>
            <a:srgbClr val="FBEAEC"/>
          </a:solidFill>
          <a:ln/>
        </p:spPr>
      </p:sp>
      <p:sp>
        <p:nvSpPr>
          <p:cNvPr id="10" name="Text 8"/>
          <p:cNvSpPr/>
          <p:nvPr/>
        </p:nvSpPr>
        <p:spPr>
          <a:xfrm>
            <a:off x="6492240" y="1810512"/>
            <a:ext cx="3931920" cy="320040"/>
          </a:xfrm>
          <a:prstGeom prst="rect">
            <a:avLst/>
          </a:prstGeom>
          <a:noFill/>
          <a:ln/>
        </p:spPr>
        <p:txBody>
          <a:bodyPr wrap="square" lIns="0" tIns="0" rIns="0" bIns="0" rtlCol="0" anchor="ctr"/>
          <a:lstStyle/>
          <a:p>
            <a:pPr indent="0" marL="0">
              <a:buNone/>
            </a:pPr>
            <a:r>
              <a:rPr lang="en-US" sz="1500" b="1" dirty="0">
                <a:solidFill>
                  <a:srgbClr val="8B2635"/>
                </a:solidFill>
                <a:latin typeface="Cambria" pitchFamily="34" charset="0"/>
                <a:ea typeface="Cambria" pitchFamily="34" charset="-122"/>
                <a:cs typeface="Cambria" pitchFamily="34" charset="-120"/>
              </a:rPr>
              <a:t>Weaknesses</a:t>
            </a:r>
            <a:endParaRPr lang="en-US" sz="1500" dirty="0"/>
          </a:p>
        </p:txBody>
      </p:sp>
      <p:sp>
        <p:nvSpPr>
          <p:cNvPr id="11" name="Text 9"/>
          <p:cNvSpPr/>
          <p:nvPr/>
        </p:nvSpPr>
        <p:spPr>
          <a:xfrm>
            <a:off x="10561320" y="1810512"/>
            <a:ext cx="822960" cy="320040"/>
          </a:xfrm>
          <a:prstGeom prst="rect">
            <a:avLst/>
          </a:prstGeom>
          <a:noFill/>
          <a:ln/>
        </p:spPr>
        <p:txBody>
          <a:bodyPr wrap="square" lIns="0" tIns="0" rIns="0" bIns="0" rtlCol="0" anchor="ctr"/>
          <a:lstStyle/>
          <a:p>
            <a:pPr algn="r" indent="0" marL="0">
              <a:buNone/>
            </a:pPr>
            <a:r>
              <a:rPr lang="en-US" sz="1100" b="1" dirty="0">
                <a:solidFill>
                  <a:srgbClr val="8B2635"/>
                </a:solidFill>
                <a:latin typeface="Calibri" pitchFamily="34" charset="0"/>
                <a:ea typeface="Calibri" pitchFamily="34" charset="-122"/>
                <a:cs typeface="Calibri" pitchFamily="34" charset="-120"/>
              </a:rPr>
              <a:t>약점</a:t>
            </a:r>
            <a:endParaRPr lang="en-US" sz="1100" dirty="0"/>
          </a:p>
        </p:txBody>
      </p:sp>
      <p:sp>
        <p:nvSpPr>
          <p:cNvPr id="12" name="Text 10"/>
          <p:cNvSpPr/>
          <p:nvPr/>
        </p:nvSpPr>
        <p:spPr>
          <a:xfrm>
            <a:off x="6492240" y="2176272"/>
            <a:ext cx="4846320" cy="1600200"/>
          </a:xfrm>
          <a:prstGeom prst="rect">
            <a:avLst/>
          </a:prstGeom>
          <a:noFill/>
          <a:ln/>
        </p:spPr>
        <p:txBody>
          <a:bodyPr wrap="square" lIns="0" tIns="0" rIns="0" bIns="0" rtlCol="0" anchor="ctr"/>
          <a:lstStyle/>
          <a:p>
            <a:pPr marL="152400" indent="-152400">
              <a:lnSpc>
                <a:spcPct val="120000"/>
              </a:lnSpc>
              <a:buSzPct val="100000"/>
              <a:buChar char="•"/>
            </a:pPr>
            <a:r>
              <a:rPr lang="en-US" sz="1030" dirty="0">
                <a:solidFill>
                  <a:srgbClr val="3A3D4A"/>
                </a:solidFill>
                <a:latin typeface="Calibri" pitchFamily="34" charset="0"/>
                <a:ea typeface="Calibri" pitchFamily="34" charset="-122"/>
                <a:cs typeface="Calibri" pitchFamily="34" charset="-120"/>
              </a:rPr>
              <a:t>업데이트 빈도 4사 중 최저(분기 1~2건) — 후속 공백에 취약한 구조</a:t>
            </a:r>
            <a:endParaRPr lang="en-US" sz="1030" dirty="0"/>
          </a:p>
          <a:p>
            <a:pPr marL="152400" indent="-152400">
              <a:lnSpc>
                <a:spcPct val="120000"/>
              </a:lnSpc>
              <a:buSzPct val="100000"/>
              <a:buChar char="•"/>
            </a:pPr>
            <a:r>
              <a:rPr lang="en-US" sz="1030" dirty="0">
                <a:solidFill>
                  <a:srgbClr val="3A3D4A"/>
                </a:solidFill>
                <a:latin typeface="Calibri" pitchFamily="34" charset="0"/>
                <a:ea typeface="Calibri" pitchFamily="34" charset="-122"/>
                <a:cs typeface="Calibri" pitchFamily="34" charset="-120"/>
              </a:rPr>
              <a:t>광고비는 +29.4%로 늘었지만 UA 채널이 메타 단일 플랫폼에 편중</a:t>
            </a:r>
            <a:endParaRPr lang="en-US" sz="1030" dirty="0"/>
          </a:p>
          <a:p>
            <a:pPr marL="152400" indent="-152400">
              <a:lnSpc>
                <a:spcPct val="120000"/>
              </a:lnSpc>
              <a:buSzPct val="100000"/>
              <a:buChar char="•"/>
            </a:pPr>
            <a:r>
              <a:rPr lang="en-US" sz="1030" dirty="0">
                <a:solidFill>
                  <a:srgbClr val="3A3D4A"/>
                </a:solidFill>
                <a:latin typeface="Calibri" pitchFamily="34" charset="0"/>
                <a:ea typeface="Calibri" pitchFamily="34" charset="-122"/>
                <a:cs typeface="Calibri" pitchFamily="34" charset="-120"/>
              </a:rPr>
              <a:t>8월 재하락 조짐 — 반등을 지속시킬 콘텐츠 파이프라인 부재</a:t>
            </a:r>
            <a:endParaRPr lang="en-US" sz="1030" dirty="0"/>
          </a:p>
        </p:txBody>
      </p:sp>
      <p:sp>
        <p:nvSpPr>
          <p:cNvPr id="13" name="Shape 11"/>
          <p:cNvSpPr/>
          <p:nvPr/>
        </p:nvSpPr>
        <p:spPr>
          <a:xfrm>
            <a:off x="548640" y="4160520"/>
            <a:ext cx="5394960" cy="2286000"/>
          </a:xfrm>
          <a:prstGeom prst="roundRect">
            <a:avLst>
              <a:gd name="adj" fmla="val 2800"/>
            </a:avLst>
          </a:prstGeom>
          <a:solidFill>
            <a:srgbClr val="EAF7F4"/>
          </a:solidFill>
          <a:ln/>
        </p:spPr>
      </p:sp>
      <p:sp>
        <p:nvSpPr>
          <p:cNvPr id="14" name="Text 12"/>
          <p:cNvSpPr/>
          <p:nvPr/>
        </p:nvSpPr>
        <p:spPr>
          <a:xfrm>
            <a:off x="822960" y="4325112"/>
            <a:ext cx="3931920" cy="320040"/>
          </a:xfrm>
          <a:prstGeom prst="rect">
            <a:avLst/>
          </a:prstGeom>
          <a:noFill/>
          <a:ln/>
        </p:spPr>
        <p:txBody>
          <a:bodyPr wrap="square" lIns="0" tIns="0" rIns="0" bIns="0" rtlCol="0" anchor="ctr"/>
          <a:lstStyle/>
          <a:p>
            <a:pPr indent="0" marL="0">
              <a:buNone/>
            </a:pPr>
            <a:r>
              <a:rPr lang="en-US" sz="1500" b="1" dirty="0">
                <a:solidFill>
                  <a:srgbClr val="2FA89A"/>
                </a:solidFill>
                <a:latin typeface="Cambria" pitchFamily="34" charset="0"/>
                <a:ea typeface="Cambria" pitchFamily="34" charset="-122"/>
                <a:cs typeface="Cambria" pitchFamily="34" charset="-120"/>
              </a:rPr>
              <a:t>Opportunities</a:t>
            </a:r>
            <a:endParaRPr lang="en-US" sz="1500" dirty="0"/>
          </a:p>
        </p:txBody>
      </p:sp>
      <p:sp>
        <p:nvSpPr>
          <p:cNvPr id="15" name="Text 13"/>
          <p:cNvSpPr/>
          <p:nvPr/>
        </p:nvSpPr>
        <p:spPr>
          <a:xfrm>
            <a:off x="4892040" y="4325112"/>
            <a:ext cx="822960" cy="320040"/>
          </a:xfrm>
          <a:prstGeom prst="rect">
            <a:avLst/>
          </a:prstGeom>
          <a:noFill/>
          <a:ln/>
        </p:spPr>
        <p:txBody>
          <a:bodyPr wrap="square" lIns="0" tIns="0" rIns="0" bIns="0" rtlCol="0" anchor="ctr"/>
          <a:lstStyle/>
          <a:p>
            <a:pPr algn="r" indent="0" marL="0">
              <a:buNone/>
            </a:pPr>
            <a:r>
              <a:rPr lang="en-US" sz="1100" b="1" dirty="0">
                <a:solidFill>
                  <a:srgbClr val="2FA89A"/>
                </a:solidFill>
                <a:latin typeface="Calibri" pitchFamily="34" charset="0"/>
                <a:ea typeface="Calibri" pitchFamily="34" charset="-122"/>
                <a:cs typeface="Calibri" pitchFamily="34" charset="-120"/>
              </a:rPr>
              <a:t>기회</a:t>
            </a:r>
            <a:endParaRPr lang="en-US" sz="1100" dirty="0"/>
          </a:p>
        </p:txBody>
      </p:sp>
      <p:sp>
        <p:nvSpPr>
          <p:cNvPr id="16" name="Text 14"/>
          <p:cNvSpPr/>
          <p:nvPr/>
        </p:nvSpPr>
        <p:spPr>
          <a:xfrm>
            <a:off x="822960" y="4690872"/>
            <a:ext cx="4846320" cy="1600200"/>
          </a:xfrm>
          <a:prstGeom prst="rect">
            <a:avLst/>
          </a:prstGeom>
          <a:noFill/>
          <a:ln/>
        </p:spPr>
        <p:txBody>
          <a:bodyPr wrap="square" lIns="0" tIns="0" rIns="0" bIns="0" rtlCol="0" anchor="ctr"/>
          <a:lstStyle/>
          <a:p>
            <a:pPr marL="152400" indent="-152400">
              <a:lnSpc>
                <a:spcPct val="120000"/>
              </a:lnSpc>
              <a:buSzPct val="100000"/>
              <a:buChar char="•"/>
            </a:pPr>
            <a:r>
              <a:rPr lang="en-US" sz="1030" dirty="0">
                <a:solidFill>
                  <a:srgbClr val="3A3D4A"/>
                </a:solidFill>
                <a:latin typeface="Calibri" pitchFamily="34" charset="0"/>
                <a:ea typeface="Calibri" pitchFamily="34" charset="-122"/>
                <a:cs typeface="Calibri" pitchFamily="34" charset="-120"/>
              </a:rPr>
              <a:t>마비노기M 사례로 '공백 리스크'가 정량 검증됨 — 선제적 파이프라인 관리로 차별화 가능</a:t>
            </a:r>
            <a:endParaRPr lang="en-US" sz="1030" dirty="0"/>
          </a:p>
          <a:p>
            <a:pPr marL="152400" indent="-152400">
              <a:lnSpc>
                <a:spcPct val="120000"/>
              </a:lnSpc>
              <a:buSzPct val="100000"/>
              <a:buChar char="•"/>
            </a:pPr>
            <a:r>
              <a:rPr lang="en-US" sz="1030" dirty="0">
                <a:solidFill>
                  <a:srgbClr val="3A3D4A"/>
                </a:solidFill>
                <a:latin typeface="Calibri" pitchFamily="34" charset="0"/>
                <a:ea typeface="Calibri" pitchFamily="34" charset="-122"/>
                <a:cs typeface="Calibri" pitchFamily="34" charset="-120"/>
              </a:rPr>
              <a:t>검은사막M의 트래킹 이탈로 생긴 성숙기 MMORPG 상위권 공백</a:t>
            </a:r>
            <a:endParaRPr lang="en-US" sz="1030" dirty="0"/>
          </a:p>
          <a:p>
            <a:pPr marL="152400" indent="-152400">
              <a:lnSpc>
                <a:spcPct val="120000"/>
              </a:lnSpc>
              <a:buSzPct val="100000"/>
              <a:buChar char="•"/>
            </a:pPr>
            <a:r>
              <a:rPr lang="en-US" sz="1030" dirty="0">
                <a:solidFill>
                  <a:srgbClr val="3A3D4A"/>
                </a:solidFill>
                <a:latin typeface="Calibri" pitchFamily="34" charset="0"/>
                <a:ea typeface="Calibri" pitchFamily="34" charset="-122"/>
                <a:cs typeface="Calibri" pitchFamily="34" charset="-120"/>
              </a:rPr>
              <a:t>NC/아이온2의 '저지출·고효율' 모델을 채널 다각화의 벤치마크로 활용 가능</a:t>
            </a:r>
            <a:endParaRPr lang="en-US" sz="1030" dirty="0"/>
          </a:p>
        </p:txBody>
      </p:sp>
      <p:sp>
        <p:nvSpPr>
          <p:cNvPr id="17" name="Shape 15"/>
          <p:cNvSpPr/>
          <p:nvPr/>
        </p:nvSpPr>
        <p:spPr>
          <a:xfrm>
            <a:off x="6217920" y="4160520"/>
            <a:ext cx="5394960" cy="2286000"/>
          </a:xfrm>
          <a:prstGeom prst="roundRect">
            <a:avLst>
              <a:gd name="adj" fmla="val 2800"/>
            </a:avLst>
          </a:prstGeom>
          <a:solidFill>
            <a:srgbClr val="F5F0FA"/>
          </a:solidFill>
          <a:ln/>
        </p:spPr>
      </p:sp>
      <p:sp>
        <p:nvSpPr>
          <p:cNvPr id="18" name="Text 16"/>
          <p:cNvSpPr/>
          <p:nvPr/>
        </p:nvSpPr>
        <p:spPr>
          <a:xfrm>
            <a:off x="6492240" y="4325112"/>
            <a:ext cx="3931920" cy="320040"/>
          </a:xfrm>
          <a:prstGeom prst="rect">
            <a:avLst/>
          </a:prstGeom>
          <a:noFill/>
          <a:ln/>
        </p:spPr>
        <p:txBody>
          <a:bodyPr wrap="square" lIns="0" tIns="0" rIns="0" bIns="0" rtlCol="0" anchor="ctr"/>
          <a:lstStyle/>
          <a:p>
            <a:pPr indent="0" marL="0">
              <a:buNone/>
            </a:pPr>
            <a:r>
              <a:rPr lang="en-US" sz="1500" b="1" dirty="0">
                <a:solidFill>
                  <a:srgbClr val="6B4FA0"/>
                </a:solidFill>
                <a:latin typeface="Cambria" pitchFamily="34" charset="0"/>
                <a:ea typeface="Cambria" pitchFamily="34" charset="-122"/>
                <a:cs typeface="Cambria" pitchFamily="34" charset="-120"/>
              </a:rPr>
              <a:t>Threats</a:t>
            </a:r>
            <a:endParaRPr lang="en-US" sz="1500" dirty="0"/>
          </a:p>
        </p:txBody>
      </p:sp>
      <p:sp>
        <p:nvSpPr>
          <p:cNvPr id="19" name="Text 17"/>
          <p:cNvSpPr/>
          <p:nvPr/>
        </p:nvSpPr>
        <p:spPr>
          <a:xfrm>
            <a:off x="10561320" y="4325112"/>
            <a:ext cx="822960" cy="320040"/>
          </a:xfrm>
          <a:prstGeom prst="rect">
            <a:avLst/>
          </a:prstGeom>
          <a:noFill/>
          <a:ln/>
        </p:spPr>
        <p:txBody>
          <a:bodyPr wrap="square" lIns="0" tIns="0" rIns="0" bIns="0" rtlCol="0" anchor="ctr"/>
          <a:lstStyle/>
          <a:p>
            <a:pPr algn="r" indent="0" marL="0">
              <a:buNone/>
            </a:pPr>
            <a:r>
              <a:rPr lang="en-US" sz="1100" b="1" dirty="0">
                <a:solidFill>
                  <a:srgbClr val="6B4FA0"/>
                </a:solidFill>
                <a:latin typeface="Calibri" pitchFamily="34" charset="0"/>
                <a:ea typeface="Calibri" pitchFamily="34" charset="-122"/>
                <a:cs typeface="Calibri" pitchFamily="34" charset="-120"/>
              </a:rPr>
              <a:t>위협</a:t>
            </a:r>
            <a:endParaRPr lang="en-US" sz="1100" dirty="0"/>
          </a:p>
        </p:txBody>
      </p:sp>
      <p:sp>
        <p:nvSpPr>
          <p:cNvPr id="20" name="Text 18"/>
          <p:cNvSpPr/>
          <p:nvPr/>
        </p:nvSpPr>
        <p:spPr>
          <a:xfrm>
            <a:off x="6492240" y="4690872"/>
            <a:ext cx="4846320" cy="1600200"/>
          </a:xfrm>
          <a:prstGeom prst="rect">
            <a:avLst/>
          </a:prstGeom>
          <a:noFill/>
          <a:ln/>
        </p:spPr>
        <p:txBody>
          <a:bodyPr wrap="square" lIns="0" tIns="0" rIns="0" bIns="0" rtlCol="0" anchor="ctr"/>
          <a:lstStyle/>
          <a:p>
            <a:pPr marL="152400" indent="-152400">
              <a:lnSpc>
                <a:spcPct val="120000"/>
              </a:lnSpc>
              <a:buSzPct val="100000"/>
              <a:buChar char="•"/>
            </a:pPr>
            <a:r>
              <a:rPr lang="en-US" sz="1030" dirty="0">
                <a:solidFill>
                  <a:srgbClr val="3A3D4A"/>
                </a:solidFill>
                <a:latin typeface="Calibri" pitchFamily="34" charset="0"/>
                <a:ea typeface="Calibri" pitchFamily="34" charset="-122"/>
                <a:cs typeface="Calibri" pitchFamily="34" charset="-120"/>
              </a:rPr>
              <a:t>아이온2식 '무중단 시즌 업데이트 + 저비용 고효율 UA' 신작 압박</a:t>
            </a:r>
            <a:endParaRPr lang="en-US" sz="1030" dirty="0"/>
          </a:p>
          <a:p>
            <a:pPr marL="152400" indent="-152400">
              <a:lnSpc>
                <a:spcPct val="120000"/>
              </a:lnSpc>
              <a:buSzPct val="100000"/>
              <a:buChar char="•"/>
            </a:pPr>
            <a:r>
              <a:rPr lang="en-US" sz="1030" dirty="0">
                <a:solidFill>
                  <a:srgbClr val="3A3D4A"/>
                </a:solidFill>
                <a:latin typeface="Calibri" pitchFamily="34" charset="0"/>
                <a:ea typeface="Calibri" pitchFamily="34" charset="-122"/>
                <a:cs typeface="Calibri" pitchFamily="34" charset="-120"/>
              </a:rPr>
              <a:t>경쟁사 대비 낮은 업데이트 빈도가 장기적으로 IP 피로도 가속화 리스크</a:t>
            </a:r>
            <a:endParaRPr lang="en-US" sz="1030" dirty="0"/>
          </a:p>
          <a:p>
            <a:pPr marL="152400" indent="-152400">
              <a:lnSpc>
                <a:spcPct val="120000"/>
              </a:lnSpc>
              <a:buSzPct val="100000"/>
              <a:buChar char="•"/>
            </a:pPr>
            <a:r>
              <a:rPr lang="en-US" sz="1030" dirty="0">
                <a:solidFill>
                  <a:srgbClr val="3A3D4A"/>
                </a:solidFill>
                <a:latin typeface="Calibri" pitchFamily="34" charset="0"/>
                <a:ea typeface="Calibri" pitchFamily="34" charset="-122"/>
                <a:cs typeface="Calibri" pitchFamily="34" charset="-120"/>
              </a:rPr>
              <a:t>성숙기 IP 특성상 대규모 반등 이후 자연 감쇠 속도가 빠름</a:t>
            </a:r>
            <a:endParaRPr lang="en-US" sz="103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lIns="0" tIns="0" rIns="0" bIns="0" rtlCol="0" anchor="ctr"/>
          <a:lstStyle/>
          <a:p>
            <a:pPr indent="0" marL="0">
              <a:buNone/>
            </a:pPr>
            <a:r>
              <a:rPr lang="en-US" sz="1250" b="1" spc="200" kern="0" dirty="0">
                <a:solidFill>
                  <a:srgbClr val="F0692B"/>
                </a:solidFill>
                <a:latin typeface="Calibri" pitchFamily="34" charset="0"/>
                <a:ea typeface="Calibri" pitchFamily="34" charset="-122"/>
                <a:cs typeface="Calibri" pitchFamily="34" charset="-120"/>
              </a:rPr>
              <a:t>05 · STRATEGY &amp; ROADMAP</a:t>
            </a:r>
            <a:endParaRPr lang="en-US" sz="1250" dirty="0"/>
          </a:p>
        </p:txBody>
      </p:sp>
      <p:sp>
        <p:nvSpPr>
          <p:cNvPr id="3" name="Text 1"/>
          <p:cNvSpPr/>
          <p:nvPr/>
        </p:nvSpPr>
        <p:spPr>
          <a:xfrm>
            <a:off x="548640" y="749808"/>
            <a:ext cx="10789920" cy="640080"/>
          </a:xfrm>
          <a:prstGeom prst="rect">
            <a:avLst/>
          </a:prstGeom>
          <a:noFill/>
          <a:ln/>
        </p:spPr>
        <p:txBody>
          <a:bodyPr wrap="square" lIns="0" tIns="0" rIns="0" bIns="0" rtlCol="0" anchor="ctr"/>
          <a:lstStyle/>
          <a:p>
            <a:pPr indent="0" marL="0">
              <a:buNone/>
            </a:pPr>
            <a:r>
              <a:rPr lang="en-US" sz="2800" b="1" dirty="0">
                <a:solidFill>
                  <a:srgbClr val="1C1E29"/>
                </a:solidFill>
                <a:latin typeface="Cambria" pitchFamily="34" charset="0"/>
                <a:ea typeface="Cambria" pitchFamily="34" charset="-122"/>
                <a:cs typeface="Cambria" pitchFamily="34" charset="-120"/>
              </a:rPr>
              <a:t>리브랜딩 전략 4대 방향</a:t>
            </a:r>
            <a:endParaRPr lang="en-US" sz="2800" dirty="0"/>
          </a:p>
        </p:txBody>
      </p:sp>
      <p:sp>
        <p:nvSpPr>
          <p:cNvPr id="4" name="Text 2"/>
          <p:cNvSpPr/>
          <p:nvPr/>
        </p:nvSpPr>
        <p:spPr>
          <a:xfrm>
            <a:off x="11365992" y="6446520"/>
            <a:ext cx="548640" cy="274320"/>
          </a:xfrm>
          <a:prstGeom prst="rect">
            <a:avLst/>
          </a:prstGeom>
          <a:noFill/>
          <a:ln/>
        </p:spPr>
        <p:txBody>
          <a:bodyPr wrap="square" lIns="0" tIns="0" rIns="0" bIns="0" rtlCol="0" anchor="ctr"/>
          <a:lstStyle/>
          <a:p>
            <a:pPr algn="r" indent="0" marL="0">
              <a:buNone/>
            </a:pPr>
            <a:r>
              <a:rPr lang="en-US" sz="900" dirty="0">
                <a:solidFill>
                  <a:srgbClr val="A8ABB8"/>
                </a:solidFill>
                <a:latin typeface="Calibri" pitchFamily="34" charset="0"/>
                <a:ea typeface="Calibri" pitchFamily="34" charset="-122"/>
                <a:cs typeface="Calibri" pitchFamily="34" charset="-120"/>
              </a:rPr>
              <a:t>24</a:t>
            </a:r>
            <a:endParaRPr lang="en-US" sz="900" dirty="0"/>
          </a:p>
        </p:txBody>
      </p:sp>
      <p:sp>
        <p:nvSpPr>
          <p:cNvPr id="5" name="Shape 3"/>
          <p:cNvSpPr/>
          <p:nvPr/>
        </p:nvSpPr>
        <p:spPr>
          <a:xfrm>
            <a:off x="548640" y="1645920"/>
            <a:ext cx="5394960" cy="2240280"/>
          </a:xfrm>
          <a:prstGeom prst="roundRect">
            <a:avLst>
              <a:gd name="adj" fmla="val 2857"/>
            </a:avLst>
          </a:prstGeom>
          <a:solidFill>
            <a:srgbClr val="FAFAFB"/>
          </a:solidFill>
          <a:ln w="12700">
            <a:solidFill>
              <a:srgbClr val="EBEBF0"/>
            </a:solidFill>
            <a:prstDash val="solid"/>
          </a:ln>
        </p:spPr>
      </p:sp>
      <p:sp>
        <p:nvSpPr>
          <p:cNvPr id="6" name="Shape 4"/>
          <p:cNvSpPr/>
          <p:nvPr/>
        </p:nvSpPr>
        <p:spPr>
          <a:xfrm>
            <a:off x="822960" y="1901952"/>
            <a:ext cx="640080" cy="640080"/>
          </a:xfrm>
          <a:prstGeom prst="ellipse">
            <a:avLst/>
          </a:prstGeom>
          <a:solidFill>
            <a:srgbClr val="F0692B"/>
          </a:solidFill>
          <a:ln/>
        </p:spPr>
      </p:sp>
      <p:sp>
        <p:nvSpPr>
          <p:cNvPr id="7" name="Text 5"/>
          <p:cNvSpPr/>
          <p:nvPr/>
        </p:nvSpPr>
        <p:spPr>
          <a:xfrm>
            <a:off x="822960" y="1901952"/>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6"/>
          <p:cNvSpPr/>
          <p:nvPr/>
        </p:nvSpPr>
        <p:spPr>
          <a:xfrm>
            <a:off x="1645920" y="1920240"/>
            <a:ext cx="4023360" cy="594360"/>
          </a:xfrm>
          <a:prstGeom prst="rect">
            <a:avLst/>
          </a:prstGeom>
          <a:noFill/>
          <a:ln/>
        </p:spPr>
        <p:txBody>
          <a:bodyPr wrap="square" lIns="0" tIns="0" rIns="0" bIns="0" rtlCol="0" anchor="ctr"/>
          <a:lstStyle/>
          <a:p>
            <a:pPr indent="0" marL="0">
              <a:buNone/>
            </a:pPr>
            <a:r>
              <a:rPr lang="en-US" sz="1450" b="1" dirty="0">
                <a:solidFill>
                  <a:srgbClr val="1C1E29"/>
                </a:solidFill>
                <a:latin typeface="Cambria" pitchFamily="34" charset="0"/>
                <a:ea typeface="Cambria" pitchFamily="34" charset="-122"/>
                <a:cs typeface="Cambria" pitchFamily="34" charset="-120"/>
              </a:rPr>
              <a:t>콘텐츠 공백 제로화</a:t>
            </a:r>
            <a:endParaRPr lang="en-US" sz="1450" dirty="0"/>
          </a:p>
        </p:txBody>
      </p:sp>
      <p:sp>
        <p:nvSpPr>
          <p:cNvPr id="9" name="Text 7"/>
          <p:cNvSpPr/>
          <p:nvPr/>
        </p:nvSpPr>
        <p:spPr>
          <a:xfrm>
            <a:off x="822960" y="2651760"/>
            <a:ext cx="4846320" cy="1051560"/>
          </a:xfrm>
          <a:prstGeom prst="rect">
            <a:avLst/>
          </a:prstGeom>
          <a:noFill/>
          <a:ln/>
        </p:spPr>
        <p:txBody>
          <a:bodyPr wrap="square" lIns="0" tIns="0" rIns="0" bIns="0" rtlCol="0" anchor="ctr"/>
          <a:lstStyle/>
          <a:p>
            <a:pPr indent="0" marL="0">
              <a:lnSpc>
                <a:spcPct val="125000"/>
              </a:lnSpc>
              <a:buNone/>
            </a:pPr>
            <a:r>
              <a:rPr lang="en-US" sz="1080" dirty="0">
                <a:solidFill>
                  <a:srgbClr val="444858"/>
                </a:solidFill>
                <a:latin typeface="Calibri" pitchFamily="34" charset="0"/>
                <a:ea typeface="Calibri" pitchFamily="34" charset="-122"/>
                <a:cs typeface="Calibri" pitchFamily="34" charset="-120"/>
              </a:rPr>
              <a:t>RE:BOOST 이후 분기당 최소 1건 이상 대형 업데이트 파이프라인 상시 확보. 마비노기M의 4월 공백 학습을 표준 캘린더에 반영.</a:t>
            </a:r>
            <a:endParaRPr lang="en-US" sz="1080" dirty="0"/>
          </a:p>
        </p:txBody>
      </p:sp>
      <p:sp>
        <p:nvSpPr>
          <p:cNvPr id="10" name="Shape 8"/>
          <p:cNvSpPr/>
          <p:nvPr/>
        </p:nvSpPr>
        <p:spPr>
          <a:xfrm>
            <a:off x="6217920" y="1645920"/>
            <a:ext cx="5394960" cy="2240280"/>
          </a:xfrm>
          <a:prstGeom prst="roundRect">
            <a:avLst>
              <a:gd name="adj" fmla="val 2857"/>
            </a:avLst>
          </a:prstGeom>
          <a:solidFill>
            <a:srgbClr val="FAFAFB"/>
          </a:solidFill>
          <a:ln w="12700">
            <a:solidFill>
              <a:srgbClr val="EBEBF0"/>
            </a:solidFill>
            <a:prstDash val="solid"/>
          </a:ln>
        </p:spPr>
      </p:sp>
      <p:sp>
        <p:nvSpPr>
          <p:cNvPr id="11" name="Shape 9"/>
          <p:cNvSpPr/>
          <p:nvPr/>
        </p:nvSpPr>
        <p:spPr>
          <a:xfrm>
            <a:off x="6492240" y="1901952"/>
            <a:ext cx="640080" cy="640080"/>
          </a:xfrm>
          <a:prstGeom prst="ellipse">
            <a:avLst/>
          </a:prstGeom>
          <a:solidFill>
            <a:srgbClr val="6B4FA0"/>
          </a:solidFill>
          <a:ln/>
        </p:spPr>
      </p:sp>
      <p:sp>
        <p:nvSpPr>
          <p:cNvPr id="12" name="Text 10"/>
          <p:cNvSpPr/>
          <p:nvPr/>
        </p:nvSpPr>
        <p:spPr>
          <a:xfrm>
            <a:off x="6492240" y="1901952"/>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3" name="Text 11"/>
          <p:cNvSpPr/>
          <p:nvPr/>
        </p:nvSpPr>
        <p:spPr>
          <a:xfrm>
            <a:off x="7315200" y="1920240"/>
            <a:ext cx="4023360" cy="594360"/>
          </a:xfrm>
          <a:prstGeom prst="rect">
            <a:avLst/>
          </a:prstGeom>
          <a:noFill/>
          <a:ln/>
        </p:spPr>
        <p:txBody>
          <a:bodyPr wrap="square" lIns="0" tIns="0" rIns="0" bIns="0" rtlCol="0" anchor="ctr"/>
          <a:lstStyle/>
          <a:p>
            <a:pPr indent="0" marL="0">
              <a:buNone/>
            </a:pPr>
            <a:r>
              <a:rPr lang="en-US" sz="1450" b="1" dirty="0">
                <a:solidFill>
                  <a:srgbClr val="1C1E29"/>
                </a:solidFill>
                <a:latin typeface="Cambria" pitchFamily="34" charset="0"/>
                <a:ea typeface="Cambria" pitchFamily="34" charset="-122"/>
                <a:cs typeface="Cambria" pitchFamily="34" charset="-120"/>
              </a:rPr>
              <a:t>지출보다 리듬 — UA 효율화</a:t>
            </a:r>
            <a:endParaRPr lang="en-US" sz="1450" dirty="0"/>
          </a:p>
        </p:txBody>
      </p:sp>
      <p:sp>
        <p:nvSpPr>
          <p:cNvPr id="14" name="Text 12"/>
          <p:cNvSpPr/>
          <p:nvPr/>
        </p:nvSpPr>
        <p:spPr>
          <a:xfrm>
            <a:off x="6492240" y="2651760"/>
            <a:ext cx="4846320" cy="1051560"/>
          </a:xfrm>
          <a:prstGeom prst="rect">
            <a:avLst/>
          </a:prstGeom>
          <a:noFill/>
          <a:ln/>
        </p:spPr>
        <p:txBody>
          <a:bodyPr wrap="square" lIns="0" tIns="0" rIns="0" bIns="0" rtlCol="0" anchor="ctr"/>
          <a:lstStyle/>
          <a:p>
            <a:pPr indent="0" marL="0">
              <a:lnSpc>
                <a:spcPct val="125000"/>
              </a:lnSpc>
              <a:buNone/>
            </a:pPr>
            <a:r>
              <a:rPr lang="en-US" sz="1080" dirty="0">
                <a:solidFill>
                  <a:srgbClr val="444858"/>
                </a:solidFill>
                <a:latin typeface="Calibri" pitchFamily="34" charset="0"/>
                <a:ea typeface="Calibri" pitchFamily="34" charset="-122"/>
                <a:cs typeface="Calibri" pitchFamily="34" charset="-120"/>
              </a:rPr>
              <a:t>NC/아이온2 사례처럼 광고비 절감과 성과 개선을 동시에 노리는 저비용·고효율 채널(라이브방송·커뮤니티)로 UA 믹스 재조정.</a:t>
            </a:r>
            <a:endParaRPr lang="en-US" sz="1080" dirty="0"/>
          </a:p>
        </p:txBody>
      </p:sp>
      <p:sp>
        <p:nvSpPr>
          <p:cNvPr id="15" name="Shape 13"/>
          <p:cNvSpPr/>
          <p:nvPr/>
        </p:nvSpPr>
        <p:spPr>
          <a:xfrm>
            <a:off x="548640" y="4114800"/>
            <a:ext cx="5394960" cy="2240280"/>
          </a:xfrm>
          <a:prstGeom prst="roundRect">
            <a:avLst>
              <a:gd name="adj" fmla="val 2857"/>
            </a:avLst>
          </a:prstGeom>
          <a:solidFill>
            <a:srgbClr val="FAFAFB"/>
          </a:solidFill>
          <a:ln w="12700">
            <a:solidFill>
              <a:srgbClr val="EBEBF0"/>
            </a:solidFill>
            <a:prstDash val="solid"/>
          </a:ln>
        </p:spPr>
      </p:sp>
      <p:sp>
        <p:nvSpPr>
          <p:cNvPr id="16" name="Shape 14"/>
          <p:cNvSpPr/>
          <p:nvPr/>
        </p:nvSpPr>
        <p:spPr>
          <a:xfrm>
            <a:off x="822960" y="4370832"/>
            <a:ext cx="640080" cy="640080"/>
          </a:xfrm>
          <a:prstGeom prst="ellipse">
            <a:avLst/>
          </a:prstGeom>
          <a:solidFill>
            <a:srgbClr val="E8B84B"/>
          </a:solidFill>
          <a:ln/>
        </p:spPr>
      </p:sp>
      <p:sp>
        <p:nvSpPr>
          <p:cNvPr id="17" name="Text 15"/>
          <p:cNvSpPr/>
          <p:nvPr/>
        </p:nvSpPr>
        <p:spPr>
          <a:xfrm>
            <a:off x="822960" y="4370832"/>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8" name="Text 16"/>
          <p:cNvSpPr/>
          <p:nvPr/>
        </p:nvSpPr>
        <p:spPr>
          <a:xfrm>
            <a:off x="1645920" y="4389120"/>
            <a:ext cx="4023360" cy="594360"/>
          </a:xfrm>
          <a:prstGeom prst="rect">
            <a:avLst/>
          </a:prstGeom>
          <a:noFill/>
          <a:ln/>
        </p:spPr>
        <p:txBody>
          <a:bodyPr wrap="square" lIns="0" tIns="0" rIns="0" bIns="0" rtlCol="0" anchor="ctr"/>
          <a:lstStyle/>
          <a:p>
            <a:pPr indent="0" marL="0">
              <a:buNone/>
            </a:pPr>
            <a:r>
              <a:rPr lang="en-US" sz="1450" b="1" dirty="0">
                <a:solidFill>
                  <a:srgbClr val="1C1E29"/>
                </a:solidFill>
                <a:latin typeface="Cambria" pitchFamily="34" charset="0"/>
                <a:ea typeface="Cambria" pitchFamily="34" charset="-122"/>
                <a:cs typeface="Cambria" pitchFamily="34" charset="-120"/>
              </a:rPr>
              <a:t>타이틀 단위 UA 계측 체계 구축</a:t>
            </a:r>
            <a:endParaRPr lang="en-US" sz="1450" dirty="0"/>
          </a:p>
        </p:txBody>
      </p:sp>
      <p:sp>
        <p:nvSpPr>
          <p:cNvPr id="19" name="Text 17"/>
          <p:cNvSpPr/>
          <p:nvPr/>
        </p:nvSpPr>
        <p:spPr>
          <a:xfrm>
            <a:off x="822960" y="5120640"/>
            <a:ext cx="4846320" cy="1051560"/>
          </a:xfrm>
          <a:prstGeom prst="rect">
            <a:avLst/>
          </a:prstGeom>
          <a:noFill/>
          <a:ln/>
        </p:spPr>
        <p:txBody>
          <a:bodyPr wrap="square" lIns="0" tIns="0" rIns="0" bIns="0" rtlCol="0" anchor="ctr"/>
          <a:lstStyle/>
          <a:p>
            <a:pPr indent="0" marL="0">
              <a:lnSpc>
                <a:spcPct val="125000"/>
              </a:lnSpc>
              <a:buNone/>
            </a:pPr>
            <a:r>
              <a:rPr lang="en-US" sz="1080" dirty="0">
                <a:solidFill>
                  <a:srgbClr val="444858"/>
                </a:solidFill>
                <a:latin typeface="Calibri" pitchFamily="34" charset="0"/>
                <a:ea typeface="Calibri" pitchFamily="34" charset="-122"/>
                <a:cs typeface="Calibri" pitchFamily="34" charset="-120"/>
              </a:rPr>
              <a:t>현재는 회사 전체 광고비만 공시되어 타이틀별 CPI 산출이 불가. 내부적으로 타이틀별 집행액·설치수 트래킹을 구축해 실측 CPI 확보.</a:t>
            </a:r>
            <a:endParaRPr lang="en-US" sz="1080" dirty="0"/>
          </a:p>
        </p:txBody>
      </p:sp>
      <p:sp>
        <p:nvSpPr>
          <p:cNvPr id="20" name="Shape 18"/>
          <p:cNvSpPr/>
          <p:nvPr/>
        </p:nvSpPr>
        <p:spPr>
          <a:xfrm>
            <a:off x="6217920" y="4114800"/>
            <a:ext cx="5394960" cy="2240280"/>
          </a:xfrm>
          <a:prstGeom prst="roundRect">
            <a:avLst>
              <a:gd name="adj" fmla="val 2857"/>
            </a:avLst>
          </a:prstGeom>
          <a:solidFill>
            <a:srgbClr val="FAFAFB"/>
          </a:solidFill>
          <a:ln w="12700">
            <a:solidFill>
              <a:srgbClr val="EBEBF0"/>
            </a:solidFill>
            <a:prstDash val="solid"/>
          </a:ln>
        </p:spPr>
      </p:sp>
      <p:sp>
        <p:nvSpPr>
          <p:cNvPr id="21" name="Shape 19"/>
          <p:cNvSpPr/>
          <p:nvPr/>
        </p:nvSpPr>
        <p:spPr>
          <a:xfrm>
            <a:off x="6492240" y="4370832"/>
            <a:ext cx="640080" cy="640080"/>
          </a:xfrm>
          <a:prstGeom prst="ellipse">
            <a:avLst/>
          </a:prstGeom>
          <a:solidFill>
            <a:srgbClr val="2FA89A"/>
          </a:solidFill>
          <a:ln/>
        </p:spPr>
      </p:sp>
      <p:sp>
        <p:nvSpPr>
          <p:cNvPr id="22" name="Text 20"/>
          <p:cNvSpPr/>
          <p:nvPr/>
        </p:nvSpPr>
        <p:spPr>
          <a:xfrm>
            <a:off x="6492240" y="4370832"/>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3" name="Text 21"/>
          <p:cNvSpPr/>
          <p:nvPr/>
        </p:nvSpPr>
        <p:spPr>
          <a:xfrm>
            <a:off x="7315200" y="4389120"/>
            <a:ext cx="4023360" cy="594360"/>
          </a:xfrm>
          <a:prstGeom prst="rect">
            <a:avLst/>
          </a:prstGeom>
          <a:noFill/>
          <a:ln/>
        </p:spPr>
        <p:txBody>
          <a:bodyPr wrap="square" lIns="0" tIns="0" rIns="0" bIns="0" rtlCol="0" anchor="ctr"/>
          <a:lstStyle/>
          <a:p>
            <a:pPr indent="0" marL="0">
              <a:buNone/>
            </a:pPr>
            <a:r>
              <a:rPr lang="en-US" sz="1450" b="1" dirty="0">
                <a:solidFill>
                  <a:srgbClr val="1C1E29"/>
                </a:solidFill>
                <a:latin typeface="Cambria" pitchFamily="34" charset="0"/>
                <a:ea typeface="Cambria" pitchFamily="34" charset="-122"/>
                <a:cs typeface="Cambria" pitchFamily="34" charset="-120"/>
              </a:rPr>
              <a:t>성숙기 IP 재탄생 서사</a:t>
            </a:r>
            <a:endParaRPr lang="en-US" sz="1450" dirty="0"/>
          </a:p>
        </p:txBody>
      </p:sp>
      <p:sp>
        <p:nvSpPr>
          <p:cNvPr id="24" name="Text 22"/>
          <p:cNvSpPr/>
          <p:nvPr/>
        </p:nvSpPr>
        <p:spPr>
          <a:xfrm>
            <a:off x="6492240" y="5120640"/>
            <a:ext cx="4846320" cy="1051560"/>
          </a:xfrm>
          <a:prstGeom prst="rect">
            <a:avLst/>
          </a:prstGeom>
          <a:noFill/>
          <a:ln/>
        </p:spPr>
        <p:txBody>
          <a:bodyPr wrap="square" lIns="0" tIns="0" rIns="0" bIns="0" rtlCol="0" anchor="ctr"/>
          <a:lstStyle/>
          <a:p>
            <a:pPr indent="0" marL="0">
              <a:lnSpc>
                <a:spcPct val="125000"/>
              </a:lnSpc>
              <a:buNone/>
            </a:pPr>
            <a:r>
              <a:rPr lang="en-US" sz="1080" dirty="0">
                <a:solidFill>
                  <a:srgbClr val="444858"/>
                </a:solidFill>
                <a:latin typeface="Calibri" pitchFamily="34" charset="0"/>
                <a:ea typeface="Calibri" pitchFamily="34" charset="-122"/>
                <a:cs typeface="Calibri" pitchFamily="34" charset="-120"/>
              </a:rPr>
              <a:t>9.8년차 IP의 '리브랜딩'을 리마스터·신규 여정 등 스토리텔링으로 포장, 신규 유저 유입과 복귀 유저를 동시에 겨냥.</a:t>
            </a:r>
            <a:endParaRPr lang="en-US" sz="108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lIns="0" tIns="0" rIns="0" bIns="0" rtlCol="0" anchor="ctr"/>
          <a:lstStyle/>
          <a:p>
            <a:pPr indent="0" marL="0">
              <a:buNone/>
            </a:pPr>
            <a:r>
              <a:rPr lang="en-US" sz="1250" b="1" spc="200" kern="0" dirty="0">
                <a:solidFill>
                  <a:srgbClr val="F0692B"/>
                </a:solidFill>
                <a:latin typeface="Calibri" pitchFamily="34" charset="0"/>
                <a:ea typeface="Calibri" pitchFamily="34" charset="-122"/>
                <a:cs typeface="Calibri" pitchFamily="34" charset="-120"/>
              </a:rPr>
              <a:t>05 · STRATEGY &amp; ROADMAP</a:t>
            </a:r>
            <a:endParaRPr lang="en-US" sz="1250" dirty="0"/>
          </a:p>
        </p:txBody>
      </p:sp>
      <p:sp>
        <p:nvSpPr>
          <p:cNvPr id="3" name="Text 1"/>
          <p:cNvSpPr/>
          <p:nvPr/>
        </p:nvSpPr>
        <p:spPr>
          <a:xfrm>
            <a:off x="548640" y="749808"/>
            <a:ext cx="10789920" cy="640080"/>
          </a:xfrm>
          <a:prstGeom prst="rect">
            <a:avLst/>
          </a:prstGeom>
          <a:noFill/>
          <a:ln/>
        </p:spPr>
        <p:txBody>
          <a:bodyPr wrap="square" lIns="0" tIns="0" rIns="0" bIns="0" rtlCol="0" anchor="ctr"/>
          <a:lstStyle/>
          <a:p>
            <a:pPr indent="0" marL="0">
              <a:buNone/>
            </a:pPr>
            <a:r>
              <a:rPr lang="en-US" sz="2800" b="1" dirty="0">
                <a:solidFill>
                  <a:srgbClr val="1C1E29"/>
                </a:solidFill>
                <a:latin typeface="Cambria" pitchFamily="34" charset="0"/>
                <a:ea typeface="Cambria" pitchFamily="34" charset="-122"/>
                <a:cs typeface="Cambria" pitchFamily="34" charset="-120"/>
              </a:rPr>
              <a:t>실행 로드맵 (2026 Q4 ~ 2027 Q2)</a:t>
            </a:r>
            <a:endParaRPr lang="en-US" sz="2800" dirty="0"/>
          </a:p>
        </p:txBody>
      </p:sp>
      <p:sp>
        <p:nvSpPr>
          <p:cNvPr id="4" name="Text 2"/>
          <p:cNvSpPr/>
          <p:nvPr/>
        </p:nvSpPr>
        <p:spPr>
          <a:xfrm>
            <a:off x="11365992" y="6446520"/>
            <a:ext cx="548640" cy="274320"/>
          </a:xfrm>
          <a:prstGeom prst="rect">
            <a:avLst/>
          </a:prstGeom>
          <a:noFill/>
          <a:ln/>
        </p:spPr>
        <p:txBody>
          <a:bodyPr wrap="square" lIns="0" tIns="0" rIns="0" bIns="0" rtlCol="0" anchor="ctr"/>
          <a:lstStyle/>
          <a:p>
            <a:pPr algn="r" indent="0" marL="0">
              <a:buNone/>
            </a:pPr>
            <a:r>
              <a:rPr lang="en-US" sz="900" dirty="0">
                <a:solidFill>
                  <a:srgbClr val="A8ABB8"/>
                </a:solidFill>
                <a:latin typeface="Calibri" pitchFamily="34" charset="0"/>
                <a:ea typeface="Calibri" pitchFamily="34" charset="-122"/>
                <a:cs typeface="Calibri" pitchFamily="34" charset="-120"/>
              </a:rPr>
              <a:t>25</a:t>
            </a:r>
            <a:endParaRPr lang="en-US" sz="900" dirty="0"/>
          </a:p>
        </p:txBody>
      </p:sp>
      <p:sp>
        <p:nvSpPr>
          <p:cNvPr id="5" name="Shape 3"/>
          <p:cNvSpPr/>
          <p:nvPr/>
        </p:nvSpPr>
        <p:spPr>
          <a:xfrm>
            <a:off x="822960" y="2377440"/>
            <a:ext cx="8183880" cy="0"/>
          </a:xfrm>
          <a:prstGeom prst="line">
            <a:avLst/>
          </a:prstGeom>
          <a:noFill/>
          <a:ln w="25400">
            <a:solidFill>
              <a:srgbClr val="D8D8E0"/>
            </a:solidFill>
            <a:prstDash val="solid"/>
          </a:ln>
        </p:spPr>
      </p:sp>
      <p:sp>
        <p:nvSpPr>
          <p:cNvPr id="6" name="Shape 4"/>
          <p:cNvSpPr/>
          <p:nvPr/>
        </p:nvSpPr>
        <p:spPr>
          <a:xfrm>
            <a:off x="722376" y="2276856"/>
            <a:ext cx="201168" cy="201168"/>
          </a:xfrm>
          <a:prstGeom prst="ellipse">
            <a:avLst/>
          </a:prstGeom>
          <a:solidFill>
            <a:srgbClr val="F0692B"/>
          </a:solidFill>
          <a:ln w="25400">
            <a:solidFill>
              <a:srgbClr val="FFFFFF"/>
            </a:solidFill>
            <a:prstDash val="solid"/>
          </a:ln>
        </p:spPr>
      </p:sp>
      <p:sp>
        <p:nvSpPr>
          <p:cNvPr id="7" name="Text 5"/>
          <p:cNvSpPr/>
          <p:nvPr/>
        </p:nvSpPr>
        <p:spPr>
          <a:xfrm>
            <a:off x="-91440" y="1691640"/>
            <a:ext cx="2194560" cy="320040"/>
          </a:xfrm>
          <a:prstGeom prst="rect">
            <a:avLst/>
          </a:prstGeom>
          <a:noFill/>
          <a:ln/>
        </p:spPr>
        <p:txBody>
          <a:bodyPr wrap="square" lIns="0" tIns="0" rIns="0" bIns="0" rtlCol="0" anchor="ctr"/>
          <a:lstStyle/>
          <a:p>
            <a:pPr indent="0" marL="0">
              <a:buNone/>
            </a:pPr>
            <a:r>
              <a:rPr lang="en-US" sz="1400" b="1" dirty="0">
                <a:solidFill>
                  <a:srgbClr val="F0692B"/>
                </a:solidFill>
                <a:latin typeface="Cambria" pitchFamily="34" charset="0"/>
                <a:ea typeface="Cambria" pitchFamily="34" charset="-122"/>
                <a:cs typeface="Cambria" pitchFamily="34" charset="-120"/>
              </a:rPr>
              <a:t>26 Q4</a:t>
            </a:r>
            <a:endParaRPr lang="en-US" sz="1400" dirty="0"/>
          </a:p>
        </p:txBody>
      </p:sp>
      <p:sp>
        <p:nvSpPr>
          <p:cNvPr id="8" name="Shape 6"/>
          <p:cNvSpPr/>
          <p:nvPr/>
        </p:nvSpPr>
        <p:spPr>
          <a:xfrm>
            <a:off x="-320040" y="2651760"/>
            <a:ext cx="2468880" cy="1874520"/>
          </a:xfrm>
          <a:prstGeom prst="roundRect">
            <a:avLst>
              <a:gd name="adj" fmla="val 3415"/>
            </a:avLst>
          </a:prstGeom>
          <a:solidFill>
            <a:srgbClr val="FAFAFB"/>
          </a:solidFill>
          <a:ln w="12700">
            <a:solidFill>
              <a:srgbClr val="EBEBF0"/>
            </a:solidFill>
            <a:prstDash val="solid"/>
          </a:ln>
        </p:spPr>
      </p:sp>
      <p:sp>
        <p:nvSpPr>
          <p:cNvPr id="9" name="Text 7"/>
          <p:cNvSpPr/>
          <p:nvPr/>
        </p:nvSpPr>
        <p:spPr>
          <a:xfrm>
            <a:off x="-137160" y="2816352"/>
            <a:ext cx="2103120" cy="594360"/>
          </a:xfrm>
          <a:prstGeom prst="rect">
            <a:avLst/>
          </a:prstGeom>
          <a:noFill/>
          <a:ln/>
        </p:spPr>
        <p:txBody>
          <a:bodyPr wrap="square" lIns="0" tIns="0" rIns="0" bIns="0" rtlCol="0" anchor="ctr"/>
          <a:lstStyle/>
          <a:p>
            <a:pPr indent="0" marL="0">
              <a:lnSpc>
                <a:spcPct val="115000"/>
              </a:lnSpc>
              <a:buNone/>
            </a:pPr>
            <a:r>
              <a:rPr lang="en-US" sz="1250" b="1" dirty="0">
                <a:solidFill>
                  <a:srgbClr val="1C1E29"/>
                </a:solidFill>
                <a:latin typeface="Calibri" pitchFamily="34" charset="0"/>
                <a:ea typeface="Calibri" pitchFamily="34" charset="-122"/>
                <a:cs typeface="Calibri" pitchFamily="34" charset="-120"/>
              </a:rPr>
              <a:t>공백 방지 체계 구축</a:t>
            </a:r>
            <a:endParaRPr lang="en-US" sz="1250" dirty="0"/>
          </a:p>
        </p:txBody>
      </p:sp>
      <p:sp>
        <p:nvSpPr>
          <p:cNvPr id="10" name="Text 8"/>
          <p:cNvSpPr/>
          <p:nvPr/>
        </p:nvSpPr>
        <p:spPr>
          <a:xfrm>
            <a:off x="-137160" y="3429000"/>
            <a:ext cx="2103120" cy="1005840"/>
          </a:xfrm>
          <a:prstGeom prst="rect">
            <a:avLst/>
          </a:prstGeom>
          <a:noFill/>
          <a:ln/>
        </p:spPr>
        <p:txBody>
          <a:bodyPr wrap="square" lIns="0" tIns="0" rIns="0" bIns="0" rtlCol="0" anchor="ctr"/>
          <a:lstStyle/>
          <a:p>
            <a:pPr indent="0" marL="0">
              <a:lnSpc>
                <a:spcPct val="120000"/>
              </a:lnSpc>
              <a:buNone/>
            </a:pPr>
            <a:r>
              <a:rPr lang="en-US" sz="980" dirty="0">
                <a:solidFill>
                  <a:srgbClr val="6B6F80"/>
                </a:solidFill>
                <a:latin typeface="Calibri" pitchFamily="34" charset="0"/>
                <a:ea typeface="Calibri" pitchFamily="34" charset="-122"/>
                <a:cs typeface="Calibri" pitchFamily="34" charset="-120"/>
              </a:rPr>
              <a:t>분기별 콘텐츠 캘린더 확정 및 쇼케이스로 Q1 로드맵 선공개</a:t>
            </a:r>
            <a:endParaRPr lang="en-US" sz="980" dirty="0"/>
          </a:p>
        </p:txBody>
      </p:sp>
      <p:sp>
        <p:nvSpPr>
          <p:cNvPr id="11" name="Shape 9"/>
          <p:cNvSpPr/>
          <p:nvPr/>
        </p:nvSpPr>
        <p:spPr>
          <a:xfrm>
            <a:off x="3328416" y="2276856"/>
            <a:ext cx="201168" cy="201168"/>
          </a:xfrm>
          <a:prstGeom prst="ellipse">
            <a:avLst/>
          </a:prstGeom>
          <a:solidFill>
            <a:srgbClr val="6B4FA0"/>
          </a:solidFill>
          <a:ln w="25400">
            <a:solidFill>
              <a:srgbClr val="FFFFFF"/>
            </a:solidFill>
            <a:prstDash val="solid"/>
          </a:ln>
        </p:spPr>
      </p:sp>
      <p:sp>
        <p:nvSpPr>
          <p:cNvPr id="12" name="Text 10"/>
          <p:cNvSpPr/>
          <p:nvPr/>
        </p:nvSpPr>
        <p:spPr>
          <a:xfrm>
            <a:off x="2514600" y="1691640"/>
            <a:ext cx="2194560" cy="320040"/>
          </a:xfrm>
          <a:prstGeom prst="rect">
            <a:avLst/>
          </a:prstGeom>
          <a:noFill/>
          <a:ln/>
        </p:spPr>
        <p:txBody>
          <a:bodyPr wrap="square" lIns="0" tIns="0" rIns="0" bIns="0" rtlCol="0" anchor="ctr"/>
          <a:lstStyle/>
          <a:p>
            <a:pPr indent="0" marL="0">
              <a:buNone/>
            </a:pPr>
            <a:r>
              <a:rPr lang="en-US" sz="1400" b="1" dirty="0">
                <a:solidFill>
                  <a:srgbClr val="6B4FA0"/>
                </a:solidFill>
                <a:latin typeface="Cambria" pitchFamily="34" charset="0"/>
                <a:ea typeface="Cambria" pitchFamily="34" charset="-122"/>
                <a:cs typeface="Cambria" pitchFamily="34" charset="-120"/>
              </a:rPr>
              <a:t>27 Q1</a:t>
            </a:r>
            <a:endParaRPr lang="en-US" sz="1400" dirty="0"/>
          </a:p>
        </p:txBody>
      </p:sp>
      <p:sp>
        <p:nvSpPr>
          <p:cNvPr id="13" name="Shape 11"/>
          <p:cNvSpPr/>
          <p:nvPr/>
        </p:nvSpPr>
        <p:spPr>
          <a:xfrm>
            <a:off x="2286000" y="2651760"/>
            <a:ext cx="2468880" cy="1874520"/>
          </a:xfrm>
          <a:prstGeom prst="roundRect">
            <a:avLst>
              <a:gd name="adj" fmla="val 3415"/>
            </a:avLst>
          </a:prstGeom>
          <a:solidFill>
            <a:srgbClr val="FAFAFB"/>
          </a:solidFill>
          <a:ln w="12700">
            <a:solidFill>
              <a:srgbClr val="EBEBF0"/>
            </a:solidFill>
            <a:prstDash val="solid"/>
          </a:ln>
        </p:spPr>
      </p:sp>
      <p:sp>
        <p:nvSpPr>
          <p:cNvPr id="14" name="Text 12"/>
          <p:cNvSpPr/>
          <p:nvPr/>
        </p:nvSpPr>
        <p:spPr>
          <a:xfrm>
            <a:off x="2468880" y="2816352"/>
            <a:ext cx="2103120" cy="594360"/>
          </a:xfrm>
          <a:prstGeom prst="rect">
            <a:avLst/>
          </a:prstGeom>
          <a:noFill/>
          <a:ln/>
        </p:spPr>
        <p:txBody>
          <a:bodyPr wrap="square" lIns="0" tIns="0" rIns="0" bIns="0" rtlCol="0" anchor="ctr"/>
          <a:lstStyle/>
          <a:p>
            <a:pPr indent="0" marL="0">
              <a:lnSpc>
                <a:spcPct val="115000"/>
              </a:lnSpc>
              <a:buNone/>
            </a:pPr>
            <a:r>
              <a:rPr lang="en-US" sz="1250" b="1" dirty="0">
                <a:solidFill>
                  <a:srgbClr val="1C1E29"/>
                </a:solidFill>
                <a:latin typeface="Calibri" pitchFamily="34" charset="0"/>
                <a:ea typeface="Calibri" pitchFamily="34" charset="-122"/>
                <a:cs typeface="Calibri" pitchFamily="34" charset="-120"/>
              </a:rPr>
              <a:t>UA 계측 체계 파일럿</a:t>
            </a:r>
            <a:endParaRPr lang="en-US" sz="1250" dirty="0"/>
          </a:p>
        </p:txBody>
      </p:sp>
      <p:sp>
        <p:nvSpPr>
          <p:cNvPr id="15" name="Text 13"/>
          <p:cNvSpPr/>
          <p:nvPr/>
        </p:nvSpPr>
        <p:spPr>
          <a:xfrm>
            <a:off x="2468880" y="3429000"/>
            <a:ext cx="2103120" cy="1005840"/>
          </a:xfrm>
          <a:prstGeom prst="rect">
            <a:avLst/>
          </a:prstGeom>
          <a:noFill/>
          <a:ln/>
        </p:spPr>
        <p:txBody>
          <a:bodyPr wrap="square" lIns="0" tIns="0" rIns="0" bIns="0" rtlCol="0" anchor="ctr"/>
          <a:lstStyle/>
          <a:p>
            <a:pPr indent="0" marL="0">
              <a:lnSpc>
                <a:spcPct val="120000"/>
              </a:lnSpc>
              <a:buNone/>
            </a:pPr>
            <a:r>
              <a:rPr lang="en-US" sz="980" dirty="0">
                <a:solidFill>
                  <a:srgbClr val="6B6F80"/>
                </a:solidFill>
                <a:latin typeface="Calibri" pitchFamily="34" charset="0"/>
                <a:ea typeface="Calibri" pitchFamily="34" charset="-122"/>
                <a:cs typeface="Calibri" pitchFamily="34" charset="-120"/>
              </a:rPr>
              <a:t>타이틀 단위 집행액·설치수 트래킹 구축, 메타 의존 비중 단계적 축소</a:t>
            </a:r>
            <a:endParaRPr lang="en-US" sz="980" dirty="0"/>
          </a:p>
        </p:txBody>
      </p:sp>
      <p:sp>
        <p:nvSpPr>
          <p:cNvPr id="16" name="Shape 14"/>
          <p:cNvSpPr/>
          <p:nvPr/>
        </p:nvSpPr>
        <p:spPr>
          <a:xfrm>
            <a:off x="5934456" y="2276856"/>
            <a:ext cx="201168" cy="201168"/>
          </a:xfrm>
          <a:prstGeom prst="ellipse">
            <a:avLst/>
          </a:prstGeom>
          <a:solidFill>
            <a:srgbClr val="2FA89A"/>
          </a:solidFill>
          <a:ln w="25400">
            <a:solidFill>
              <a:srgbClr val="FFFFFF"/>
            </a:solidFill>
            <a:prstDash val="solid"/>
          </a:ln>
        </p:spPr>
      </p:sp>
      <p:sp>
        <p:nvSpPr>
          <p:cNvPr id="17" name="Text 15"/>
          <p:cNvSpPr/>
          <p:nvPr/>
        </p:nvSpPr>
        <p:spPr>
          <a:xfrm>
            <a:off x="5120640" y="1691640"/>
            <a:ext cx="2194560" cy="320040"/>
          </a:xfrm>
          <a:prstGeom prst="rect">
            <a:avLst/>
          </a:prstGeom>
          <a:noFill/>
          <a:ln/>
        </p:spPr>
        <p:txBody>
          <a:bodyPr wrap="square" lIns="0" tIns="0" rIns="0" bIns="0" rtlCol="0" anchor="ctr"/>
          <a:lstStyle/>
          <a:p>
            <a:pPr indent="0" marL="0">
              <a:buNone/>
            </a:pPr>
            <a:r>
              <a:rPr lang="en-US" sz="1400" b="1" dirty="0">
                <a:solidFill>
                  <a:srgbClr val="2FA89A"/>
                </a:solidFill>
                <a:latin typeface="Cambria" pitchFamily="34" charset="0"/>
                <a:ea typeface="Cambria" pitchFamily="34" charset="-122"/>
                <a:cs typeface="Cambria" pitchFamily="34" charset="-120"/>
              </a:rPr>
              <a:t>27 Q1~Q2</a:t>
            </a:r>
            <a:endParaRPr lang="en-US" sz="1400" dirty="0"/>
          </a:p>
        </p:txBody>
      </p:sp>
      <p:sp>
        <p:nvSpPr>
          <p:cNvPr id="18" name="Shape 16"/>
          <p:cNvSpPr/>
          <p:nvPr/>
        </p:nvSpPr>
        <p:spPr>
          <a:xfrm>
            <a:off x="4892040" y="2651760"/>
            <a:ext cx="2468880" cy="1874520"/>
          </a:xfrm>
          <a:prstGeom prst="roundRect">
            <a:avLst>
              <a:gd name="adj" fmla="val 3415"/>
            </a:avLst>
          </a:prstGeom>
          <a:solidFill>
            <a:srgbClr val="FAFAFB"/>
          </a:solidFill>
          <a:ln w="12700">
            <a:solidFill>
              <a:srgbClr val="EBEBF0"/>
            </a:solidFill>
            <a:prstDash val="solid"/>
          </a:ln>
        </p:spPr>
      </p:sp>
      <p:sp>
        <p:nvSpPr>
          <p:cNvPr id="19" name="Text 17"/>
          <p:cNvSpPr/>
          <p:nvPr/>
        </p:nvSpPr>
        <p:spPr>
          <a:xfrm>
            <a:off x="5074920" y="2816352"/>
            <a:ext cx="2103120" cy="594360"/>
          </a:xfrm>
          <a:prstGeom prst="rect">
            <a:avLst/>
          </a:prstGeom>
          <a:noFill/>
          <a:ln/>
        </p:spPr>
        <p:txBody>
          <a:bodyPr wrap="square" lIns="0" tIns="0" rIns="0" bIns="0" rtlCol="0" anchor="ctr"/>
          <a:lstStyle/>
          <a:p>
            <a:pPr indent="0" marL="0">
              <a:lnSpc>
                <a:spcPct val="115000"/>
              </a:lnSpc>
              <a:buNone/>
            </a:pPr>
            <a:r>
              <a:rPr lang="en-US" sz="1250" b="1" dirty="0">
                <a:solidFill>
                  <a:srgbClr val="1C1E29"/>
                </a:solidFill>
                <a:latin typeface="Calibri" pitchFamily="34" charset="0"/>
                <a:ea typeface="Calibri" pitchFamily="34" charset="-122"/>
                <a:cs typeface="Calibri" pitchFamily="34" charset="-120"/>
              </a:rPr>
              <a:t>리브랜딩 캠페인 런칭</a:t>
            </a:r>
            <a:endParaRPr lang="en-US" sz="1250" dirty="0"/>
          </a:p>
        </p:txBody>
      </p:sp>
      <p:sp>
        <p:nvSpPr>
          <p:cNvPr id="20" name="Text 18"/>
          <p:cNvSpPr/>
          <p:nvPr/>
        </p:nvSpPr>
        <p:spPr>
          <a:xfrm>
            <a:off x="5074920" y="3429000"/>
            <a:ext cx="2103120" cy="1005840"/>
          </a:xfrm>
          <a:prstGeom prst="rect">
            <a:avLst/>
          </a:prstGeom>
          <a:noFill/>
          <a:ln/>
        </p:spPr>
        <p:txBody>
          <a:bodyPr wrap="square" lIns="0" tIns="0" rIns="0" bIns="0" rtlCol="0" anchor="ctr"/>
          <a:lstStyle/>
          <a:p>
            <a:pPr indent="0" marL="0">
              <a:lnSpc>
                <a:spcPct val="120000"/>
              </a:lnSpc>
              <a:buNone/>
            </a:pPr>
            <a:r>
              <a:rPr lang="en-US" sz="980" dirty="0">
                <a:solidFill>
                  <a:srgbClr val="6B6F80"/>
                </a:solidFill>
                <a:latin typeface="Calibri" pitchFamily="34" charset="0"/>
                <a:ea typeface="Calibri" pitchFamily="34" charset="-122"/>
                <a:cs typeface="Calibri" pitchFamily="34" charset="-120"/>
              </a:rPr>
              <a:t>성숙기 IP 재탄생 서사 기반 브랜드 캠페인 및 신규지역 대형 업데이트 연계</a:t>
            </a:r>
            <a:endParaRPr lang="en-US" sz="980" dirty="0"/>
          </a:p>
        </p:txBody>
      </p:sp>
      <p:sp>
        <p:nvSpPr>
          <p:cNvPr id="21" name="Shape 19"/>
          <p:cNvSpPr/>
          <p:nvPr/>
        </p:nvSpPr>
        <p:spPr>
          <a:xfrm>
            <a:off x="8540496" y="2276856"/>
            <a:ext cx="201168" cy="201168"/>
          </a:xfrm>
          <a:prstGeom prst="ellipse">
            <a:avLst/>
          </a:prstGeom>
          <a:solidFill>
            <a:srgbClr val="E8B84B"/>
          </a:solidFill>
          <a:ln w="25400">
            <a:solidFill>
              <a:srgbClr val="FFFFFF"/>
            </a:solidFill>
            <a:prstDash val="solid"/>
          </a:ln>
        </p:spPr>
      </p:sp>
      <p:sp>
        <p:nvSpPr>
          <p:cNvPr id="22" name="Text 20"/>
          <p:cNvSpPr/>
          <p:nvPr/>
        </p:nvSpPr>
        <p:spPr>
          <a:xfrm>
            <a:off x="7726680" y="1691640"/>
            <a:ext cx="2194560" cy="320040"/>
          </a:xfrm>
          <a:prstGeom prst="rect">
            <a:avLst/>
          </a:prstGeom>
          <a:noFill/>
          <a:ln/>
        </p:spPr>
        <p:txBody>
          <a:bodyPr wrap="square" lIns="0" tIns="0" rIns="0" bIns="0" rtlCol="0" anchor="ctr"/>
          <a:lstStyle/>
          <a:p>
            <a:pPr indent="0" marL="0">
              <a:buNone/>
            </a:pPr>
            <a:r>
              <a:rPr lang="en-US" sz="1400" b="1" dirty="0">
                <a:solidFill>
                  <a:srgbClr val="E8B84B"/>
                </a:solidFill>
                <a:latin typeface="Cambria" pitchFamily="34" charset="0"/>
                <a:ea typeface="Cambria" pitchFamily="34" charset="-122"/>
                <a:cs typeface="Cambria" pitchFamily="34" charset="-120"/>
              </a:rPr>
              <a:t>27 Q2</a:t>
            </a:r>
            <a:endParaRPr lang="en-US" sz="1400" dirty="0"/>
          </a:p>
        </p:txBody>
      </p:sp>
      <p:sp>
        <p:nvSpPr>
          <p:cNvPr id="23" name="Shape 21"/>
          <p:cNvSpPr/>
          <p:nvPr/>
        </p:nvSpPr>
        <p:spPr>
          <a:xfrm>
            <a:off x="7498080" y="2651760"/>
            <a:ext cx="2468880" cy="1874520"/>
          </a:xfrm>
          <a:prstGeom prst="roundRect">
            <a:avLst>
              <a:gd name="adj" fmla="val 3415"/>
            </a:avLst>
          </a:prstGeom>
          <a:solidFill>
            <a:srgbClr val="FAFAFB"/>
          </a:solidFill>
          <a:ln w="12700">
            <a:solidFill>
              <a:srgbClr val="EBEBF0"/>
            </a:solidFill>
            <a:prstDash val="solid"/>
          </a:ln>
        </p:spPr>
      </p:sp>
      <p:sp>
        <p:nvSpPr>
          <p:cNvPr id="24" name="Text 22"/>
          <p:cNvSpPr/>
          <p:nvPr/>
        </p:nvSpPr>
        <p:spPr>
          <a:xfrm>
            <a:off x="7680960" y="2816352"/>
            <a:ext cx="2103120" cy="594360"/>
          </a:xfrm>
          <a:prstGeom prst="rect">
            <a:avLst/>
          </a:prstGeom>
          <a:noFill/>
          <a:ln/>
        </p:spPr>
        <p:txBody>
          <a:bodyPr wrap="square" lIns="0" tIns="0" rIns="0" bIns="0" rtlCol="0" anchor="ctr"/>
          <a:lstStyle/>
          <a:p>
            <a:pPr indent="0" marL="0">
              <a:lnSpc>
                <a:spcPct val="115000"/>
              </a:lnSpc>
              <a:buNone/>
            </a:pPr>
            <a:r>
              <a:rPr lang="en-US" sz="1250" b="1" dirty="0">
                <a:solidFill>
                  <a:srgbClr val="1C1E29"/>
                </a:solidFill>
                <a:latin typeface="Calibri" pitchFamily="34" charset="0"/>
                <a:ea typeface="Calibri" pitchFamily="34" charset="-122"/>
                <a:cs typeface="Calibri" pitchFamily="34" charset="-120"/>
              </a:rPr>
              <a:t>대시보드 정식 가동</a:t>
            </a:r>
            <a:endParaRPr lang="en-US" sz="1250" dirty="0"/>
          </a:p>
        </p:txBody>
      </p:sp>
      <p:sp>
        <p:nvSpPr>
          <p:cNvPr id="25" name="Text 23"/>
          <p:cNvSpPr/>
          <p:nvPr/>
        </p:nvSpPr>
        <p:spPr>
          <a:xfrm>
            <a:off x="7680960" y="3429000"/>
            <a:ext cx="2103120" cy="1005840"/>
          </a:xfrm>
          <a:prstGeom prst="rect">
            <a:avLst/>
          </a:prstGeom>
          <a:noFill/>
          <a:ln/>
        </p:spPr>
        <p:txBody>
          <a:bodyPr wrap="square" lIns="0" tIns="0" rIns="0" bIns="0" rtlCol="0" anchor="ctr"/>
          <a:lstStyle/>
          <a:p>
            <a:pPr indent="0" marL="0">
              <a:lnSpc>
                <a:spcPct val="120000"/>
              </a:lnSpc>
              <a:buNone/>
            </a:pPr>
            <a:r>
              <a:rPr lang="en-US" sz="980" dirty="0">
                <a:solidFill>
                  <a:srgbClr val="6B6F80"/>
                </a:solidFill>
                <a:latin typeface="Calibri" pitchFamily="34" charset="0"/>
                <a:ea typeface="Calibri" pitchFamily="34" charset="-122"/>
                <a:cs typeface="Calibri" pitchFamily="34" charset="-120"/>
              </a:rPr>
              <a:t>본 보고서의 7개 타일을 실데이터 연동 대시보드로 전환, 효율 지수 자동 갱신</a:t>
            </a:r>
            <a:endParaRPr lang="en-US" sz="980" dirty="0"/>
          </a:p>
        </p:txBody>
      </p:sp>
      <p:sp>
        <p:nvSpPr>
          <p:cNvPr id="26" name="Shape 24"/>
          <p:cNvSpPr/>
          <p:nvPr/>
        </p:nvSpPr>
        <p:spPr>
          <a:xfrm>
            <a:off x="548640" y="5349240"/>
            <a:ext cx="11064240" cy="960120"/>
          </a:xfrm>
          <a:prstGeom prst="roundRect">
            <a:avLst>
              <a:gd name="adj" fmla="val 5714"/>
            </a:avLst>
          </a:prstGeom>
          <a:solidFill>
            <a:srgbClr val="1D2030"/>
          </a:solidFill>
          <a:ln/>
        </p:spPr>
      </p:sp>
      <p:sp>
        <p:nvSpPr>
          <p:cNvPr id="27" name="Text 25"/>
          <p:cNvSpPr/>
          <p:nvPr/>
        </p:nvSpPr>
        <p:spPr>
          <a:xfrm>
            <a:off x="822960" y="5349240"/>
            <a:ext cx="10515600" cy="960120"/>
          </a:xfrm>
          <a:prstGeom prst="rect">
            <a:avLst/>
          </a:prstGeom>
          <a:noFill/>
          <a:ln/>
        </p:spPr>
        <p:txBody>
          <a:bodyPr wrap="square" lIns="0" tIns="0" rIns="0" bIns="0" rtlCol="0" anchor="ctr"/>
          <a:lstStyle/>
          <a:p>
            <a:pPr indent="0" marL="0">
              <a:buNone/>
            </a:pPr>
            <a:r>
              <a:rPr lang="en-US" sz="1250" dirty="0">
                <a:solidFill>
                  <a:srgbClr val="E8E9F0"/>
                </a:solidFill>
                <a:latin typeface="Calibri" pitchFamily="34" charset="0"/>
                <a:ea typeface="Calibri" pitchFamily="34" charset="-122"/>
                <a:cs typeface="Calibri" pitchFamily="34" charset="-120"/>
              </a:rPr>
              <a:t>KPI 목표 — 매출순위 Top30 이내 90% 이상 유지, 이용자순위 변동폭 ±15 이내 안정화, 타이틀 단위 실측 CPI 체계 2027 Q1 내 구축</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lIns="0" tIns="0" rIns="0" bIns="0" rtlCol="0" anchor="ctr"/>
          <a:lstStyle/>
          <a:p>
            <a:pPr indent="0" marL="0">
              <a:buNone/>
            </a:pPr>
            <a:r>
              <a:rPr lang="en-US" sz="1250" b="1" spc="200" kern="0" dirty="0">
                <a:solidFill>
                  <a:srgbClr val="F0692B"/>
                </a:solidFill>
                <a:latin typeface="Calibri" pitchFamily="34" charset="0"/>
                <a:ea typeface="Calibri" pitchFamily="34" charset="-122"/>
                <a:cs typeface="Calibri" pitchFamily="34" charset="-120"/>
              </a:rPr>
              <a:t>APPENDIX</a:t>
            </a:r>
            <a:endParaRPr lang="en-US" sz="1250" dirty="0"/>
          </a:p>
        </p:txBody>
      </p:sp>
      <p:sp>
        <p:nvSpPr>
          <p:cNvPr id="3" name="Text 1"/>
          <p:cNvSpPr/>
          <p:nvPr/>
        </p:nvSpPr>
        <p:spPr>
          <a:xfrm>
            <a:off x="548640" y="749808"/>
            <a:ext cx="10789920" cy="640080"/>
          </a:xfrm>
          <a:prstGeom prst="rect">
            <a:avLst/>
          </a:prstGeom>
          <a:noFill/>
          <a:ln/>
        </p:spPr>
        <p:txBody>
          <a:bodyPr wrap="square" lIns="0" tIns="0" rIns="0" bIns="0" rtlCol="0" anchor="ctr"/>
          <a:lstStyle/>
          <a:p>
            <a:pPr indent="0" marL="0">
              <a:buNone/>
            </a:pPr>
            <a:r>
              <a:rPr lang="en-US" sz="2800" b="1" dirty="0">
                <a:solidFill>
                  <a:srgbClr val="1C1E29"/>
                </a:solidFill>
                <a:latin typeface="Cambria" pitchFamily="34" charset="0"/>
                <a:ea typeface="Cambria" pitchFamily="34" charset="-122"/>
                <a:cs typeface="Cambria" pitchFamily="34" charset="-120"/>
              </a:rPr>
              <a:t>대시보드 타일 명세</a:t>
            </a:r>
            <a:endParaRPr lang="en-US" sz="2800" dirty="0"/>
          </a:p>
        </p:txBody>
      </p:sp>
      <p:sp>
        <p:nvSpPr>
          <p:cNvPr id="4" name="Text 2"/>
          <p:cNvSpPr/>
          <p:nvPr/>
        </p:nvSpPr>
        <p:spPr>
          <a:xfrm>
            <a:off x="548640" y="6400800"/>
            <a:ext cx="10332720" cy="274320"/>
          </a:xfrm>
          <a:prstGeom prst="rect">
            <a:avLst/>
          </a:prstGeom>
          <a:noFill/>
          <a:ln/>
        </p:spPr>
        <p:txBody>
          <a:bodyPr wrap="square" lIns="0" tIns="0" rIns="0" bIns="0" rtlCol="0" anchor="ctr"/>
          <a:lstStyle/>
          <a:p>
            <a:pPr indent="0" marL="0">
              <a:buNone/>
            </a:pPr>
            <a:r>
              <a:rPr lang="en-US" sz="900" dirty="0">
                <a:solidFill>
                  <a:srgbClr val="9A9DAC"/>
                </a:solidFill>
                <a:latin typeface="Calibri" pitchFamily="34" charset="0"/>
                <a:ea typeface="Calibri" pitchFamily="34" charset="-122"/>
                <a:cs typeface="Calibri" pitchFamily="34" charset="-120"/>
              </a:rPr>
              <a:t>이 표를 그대로 BI 도구(예: Looker Studio, Tableau, 사내 대시보드)의 타일 정의서로 사용할 수 있습니다.</a:t>
            </a:r>
            <a:endParaRPr lang="en-US" sz="900" dirty="0"/>
          </a:p>
        </p:txBody>
      </p:sp>
      <p:sp>
        <p:nvSpPr>
          <p:cNvPr id="5" name="Text 3"/>
          <p:cNvSpPr/>
          <p:nvPr/>
        </p:nvSpPr>
        <p:spPr>
          <a:xfrm>
            <a:off x="11365992" y="6446520"/>
            <a:ext cx="548640" cy="274320"/>
          </a:xfrm>
          <a:prstGeom prst="rect">
            <a:avLst/>
          </a:prstGeom>
          <a:noFill/>
          <a:ln/>
        </p:spPr>
        <p:txBody>
          <a:bodyPr wrap="square" lIns="0" tIns="0" rIns="0" bIns="0" rtlCol="0" anchor="ctr"/>
          <a:lstStyle/>
          <a:p>
            <a:pPr algn="r" indent="0" marL="0">
              <a:buNone/>
            </a:pPr>
            <a:r>
              <a:rPr lang="en-US" sz="900" dirty="0">
                <a:solidFill>
                  <a:srgbClr val="A8ABB8"/>
                </a:solidFill>
                <a:latin typeface="Calibri" pitchFamily="34" charset="0"/>
                <a:ea typeface="Calibri" pitchFamily="34" charset="-122"/>
                <a:cs typeface="Calibri" pitchFamily="34" charset="-120"/>
              </a:rPr>
              <a:t>26</a:t>
            </a:r>
            <a:endParaRPr lang="en-US" sz="900" dirty="0"/>
          </a:p>
        </p:txBody>
      </p:sp>
      <p:sp>
        <p:nvSpPr>
          <p:cNvPr id="6" name="Shape 4"/>
          <p:cNvSpPr/>
          <p:nvPr/>
        </p:nvSpPr>
        <p:spPr>
          <a:xfrm>
            <a:off x="548640" y="1719072"/>
            <a:ext cx="11109960" cy="384048"/>
          </a:xfrm>
          <a:prstGeom prst="roundRect">
            <a:avLst>
              <a:gd name="adj" fmla="val 9524"/>
            </a:avLst>
          </a:prstGeom>
          <a:solidFill>
            <a:srgbClr val="1D2030"/>
          </a:solidFill>
          <a:ln/>
        </p:spPr>
      </p:sp>
      <p:sp>
        <p:nvSpPr>
          <p:cNvPr id="7" name="Text 5"/>
          <p:cNvSpPr/>
          <p:nvPr/>
        </p:nvSpPr>
        <p:spPr>
          <a:xfrm>
            <a:off x="548640" y="1719072"/>
            <a:ext cx="777240" cy="384048"/>
          </a:xfrm>
          <a:prstGeom prst="rect">
            <a:avLst/>
          </a:prstGeom>
          <a:noFill/>
          <a:ln/>
        </p:spPr>
        <p:txBody>
          <a:bodyPr wrap="square" lIns="0" tIns="0" rIns="0" bIns="0" rtlCol="0" anchor="ctr"/>
          <a:lstStyle/>
          <a:p>
            <a:pPr indent="0" marL="0">
              <a:buNone/>
            </a:pPr>
            <a:r>
              <a:rPr lang="en-US" sz="1050" b="1" dirty="0">
                <a:solidFill>
                  <a:srgbClr val="E8B84B"/>
                </a:solidFill>
                <a:latin typeface="Calibri" pitchFamily="34" charset="0"/>
                <a:ea typeface="Calibri" pitchFamily="34" charset="-122"/>
                <a:cs typeface="Calibri" pitchFamily="34" charset="-120"/>
              </a:rPr>
              <a:t>ID</a:t>
            </a:r>
            <a:endParaRPr lang="en-US" sz="1050" dirty="0"/>
          </a:p>
        </p:txBody>
      </p:sp>
      <p:sp>
        <p:nvSpPr>
          <p:cNvPr id="8" name="Text 6"/>
          <p:cNvSpPr/>
          <p:nvPr/>
        </p:nvSpPr>
        <p:spPr>
          <a:xfrm>
            <a:off x="1417320" y="1719072"/>
            <a:ext cx="2286000" cy="384048"/>
          </a:xfrm>
          <a:prstGeom prst="rect">
            <a:avLst/>
          </a:prstGeom>
          <a:noFill/>
          <a:ln/>
        </p:spPr>
        <p:txBody>
          <a:bodyPr wrap="square" lIns="0" tIns="0" rIns="0" bIns="0" rtlCol="0" anchor="ctr"/>
          <a:lstStyle/>
          <a:p>
            <a:pPr indent="0" marL="0">
              <a:buNone/>
            </a:pPr>
            <a:r>
              <a:rPr lang="en-US" sz="1050" b="1" dirty="0">
                <a:solidFill>
                  <a:srgbClr val="E8B84B"/>
                </a:solidFill>
                <a:latin typeface="Calibri" pitchFamily="34" charset="0"/>
                <a:ea typeface="Calibri" pitchFamily="34" charset="-122"/>
                <a:cs typeface="Calibri" pitchFamily="34" charset="-120"/>
              </a:rPr>
              <a:t>타일명</a:t>
            </a:r>
            <a:endParaRPr lang="en-US" sz="1050" dirty="0"/>
          </a:p>
        </p:txBody>
      </p:sp>
      <p:sp>
        <p:nvSpPr>
          <p:cNvPr id="9" name="Text 7"/>
          <p:cNvSpPr/>
          <p:nvPr/>
        </p:nvSpPr>
        <p:spPr>
          <a:xfrm>
            <a:off x="3794760" y="1719072"/>
            <a:ext cx="1463040" cy="384048"/>
          </a:xfrm>
          <a:prstGeom prst="rect">
            <a:avLst/>
          </a:prstGeom>
          <a:noFill/>
          <a:ln/>
        </p:spPr>
        <p:txBody>
          <a:bodyPr wrap="square" lIns="0" tIns="0" rIns="0" bIns="0" rtlCol="0" anchor="ctr"/>
          <a:lstStyle/>
          <a:p>
            <a:pPr indent="0" marL="0">
              <a:buNone/>
            </a:pPr>
            <a:r>
              <a:rPr lang="en-US" sz="1050" b="1" dirty="0">
                <a:solidFill>
                  <a:srgbClr val="E8B84B"/>
                </a:solidFill>
                <a:latin typeface="Calibri" pitchFamily="34" charset="0"/>
                <a:ea typeface="Calibri" pitchFamily="34" charset="-122"/>
                <a:cs typeface="Calibri" pitchFamily="34" charset="-120"/>
              </a:rPr>
              <a:t>시각화 유형</a:t>
            </a:r>
            <a:endParaRPr lang="en-US" sz="1050" dirty="0"/>
          </a:p>
        </p:txBody>
      </p:sp>
      <p:sp>
        <p:nvSpPr>
          <p:cNvPr id="10" name="Text 8"/>
          <p:cNvSpPr/>
          <p:nvPr/>
        </p:nvSpPr>
        <p:spPr>
          <a:xfrm>
            <a:off x="5349240" y="1719072"/>
            <a:ext cx="3291840" cy="384048"/>
          </a:xfrm>
          <a:prstGeom prst="rect">
            <a:avLst/>
          </a:prstGeom>
          <a:noFill/>
          <a:ln/>
        </p:spPr>
        <p:txBody>
          <a:bodyPr wrap="square" lIns="0" tIns="0" rIns="0" bIns="0" rtlCol="0" anchor="ctr"/>
          <a:lstStyle/>
          <a:p>
            <a:pPr indent="0" marL="0">
              <a:buNone/>
            </a:pPr>
            <a:r>
              <a:rPr lang="en-US" sz="1050" b="1" dirty="0">
                <a:solidFill>
                  <a:srgbClr val="E8B84B"/>
                </a:solidFill>
                <a:latin typeface="Calibri" pitchFamily="34" charset="0"/>
                <a:ea typeface="Calibri" pitchFamily="34" charset="-122"/>
                <a:cs typeface="Calibri" pitchFamily="34" charset="-120"/>
              </a:rPr>
              <a:t>데이터 소스</a:t>
            </a:r>
            <a:endParaRPr lang="en-US" sz="1050" dirty="0"/>
          </a:p>
        </p:txBody>
      </p:sp>
      <p:sp>
        <p:nvSpPr>
          <p:cNvPr id="11" name="Text 9"/>
          <p:cNvSpPr/>
          <p:nvPr/>
        </p:nvSpPr>
        <p:spPr>
          <a:xfrm>
            <a:off x="8732520" y="1719072"/>
            <a:ext cx="1005840" cy="384048"/>
          </a:xfrm>
          <a:prstGeom prst="rect">
            <a:avLst/>
          </a:prstGeom>
          <a:noFill/>
          <a:ln/>
        </p:spPr>
        <p:txBody>
          <a:bodyPr wrap="square" lIns="0" tIns="0" rIns="0" bIns="0" rtlCol="0" anchor="ctr"/>
          <a:lstStyle/>
          <a:p>
            <a:pPr indent="0" marL="0">
              <a:buNone/>
            </a:pPr>
            <a:r>
              <a:rPr lang="en-US" sz="1050" b="1" dirty="0">
                <a:solidFill>
                  <a:srgbClr val="E8B84B"/>
                </a:solidFill>
                <a:latin typeface="Calibri" pitchFamily="34" charset="0"/>
                <a:ea typeface="Calibri" pitchFamily="34" charset="-122"/>
                <a:cs typeface="Calibri" pitchFamily="34" charset="-120"/>
              </a:rPr>
              <a:t>갱신주기</a:t>
            </a:r>
            <a:endParaRPr lang="en-US" sz="1050" dirty="0"/>
          </a:p>
        </p:txBody>
      </p:sp>
      <p:sp>
        <p:nvSpPr>
          <p:cNvPr id="12" name="Text 10"/>
          <p:cNvSpPr/>
          <p:nvPr/>
        </p:nvSpPr>
        <p:spPr>
          <a:xfrm>
            <a:off x="9829800" y="1719072"/>
            <a:ext cx="1737360" cy="384048"/>
          </a:xfrm>
          <a:prstGeom prst="rect">
            <a:avLst/>
          </a:prstGeom>
          <a:noFill/>
          <a:ln/>
        </p:spPr>
        <p:txBody>
          <a:bodyPr wrap="square" lIns="0" tIns="0" rIns="0" bIns="0" rtlCol="0" anchor="ctr"/>
          <a:lstStyle/>
          <a:p>
            <a:pPr indent="0" marL="0">
              <a:buNone/>
            </a:pPr>
            <a:r>
              <a:rPr lang="en-US" sz="1050" b="1" dirty="0">
                <a:solidFill>
                  <a:srgbClr val="E8B84B"/>
                </a:solidFill>
                <a:latin typeface="Calibri" pitchFamily="34" charset="0"/>
                <a:ea typeface="Calibri" pitchFamily="34" charset="-122"/>
                <a:cs typeface="Calibri" pitchFamily="34" charset="-120"/>
              </a:rPr>
              <a:t>구분</a:t>
            </a:r>
            <a:endParaRPr lang="en-US" sz="1050" dirty="0"/>
          </a:p>
        </p:txBody>
      </p:sp>
      <p:sp>
        <p:nvSpPr>
          <p:cNvPr id="13" name="Shape 11"/>
          <p:cNvSpPr/>
          <p:nvPr/>
        </p:nvSpPr>
        <p:spPr>
          <a:xfrm>
            <a:off x="548640" y="2121408"/>
            <a:ext cx="11109960" cy="512064"/>
          </a:xfrm>
          <a:prstGeom prst="rect">
            <a:avLst/>
          </a:prstGeom>
          <a:solidFill>
            <a:srgbClr val="FAFAFB"/>
          </a:solidFill>
          <a:ln/>
        </p:spPr>
      </p:sp>
      <p:sp>
        <p:nvSpPr>
          <p:cNvPr id="14" name="Text 12"/>
          <p:cNvSpPr/>
          <p:nvPr/>
        </p:nvSpPr>
        <p:spPr>
          <a:xfrm>
            <a:off x="548640" y="2167128"/>
            <a:ext cx="685800" cy="420624"/>
          </a:xfrm>
          <a:prstGeom prst="rect">
            <a:avLst/>
          </a:prstGeom>
          <a:noFill/>
          <a:ln/>
        </p:spPr>
        <p:txBody>
          <a:bodyPr wrap="square" lIns="0" tIns="0" rIns="0" bIns="0" rtlCol="0" anchor="ctr"/>
          <a:lstStyle/>
          <a:p>
            <a:pPr indent="0" marL="0">
              <a:lnSpc>
                <a:spcPct val="110000"/>
              </a:lnSpc>
              <a:buNone/>
            </a:pPr>
            <a:r>
              <a:rPr lang="en-US" sz="1100" b="1" dirty="0">
                <a:solidFill>
                  <a:srgbClr val="6B6F80"/>
                </a:solidFill>
                <a:latin typeface="Calibri" pitchFamily="34" charset="0"/>
                <a:ea typeface="Calibri" pitchFamily="34" charset="-122"/>
                <a:cs typeface="Calibri" pitchFamily="34" charset="-120"/>
              </a:rPr>
              <a:t>T-01</a:t>
            </a:r>
            <a:endParaRPr lang="en-US" sz="1100" dirty="0"/>
          </a:p>
        </p:txBody>
      </p:sp>
      <p:sp>
        <p:nvSpPr>
          <p:cNvPr id="15" name="Text 13"/>
          <p:cNvSpPr/>
          <p:nvPr/>
        </p:nvSpPr>
        <p:spPr>
          <a:xfrm>
            <a:off x="1417320" y="2167128"/>
            <a:ext cx="2194560" cy="420624"/>
          </a:xfrm>
          <a:prstGeom prst="rect">
            <a:avLst/>
          </a:prstGeom>
          <a:noFill/>
          <a:ln/>
        </p:spPr>
        <p:txBody>
          <a:bodyPr wrap="square" lIns="0" tIns="0" rIns="0" bIns="0" rtlCol="0" anchor="ctr"/>
          <a:lstStyle/>
          <a:p>
            <a:pPr indent="0" marL="0">
              <a:lnSpc>
                <a:spcPct val="110000"/>
              </a:lnSpc>
              <a:buNone/>
            </a:pPr>
            <a:r>
              <a:rPr lang="en-US" sz="1030" b="1" dirty="0">
                <a:solidFill>
                  <a:srgbClr val="3A3D4A"/>
                </a:solidFill>
                <a:latin typeface="Calibri" pitchFamily="34" charset="0"/>
                <a:ea typeface="Calibri" pitchFamily="34" charset="-122"/>
                <a:cs typeface="Calibri" pitchFamily="34" charset="-120"/>
              </a:rPr>
              <a:t>분기별 대형 업데이트 건수</a:t>
            </a:r>
            <a:endParaRPr lang="en-US" sz="1030" dirty="0"/>
          </a:p>
        </p:txBody>
      </p:sp>
      <p:sp>
        <p:nvSpPr>
          <p:cNvPr id="16" name="Text 14"/>
          <p:cNvSpPr/>
          <p:nvPr/>
        </p:nvSpPr>
        <p:spPr>
          <a:xfrm>
            <a:off x="3794760" y="2167128"/>
            <a:ext cx="1371600" cy="420624"/>
          </a:xfrm>
          <a:prstGeom prst="rect">
            <a:avLst/>
          </a:prstGeom>
          <a:noFill/>
          <a:ln/>
        </p:spPr>
        <p:txBody>
          <a:bodyPr wrap="square" lIns="0" tIns="0" rIns="0" bIns="0" rtlCol="0" anchor="ctr"/>
          <a:lstStyle/>
          <a:p>
            <a:pPr indent="0" marL="0">
              <a:lnSpc>
                <a:spcPct val="110000"/>
              </a:lnSpc>
              <a:buNone/>
            </a:pPr>
            <a:r>
              <a:rPr lang="en-US" sz="1030" dirty="0">
                <a:solidFill>
                  <a:srgbClr val="3A3D4A"/>
                </a:solidFill>
                <a:latin typeface="Calibri" pitchFamily="34" charset="0"/>
                <a:ea typeface="Calibri" pitchFamily="34" charset="-122"/>
                <a:cs typeface="Calibri" pitchFamily="34" charset="-120"/>
              </a:rPr>
              <a:t>그룹 막대</a:t>
            </a:r>
            <a:endParaRPr lang="en-US" sz="1030" dirty="0"/>
          </a:p>
        </p:txBody>
      </p:sp>
      <p:sp>
        <p:nvSpPr>
          <p:cNvPr id="17" name="Text 15"/>
          <p:cNvSpPr/>
          <p:nvPr/>
        </p:nvSpPr>
        <p:spPr>
          <a:xfrm>
            <a:off x="5349240" y="2167128"/>
            <a:ext cx="3200400" cy="420624"/>
          </a:xfrm>
          <a:prstGeom prst="rect">
            <a:avLst/>
          </a:prstGeom>
          <a:noFill/>
          <a:ln/>
        </p:spPr>
        <p:txBody>
          <a:bodyPr wrap="square" lIns="0" tIns="0" rIns="0" bIns="0" rtlCol="0" anchor="ctr"/>
          <a:lstStyle/>
          <a:p>
            <a:pPr indent="0" marL="0">
              <a:lnSpc>
                <a:spcPct val="110000"/>
              </a:lnSpc>
              <a:buNone/>
            </a:pPr>
            <a:r>
              <a:rPr lang="en-US" sz="1030" dirty="0">
                <a:solidFill>
                  <a:srgbClr val="3A3D4A"/>
                </a:solidFill>
                <a:latin typeface="Calibri" pitchFamily="34" charset="0"/>
                <a:ea typeface="Calibri" pitchFamily="34" charset="-122"/>
                <a:cs typeface="Calibri" pitchFamily="34" charset="-120"/>
              </a:rPr>
              <a:t>4사 이벤트 타임라인 보고서(수작업 집계)</a:t>
            </a:r>
            <a:endParaRPr lang="en-US" sz="1030" dirty="0"/>
          </a:p>
        </p:txBody>
      </p:sp>
      <p:sp>
        <p:nvSpPr>
          <p:cNvPr id="18" name="Text 16"/>
          <p:cNvSpPr/>
          <p:nvPr/>
        </p:nvSpPr>
        <p:spPr>
          <a:xfrm>
            <a:off x="8732520" y="2167128"/>
            <a:ext cx="914400" cy="420624"/>
          </a:xfrm>
          <a:prstGeom prst="rect">
            <a:avLst/>
          </a:prstGeom>
          <a:noFill/>
          <a:ln/>
        </p:spPr>
        <p:txBody>
          <a:bodyPr wrap="square" lIns="0" tIns="0" rIns="0" bIns="0" rtlCol="0" anchor="ctr"/>
          <a:lstStyle/>
          <a:p>
            <a:pPr indent="0" marL="0">
              <a:lnSpc>
                <a:spcPct val="110000"/>
              </a:lnSpc>
              <a:buNone/>
            </a:pPr>
            <a:r>
              <a:rPr lang="en-US" sz="1030" dirty="0">
                <a:solidFill>
                  <a:srgbClr val="3A3D4A"/>
                </a:solidFill>
                <a:latin typeface="Calibri" pitchFamily="34" charset="0"/>
                <a:ea typeface="Calibri" pitchFamily="34" charset="-122"/>
                <a:cs typeface="Calibri" pitchFamily="34" charset="-120"/>
              </a:rPr>
              <a:t>분기</a:t>
            </a:r>
            <a:endParaRPr lang="en-US" sz="1030" dirty="0"/>
          </a:p>
        </p:txBody>
      </p:sp>
      <p:sp>
        <p:nvSpPr>
          <p:cNvPr id="19" name="Text 17"/>
          <p:cNvSpPr/>
          <p:nvPr/>
        </p:nvSpPr>
        <p:spPr>
          <a:xfrm>
            <a:off x="9829800" y="2167128"/>
            <a:ext cx="1645920" cy="420624"/>
          </a:xfrm>
          <a:prstGeom prst="rect">
            <a:avLst/>
          </a:prstGeom>
          <a:noFill/>
          <a:ln/>
        </p:spPr>
        <p:txBody>
          <a:bodyPr wrap="square" lIns="0" tIns="0" rIns="0" bIns="0" rtlCol="0" anchor="ctr"/>
          <a:lstStyle/>
          <a:p>
            <a:pPr indent="0" marL="0">
              <a:lnSpc>
                <a:spcPct val="110000"/>
              </a:lnSpc>
              <a:buNone/>
            </a:pPr>
            <a:r>
              <a:rPr lang="en-US" sz="1030" dirty="0">
                <a:solidFill>
                  <a:srgbClr val="2FA89A"/>
                </a:solidFill>
                <a:latin typeface="Calibri" pitchFamily="34" charset="0"/>
                <a:ea typeface="Calibri" pitchFamily="34" charset="-122"/>
                <a:cs typeface="Calibri" pitchFamily="34" charset="-120"/>
              </a:rPr>
              <a:t>실측</a:t>
            </a:r>
            <a:endParaRPr lang="en-US" sz="1030" dirty="0"/>
          </a:p>
        </p:txBody>
      </p:sp>
      <p:sp>
        <p:nvSpPr>
          <p:cNvPr id="20" name="Shape 18"/>
          <p:cNvSpPr/>
          <p:nvPr/>
        </p:nvSpPr>
        <p:spPr>
          <a:xfrm>
            <a:off x="548640" y="2688336"/>
            <a:ext cx="11109960" cy="512064"/>
          </a:xfrm>
          <a:prstGeom prst="rect">
            <a:avLst/>
          </a:prstGeom>
          <a:solidFill>
            <a:srgbClr val="FFFFFF"/>
          </a:solidFill>
          <a:ln/>
        </p:spPr>
      </p:sp>
      <p:sp>
        <p:nvSpPr>
          <p:cNvPr id="21" name="Text 19"/>
          <p:cNvSpPr/>
          <p:nvPr/>
        </p:nvSpPr>
        <p:spPr>
          <a:xfrm>
            <a:off x="548640" y="2734056"/>
            <a:ext cx="685800" cy="420624"/>
          </a:xfrm>
          <a:prstGeom prst="rect">
            <a:avLst/>
          </a:prstGeom>
          <a:noFill/>
          <a:ln/>
        </p:spPr>
        <p:txBody>
          <a:bodyPr wrap="square" lIns="0" tIns="0" rIns="0" bIns="0" rtlCol="0" anchor="ctr"/>
          <a:lstStyle/>
          <a:p>
            <a:pPr indent="0" marL="0">
              <a:lnSpc>
                <a:spcPct val="110000"/>
              </a:lnSpc>
              <a:buNone/>
            </a:pPr>
            <a:r>
              <a:rPr lang="en-US" sz="1100" b="1" dirty="0">
                <a:solidFill>
                  <a:srgbClr val="6B6F80"/>
                </a:solidFill>
                <a:latin typeface="Calibri" pitchFamily="34" charset="0"/>
                <a:ea typeface="Calibri" pitchFamily="34" charset="-122"/>
                <a:cs typeface="Calibri" pitchFamily="34" charset="-120"/>
              </a:rPr>
              <a:t>T-02</a:t>
            </a:r>
            <a:endParaRPr lang="en-US" sz="1100" dirty="0"/>
          </a:p>
        </p:txBody>
      </p:sp>
      <p:sp>
        <p:nvSpPr>
          <p:cNvPr id="22" name="Text 20"/>
          <p:cNvSpPr/>
          <p:nvPr/>
        </p:nvSpPr>
        <p:spPr>
          <a:xfrm>
            <a:off x="1417320" y="2734056"/>
            <a:ext cx="2194560" cy="420624"/>
          </a:xfrm>
          <a:prstGeom prst="rect">
            <a:avLst/>
          </a:prstGeom>
          <a:noFill/>
          <a:ln/>
        </p:spPr>
        <p:txBody>
          <a:bodyPr wrap="square" lIns="0" tIns="0" rIns="0" bIns="0" rtlCol="0" anchor="ctr"/>
          <a:lstStyle/>
          <a:p>
            <a:pPr indent="0" marL="0">
              <a:lnSpc>
                <a:spcPct val="110000"/>
              </a:lnSpc>
              <a:buNone/>
            </a:pPr>
            <a:r>
              <a:rPr lang="en-US" sz="1030" b="1" dirty="0">
                <a:solidFill>
                  <a:srgbClr val="3A3D4A"/>
                </a:solidFill>
                <a:latin typeface="Calibri" pitchFamily="34" charset="0"/>
                <a:ea typeface="Calibri" pitchFamily="34" charset="-122"/>
                <a:cs typeface="Calibri" pitchFamily="34" charset="-120"/>
              </a:rPr>
              <a:t>매출순위 추이</a:t>
            </a:r>
            <a:endParaRPr lang="en-US" sz="1030" dirty="0"/>
          </a:p>
        </p:txBody>
      </p:sp>
      <p:sp>
        <p:nvSpPr>
          <p:cNvPr id="23" name="Text 21"/>
          <p:cNvSpPr/>
          <p:nvPr/>
        </p:nvSpPr>
        <p:spPr>
          <a:xfrm>
            <a:off x="3794760" y="2734056"/>
            <a:ext cx="1371600" cy="420624"/>
          </a:xfrm>
          <a:prstGeom prst="rect">
            <a:avLst/>
          </a:prstGeom>
          <a:noFill/>
          <a:ln/>
        </p:spPr>
        <p:txBody>
          <a:bodyPr wrap="square" lIns="0" tIns="0" rIns="0" bIns="0" rtlCol="0" anchor="ctr"/>
          <a:lstStyle/>
          <a:p>
            <a:pPr indent="0" marL="0">
              <a:lnSpc>
                <a:spcPct val="110000"/>
              </a:lnSpc>
              <a:buNone/>
            </a:pPr>
            <a:r>
              <a:rPr lang="en-US" sz="1030" dirty="0">
                <a:solidFill>
                  <a:srgbClr val="3A3D4A"/>
                </a:solidFill>
                <a:latin typeface="Calibri" pitchFamily="34" charset="0"/>
                <a:ea typeface="Calibri" pitchFamily="34" charset="-122"/>
                <a:cs typeface="Calibri" pitchFamily="34" charset="-120"/>
              </a:rPr>
              <a:t>라인</a:t>
            </a:r>
            <a:endParaRPr lang="en-US" sz="1030" dirty="0"/>
          </a:p>
        </p:txBody>
      </p:sp>
      <p:sp>
        <p:nvSpPr>
          <p:cNvPr id="24" name="Text 22"/>
          <p:cNvSpPr/>
          <p:nvPr/>
        </p:nvSpPr>
        <p:spPr>
          <a:xfrm>
            <a:off x="5349240" y="2734056"/>
            <a:ext cx="3200400" cy="420624"/>
          </a:xfrm>
          <a:prstGeom prst="rect">
            <a:avLst/>
          </a:prstGeom>
          <a:noFill/>
          <a:ln/>
        </p:spPr>
        <p:txBody>
          <a:bodyPr wrap="square" lIns="0" tIns="0" rIns="0" bIns="0" rtlCol="0" anchor="ctr"/>
          <a:lstStyle/>
          <a:p>
            <a:pPr indent="0" marL="0">
              <a:lnSpc>
                <a:spcPct val="110000"/>
              </a:lnSpc>
              <a:buNone/>
            </a:pPr>
            <a:r>
              <a:rPr lang="en-US" sz="1030" dirty="0">
                <a:solidFill>
                  <a:srgbClr val="3A3D4A"/>
                </a:solidFill>
                <a:latin typeface="Calibri" pitchFamily="34" charset="0"/>
                <a:ea typeface="Calibri" pitchFamily="34" charset="-122"/>
                <a:cs typeface="Calibri" pitchFamily="34" charset="-120"/>
              </a:rPr>
              <a:t>mobileindex.com</a:t>
            </a:r>
            <a:endParaRPr lang="en-US" sz="1030" dirty="0"/>
          </a:p>
        </p:txBody>
      </p:sp>
      <p:sp>
        <p:nvSpPr>
          <p:cNvPr id="25" name="Text 23"/>
          <p:cNvSpPr/>
          <p:nvPr/>
        </p:nvSpPr>
        <p:spPr>
          <a:xfrm>
            <a:off x="8732520" y="2734056"/>
            <a:ext cx="914400" cy="420624"/>
          </a:xfrm>
          <a:prstGeom prst="rect">
            <a:avLst/>
          </a:prstGeom>
          <a:noFill/>
          <a:ln/>
        </p:spPr>
        <p:txBody>
          <a:bodyPr wrap="square" lIns="0" tIns="0" rIns="0" bIns="0" rtlCol="0" anchor="ctr"/>
          <a:lstStyle/>
          <a:p>
            <a:pPr indent="0" marL="0">
              <a:lnSpc>
                <a:spcPct val="110000"/>
              </a:lnSpc>
              <a:buNone/>
            </a:pPr>
            <a:r>
              <a:rPr lang="en-US" sz="1030" dirty="0">
                <a:solidFill>
                  <a:srgbClr val="3A3D4A"/>
                </a:solidFill>
                <a:latin typeface="Calibri" pitchFamily="34" charset="0"/>
                <a:ea typeface="Calibri" pitchFamily="34" charset="-122"/>
                <a:cs typeface="Calibri" pitchFamily="34" charset="-120"/>
              </a:rPr>
              <a:t>주간</a:t>
            </a:r>
            <a:endParaRPr lang="en-US" sz="1030" dirty="0"/>
          </a:p>
        </p:txBody>
      </p:sp>
      <p:sp>
        <p:nvSpPr>
          <p:cNvPr id="26" name="Text 24"/>
          <p:cNvSpPr/>
          <p:nvPr/>
        </p:nvSpPr>
        <p:spPr>
          <a:xfrm>
            <a:off x="9829800" y="2734056"/>
            <a:ext cx="1645920" cy="420624"/>
          </a:xfrm>
          <a:prstGeom prst="rect">
            <a:avLst/>
          </a:prstGeom>
          <a:noFill/>
          <a:ln/>
        </p:spPr>
        <p:txBody>
          <a:bodyPr wrap="square" lIns="0" tIns="0" rIns="0" bIns="0" rtlCol="0" anchor="ctr"/>
          <a:lstStyle/>
          <a:p>
            <a:pPr indent="0" marL="0">
              <a:lnSpc>
                <a:spcPct val="110000"/>
              </a:lnSpc>
              <a:buNone/>
            </a:pPr>
            <a:r>
              <a:rPr lang="en-US" sz="1030" dirty="0">
                <a:solidFill>
                  <a:srgbClr val="2FA89A"/>
                </a:solidFill>
                <a:latin typeface="Calibri" pitchFamily="34" charset="0"/>
                <a:ea typeface="Calibri" pitchFamily="34" charset="-122"/>
                <a:cs typeface="Calibri" pitchFamily="34" charset="-120"/>
              </a:rPr>
              <a:t>실측</a:t>
            </a:r>
            <a:endParaRPr lang="en-US" sz="1030" dirty="0"/>
          </a:p>
        </p:txBody>
      </p:sp>
      <p:sp>
        <p:nvSpPr>
          <p:cNvPr id="27" name="Shape 25"/>
          <p:cNvSpPr/>
          <p:nvPr/>
        </p:nvSpPr>
        <p:spPr>
          <a:xfrm>
            <a:off x="548640" y="3255264"/>
            <a:ext cx="11109960" cy="512064"/>
          </a:xfrm>
          <a:prstGeom prst="rect">
            <a:avLst/>
          </a:prstGeom>
          <a:solidFill>
            <a:srgbClr val="FAFAFB"/>
          </a:solidFill>
          <a:ln/>
        </p:spPr>
      </p:sp>
      <p:sp>
        <p:nvSpPr>
          <p:cNvPr id="28" name="Text 26"/>
          <p:cNvSpPr/>
          <p:nvPr/>
        </p:nvSpPr>
        <p:spPr>
          <a:xfrm>
            <a:off x="548640" y="3300984"/>
            <a:ext cx="685800" cy="420624"/>
          </a:xfrm>
          <a:prstGeom prst="rect">
            <a:avLst/>
          </a:prstGeom>
          <a:noFill/>
          <a:ln/>
        </p:spPr>
        <p:txBody>
          <a:bodyPr wrap="square" lIns="0" tIns="0" rIns="0" bIns="0" rtlCol="0" anchor="ctr"/>
          <a:lstStyle/>
          <a:p>
            <a:pPr indent="0" marL="0">
              <a:lnSpc>
                <a:spcPct val="110000"/>
              </a:lnSpc>
              <a:buNone/>
            </a:pPr>
            <a:r>
              <a:rPr lang="en-US" sz="1100" b="1" dirty="0">
                <a:solidFill>
                  <a:srgbClr val="6B6F80"/>
                </a:solidFill>
                <a:latin typeface="Calibri" pitchFamily="34" charset="0"/>
                <a:ea typeface="Calibri" pitchFamily="34" charset="-122"/>
                <a:cs typeface="Calibri" pitchFamily="34" charset="-120"/>
              </a:rPr>
              <a:t>T-03</a:t>
            </a:r>
            <a:endParaRPr lang="en-US" sz="1100" dirty="0"/>
          </a:p>
        </p:txBody>
      </p:sp>
      <p:sp>
        <p:nvSpPr>
          <p:cNvPr id="29" name="Text 27"/>
          <p:cNvSpPr/>
          <p:nvPr/>
        </p:nvSpPr>
        <p:spPr>
          <a:xfrm>
            <a:off x="1417320" y="3300984"/>
            <a:ext cx="2194560" cy="420624"/>
          </a:xfrm>
          <a:prstGeom prst="rect">
            <a:avLst/>
          </a:prstGeom>
          <a:noFill/>
          <a:ln/>
        </p:spPr>
        <p:txBody>
          <a:bodyPr wrap="square" lIns="0" tIns="0" rIns="0" bIns="0" rtlCol="0" anchor="ctr"/>
          <a:lstStyle/>
          <a:p>
            <a:pPr indent="0" marL="0">
              <a:lnSpc>
                <a:spcPct val="110000"/>
              </a:lnSpc>
              <a:buNone/>
            </a:pPr>
            <a:r>
              <a:rPr lang="en-US" sz="1030" b="1" dirty="0">
                <a:solidFill>
                  <a:srgbClr val="3A3D4A"/>
                </a:solidFill>
                <a:latin typeface="Calibri" pitchFamily="34" charset="0"/>
                <a:ea typeface="Calibri" pitchFamily="34" charset="-122"/>
                <a:cs typeface="Calibri" pitchFamily="34" charset="-120"/>
              </a:rPr>
              <a:t>이용자순위 추이</a:t>
            </a:r>
            <a:endParaRPr lang="en-US" sz="1030" dirty="0"/>
          </a:p>
        </p:txBody>
      </p:sp>
      <p:sp>
        <p:nvSpPr>
          <p:cNvPr id="30" name="Text 28"/>
          <p:cNvSpPr/>
          <p:nvPr/>
        </p:nvSpPr>
        <p:spPr>
          <a:xfrm>
            <a:off x="3794760" y="3300984"/>
            <a:ext cx="1371600" cy="420624"/>
          </a:xfrm>
          <a:prstGeom prst="rect">
            <a:avLst/>
          </a:prstGeom>
          <a:noFill/>
          <a:ln/>
        </p:spPr>
        <p:txBody>
          <a:bodyPr wrap="square" lIns="0" tIns="0" rIns="0" bIns="0" rtlCol="0" anchor="ctr"/>
          <a:lstStyle/>
          <a:p>
            <a:pPr indent="0" marL="0">
              <a:lnSpc>
                <a:spcPct val="110000"/>
              </a:lnSpc>
              <a:buNone/>
            </a:pPr>
            <a:r>
              <a:rPr lang="en-US" sz="1030" dirty="0">
                <a:solidFill>
                  <a:srgbClr val="3A3D4A"/>
                </a:solidFill>
                <a:latin typeface="Calibri" pitchFamily="34" charset="0"/>
                <a:ea typeface="Calibri" pitchFamily="34" charset="-122"/>
                <a:cs typeface="Calibri" pitchFamily="34" charset="-120"/>
              </a:rPr>
              <a:t>라인</a:t>
            </a:r>
            <a:endParaRPr lang="en-US" sz="1030" dirty="0"/>
          </a:p>
        </p:txBody>
      </p:sp>
      <p:sp>
        <p:nvSpPr>
          <p:cNvPr id="31" name="Text 29"/>
          <p:cNvSpPr/>
          <p:nvPr/>
        </p:nvSpPr>
        <p:spPr>
          <a:xfrm>
            <a:off x="5349240" y="3300984"/>
            <a:ext cx="3200400" cy="420624"/>
          </a:xfrm>
          <a:prstGeom prst="rect">
            <a:avLst/>
          </a:prstGeom>
          <a:noFill/>
          <a:ln/>
        </p:spPr>
        <p:txBody>
          <a:bodyPr wrap="square" lIns="0" tIns="0" rIns="0" bIns="0" rtlCol="0" anchor="ctr"/>
          <a:lstStyle/>
          <a:p>
            <a:pPr indent="0" marL="0">
              <a:lnSpc>
                <a:spcPct val="110000"/>
              </a:lnSpc>
              <a:buNone/>
            </a:pPr>
            <a:r>
              <a:rPr lang="en-US" sz="1030" dirty="0">
                <a:solidFill>
                  <a:srgbClr val="3A3D4A"/>
                </a:solidFill>
                <a:latin typeface="Calibri" pitchFamily="34" charset="0"/>
                <a:ea typeface="Calibri" pitchFamily="34" charset="-122"/>
                <a:cs typeface="Calibri" pitchFamily="34" charset="-120"/>
              </a:rPr>
              <a:t>mobileindex.com</a:t>
            </a:r>
            <a:endParaRPr lang="en-US" sz="1030" dirty="0"/>
          </a:p>
        </p:txBody>
      </p:sp>
      <p:sp>
        <p:nvSpPr>
          <p:cNvPr id="32" name="Text 30"/>
          <p:cNvSpPr/>
          <p:nvPr/>
        </p:nvSpPr>
        <p:spPr>
          <a:xfrm>
            <a:off x="8732520" y="3300984"/>
            <a:ext cx="914400" cy="420624"/>
          </a:xfrm>
          <a:prstGeom prst="rect">
            <a:avLst/>
          </a:prstGeom>
          <a:noFill/>
          <a:ln/>
        </p:spPr>
        <p:txBody>
          <a:bodyPr wrap="square" lIns="0" tIns="0" rIns="0" bIns="0" rtlCol="0" anchor="ctr"/>
          <a:lstStyle/>
          <a:p>
            <a:pPr indent="0" marL="0">
              <a:lnSpc>
                <a:spcPct val="110000"/>
              </a:lnSpc>
              <a:buNone/>
            </a:pPr>
            <a:r>
              <a:rPr lang="en-US" sz="1030" dirty="0">
                <a:solidFill>
                  <a:srgbClr val="3A3D4A"/>
                </a:solidFill>
                <a:latin typeface="Calibri" pitchFamily="34" charset="0"/>
                <a:ea typeface="Calibri" pitchFamily="34" charset="-122"/>
                <a:cs typeface="Calibri" pitchFamily="34" charset="-120"/>
              </a:rPr>
              <a:t>주간</a:t>
            </a:r>
            <a:endParaRPr lang="en-US" sz="1030" dirty="0"/>
          </a:p>
        </p:txBody>
      </p:sp>
      <p:sp>
        <p:nvSpPr>
          <p:cNvPr id="33" name="Text 31"/>
          <p:cNvSpPr/>
          <p:nvPr/>
        </p:nvSpPr>
        <p:spPr>
          <a:xfrm>
            <a:off x="9829800" y="3300984"/>
            <a:ext cx="1645920" cy="420624"/>
          </a:xfrm>
          <a:prstGeom prst="rect">
            <a:avLst/>
          </a:prstGeom>
          <a:noFill/>
          <a:ln/>
        </p:spPr>
        <p:txBody>
          <a:bodyPr wrap="square" lIns="0" tIns="0" rIns="0" bIns="0" rtlCol="0" anchor="ctr"/>
          <a:lstStyle/>
          <a:p>
            <a:pPr indent="0" marL="0">
              <a:lnSpc>
                <a:spcPct val="110000"/>
              </a:lnSpc>
              <a:buNone/>
            </a:pPr>
            <a:r>
              <a:rPr lang="en-US" sz="1030" dirty="0">
                <a:solidFill>
                  <a:srgbClr val="2FA89A"/>
                </a:solidFill>
                <a:latin typeface="Calibri" pitchFamily="34" charset="0"/>
                <a:ea typeface="Calibri" pitchFamily="34" charset="-122"/>
                <a:cs typeface="Calibri" pitchFamily="34" charset="-120"/>
              </a:rPr>
              <a:t>실측</a:t>
            </a:r>
            <a:endParaRPr lang="en-US" sz="1030" dirty="0"/>
          </a:p>
        </p:txBody>
      </p:sp>
      <p:sp>
        <p:nvSpPr>
          <p:cNvPr id="34" name="Shape 32"/>
          <p:cNvSpPr/>
          <p:nvPr/>
        </p:nvSpPr>
        <p:spPr>
          <a:xfrm>
            <a:off x="548640" y="3822192"/>
            <a:ext cx="11109960" cy="512064"/>
          </a:xfrm>
          <a:prstGeom prst="rect">
            <a:avLst/>
          </a:prstGeom>
          <a:solidFill>
            <a:srgbClr val="FFFFFF"/>
          </a:solidFill>
          <a:ln/>
        </p:spPr>
      </p:sp>
      <p:sp>
        <p:nvSpPr>
          <p:cNvPr id="35" name="Text 33"/>
          <p:cNvSpPr/>
          <p:nvPr/>
        </p:nvSpPr>
        <p:spPr>
          <a:xfrm>
            <a:off x="548640" y="3867912"/>
            <a:ext cx="685800" cy="420624"/>
          </a:xfrm>
          <a:prstGeom prst="rect">
            <a:avLst/>
          </a:prstGeom>
          <a:noFill/>
          <a:ln/>
        </p:spPr>
        <p:txBody>
          <a:bodyPr wrap="square" lIns="0" tIns="0" rIns="0" bIns="0" rtlCol="0" anchor="ctr"/>
          <a:lstStyle/>
          <a:p>
            <a:pPr indent="0" marL="0">
              <a:lnSpc>
                <a:spcPct val="110000"/>
              </a:lnSpc>
              <a:buNone/>
            </a:pPr>
            <a:r>
              <a:rPr lang="en-US" sz="1100" b="1" dirty="0">
                <a:solidFill>
                  <a:srgbClr val="6B6F80"/>
                </a:solidFill>
                <a:latin typeface="Calibri" pitchFamily="34" charset="0"/>
                <a:ea typeface="Calibri" pitchFamily="34" charset="-122"/>
                <a:cs typeface="Calibri" pitchFamily="34" charset="-120"/>
              </a:rPr>
              <a:t>T-04</a:t>
            </a:r>
            <a:endParaRPr lang="en-US" sz="1100" dirty="0"/>
          </a:p>
        </p:txBody>
      </p:sp>
      <p:sp>
        <p:nvSpPr>
          <p:cNvPr id="36" name="Text 34"/>
          <p:cNvSpPr/>
          <p:nvPr/>
        </p:nvSpPr>
        <p:spPr>
          <a:xfrm>
            <a:off x="1417320" y="3867912"/>
            <a:ext cx="2194560" cy="420624"/>
          </a:xfrm>
          <a:prstGeom prst="rect">
            <a:avLst/>
          </a:prstGeom>
          <a:noFill/>
          <a:ln/>
        </p:spPr>
        <p:txBody>
          <a:bodyPr wrap="square" lIns="0" tIns="0" rIns="0" bIns="0" rtlCol="0" anchor="ctr"/>
          <a:lstStyle/>
          <a:p>
            <a:pPr indent="0" marL="0">
              <a:lnSpc>
                <a:spcPct val="110000"/>
              </a:lnSpc>
              <a:buNone/>
            </a:pPr>
            <a:r>
              <a:rPr lang="en-US" sz="1030" b="1" dirty="0">
                <a:solidFill>
                  <a:srgbClr val="3A3D4A"/>
                </a:solidFill>
                <a:latin typeface="Calibri" pitchFamily="34" charset="0"/>
                <a:ea typeface="Calibri" pitchFamily="34" charset="-122"/>
                <a:cs typeface="Calibri" pitchFamily="34" charset="-120"/>
              </a:rPr>
              <a:t>광고선전비 비교</a:t>
            </a:r>
            <a:endParaRPr lang="en-US" sz="1030" dirty="0"/>
          </a:p>
        </p:txBody>
      </p:sp>
      <p:sp>
        <p:nvSpPr>
          <p:cNvPr id="37" name="Text 35"/>
          <p:cNvSpPr/>
          <p:nvPr/>
        </p:nvSpPr>
        <p:spPr>
          <a:xfrm>
            <a:off x="3794760" y="3867912"/>
            <a:ext cx="1371600" cy="420624"/>
          </a:xfrm>
          <a:prstGeom prst="rect">
            <a:avLst/>
          </a:prstGeom>
          <a:noFill/>
          <a:ln/>
        </p:spPr>
        <p:txBody>
          <a:bodyPr wrap="square" lIns="0" tIns="0" rIns="0" bIns="0" rtlCol="0" anchor="ctr"/>
          <a:lstStyle/>
          <a:p>
            <a:pPr indent="0" marL="0">
              <a:lnSpc>
                <a:spcPct val="110000"/>
              </a:lnSpc>
              <a:buNone/>
            </a:pPr>
            <a:r>
              <a:rPr lang="en-US" sz="1030" dirty="0">
                <a:solidFill>
                  <a:srgbClr val="3A3D4A"/>
                </a:solidFill>
                <a:latin typeface="Calibri" pitchFamily="34" charset="0"/>
                <a:ea typeface="Calibri" pitchFamily="34" charset="-122"/>
                <a:cs typeface="Calibri" pitchFamily="34" charset="-120"/>
              </a:rPr>
              <a:t>그룹 막대</a:t>
            </a:r>
            <a:endParaRPr lang="en-US" sz="1030" dirty="0"/>
          </a:p>
        </p:txBody>
      </p:sp>
      <p:sp>
        <p:nvSpPr>
          <p:cNvPr id="38" name="Text 36"/>
          <p:cNvSpPr/>
          <p:nvPr/>
        </p:nvSpPr>
        <p:spPr>
          <a:xfrm>
            <a:off x="5349240" y="3867912"/>
            <a:ext cx="3200400" cy="420624"/>
          </a:xfrm>
          <a:prstGeom prst="rect">
            <a:avLst/>
          </a:prstGeom>
          <a:noFill/>
          <a:ln/>
        </p:spPr>
        <p:txBody>
          <a:bodyPr wrap="square" lIns="0" tIns="0" rIns="0" bIns="0" rtlCol="0" anchor="ctr"/>
          <a:lstStyle/>
          <a:p>
            <a:pPr indent="0" marL="0">
              <a:lnSpc>
                <a:spcPct val="110000"/>
              </a:lnSpc>
              <a:buNone/>
            </a:pPr>
            <a:r>
              <a:rPr lang="en-US" sz="1030" dirty="0">
                <a:solidFill>
                  <a:srgbClr val="3A3D4A"/>
                </a:solidFill>
                <a:latin typeface="Calibri" pitchFamily="34" charset="0"/>
                <a:ea typeface="Calibri" pitchFamily="34" charset="-122"/>
                <a:cs typeface="Calibri" pitchFamily="34" charset="-120"/>
              </a:rPr>
              <a:t>DART 사업보고서/반기보고서</a:t>
            </a:r>
            <a:endParaRPr lang="en-US" sz="1030" dirty="0"/>
          </a:p>
        </p:txBody>
      </p:sp>
      <p:sp>
        <p:nvSpPr>
          <p:cNvPr id="39" name="Text 37"/>
          <p:cNvSpPr/>
          <p:nvPr/>
        </p:nvSpPr>
        <p:spPr>
          <a:xfrm>
            <a:off x="8732520" y="3867912"/>
            <a:ext cx="914400" cy="420624"/>
          </a:xfrm>
          <a:prstGeom prst="rect">
            <a:avLst/>
          </a:prstGeom>
          <a:noFill/>
          <a:ln/>
        </p:spPr>
        <p:txBody>
          <a:bodyPr wrap="square" lIns="0" tIns="0" rIns="0" bIns="0" rtlCol="0" anchor="ctr"/>
          <a:lstStyle/>
          <a:p>
            <a:pPr indent="0" marL="0">
              <a:lnSpc>
                <a:spcPct val="110000"/>
              </a:lnSpc>
              <a:buNone/>
            </a:pPr>
            <a:r>
              <a:rPr lang="en-US" sz="1030" dirty="0">
                <a:solidFill>
                  <a:srgbClr val="3A3D4A"/>
                </a:solidFill>
                <a:latin typeface="Calibri" pitchFamily="34" charset="0"/>
                <a:ea typeface="Calibri" pitchFamily="34" charset="-122"/>
                <a:cs typeface="Calibri" pitchFamily="34" charset="-120"/>
              </a:rPr>
              <a:t>반기·연간</a:t>
            </a:r>
            <a:endParaRPr lang="en-US" sz="1030" dirty="0"/>
          </a:p>
        </p:txBody>
      </p:sp>
      <p:sp>
        <p:nvSpPr>
          <p:cNvPr id="40" name="Text 38"/>
          <p:cNvSpPr/>
          <p:nvPr/>
        </p:nvSpPr>
        <p:spPr>
          <a:xfrm>
            <a:off x="9829800" y="3867912"/>
            <a:ext cx="1645920" cy="420624"/>
          </a:xfrm>
          <a:prstGeom prst="rect">
            <a:avLst/>
          </a:prstGeom>
          <a:noFill/>
          <a:ln/>
        </p:spPr>
        <p:txBody>
          <a:bodyPr wrap="square" lIns="0" tIns="0" rIns="0" bIns="0" rtlCol="0" anchor="ctr"/>
          <a:lstStyle/>
          <a:p>
            <a:pPr indent="0" marL="0">
              <a:lnSpc>
                <a:spcPct val="110000"/>
              </a:lnSpc>
              <a:buNone/>
            </a:pPr>
            <a:r>
              <a:rPr lang="en-US" sz="1030" dirty="0">
                <a:solidFill>
                  <a:srgbClr val="2FA89A"/>
                </a:solidFill>
                <a:latin typeface="Calibri" pitchFamily="34" charset="0"/>
                <a:ea typeface="Calibri" pitchFamily="34" charset="-122"/>
                <a:cs typeface="Calibri" pitchFamily="34" charset="-120"/>
              </a:rPr>
              <a:t>실측</a:t>
            </a:r>
            <a:endParaRPr lang="en-US" sz="1030" dirty="0"/>
          </a:p>
        </p:txBody>
      </p:sp>
      <p:sp>
        <p:nvSpPr>
          <p:cNvPr id="41" name="Shape 39"/>
          <p:cNvSpPr/>
          <p:nvPr/>
        </p:nvSpPr>
        <p:spPr>
          <a:xfrm>
            <a:off x="548640" y="4389120"/>
            <a:ext cx="11109960" cy="512064"/>
          </a:xfrm>
          <a:prstGeom prst="rect">
            <a:avLst/>
          </a:prstGeom>
          <a:solidFill>
            <a:srgbClr val="FAFAFB"/>
          </a:solidFill>
          <a:ln/>
        </p:spPr>
      </p:sp>
      <p:sp>
        <p:nvSpPr>
          <p:cNvPr id="42" name="Text 40"/>
          <p:cNvSpPr/>
          <p:nvPr/>
        </p:nvSpPr>
        <p:spPr>
          <a:xfrm>
            <a:off x="548640" y="4434840"/>
            <a:ext cx="685800" cy="420624"/>
          </a:xfrm>
          <a:prstGeom prst="rect">
            <a:avLst/>
          </a:prstGeom>
          <a:noFill/>
          <a:ln/>
        </p:spPr>
        <p:txBody>
          <a:bodyPr wrap="square" lIns="0" tIns="0" rIns="0" bIns="0" rtlCol="0" anchor="ctr"/>
          <a:lstStyle/>
          <a:p>
            <a:pPr indent="0" marL="0">
              <a:lnSpc>
                <a:spcPct val="110000"/>
              </a:lnSpc>
              <a:buNone/>
            </a:pPr>
            <a:r>
              <a:rPr lang="en-US" sz="1100" b="1" dirty="0">
                <a:solidFill>
                  <a:srgbClr val="6B6F80"/>
                </a:solidFill>
                <a:latin typeface="Calibri" pitchFamily="34" charset="0"/>
                <a:ea typeface="Calibri" pitchFamily="34" charset="-122"/>
                <a:cs typeface="Calibri" pitchFamily="34" charset="-120"/>
              </a:rPr>
              <a:t>T-05</a:t>
            </a:r>
            <a:endParaRPr lang="en-US" sz="1100" dirty="0"/>
          </a:p>
        </p:txBody>
      </p:sp>
      <p:sp>
        <p:nvSpPr>
          <p:cNvPr id="43" name="Text 41"/>
          <p:cNvSpPr/>
          <p:nvPr/>
        </p:nvSpPr>
        <p:spPr>
          <a:xfrm>
            <a:off x="1417320" y="4434840"/>
            <a:ext cx="2194560" cy="420624"/>
          </a:xfrm>
          <a:prstGeom prst="rect">
            <a:avLst/>
          </a:prstGeom>
          <a:noFill/>
          <a:ln/>
        </p:spPr>
        <p:txBody>
          <a:bodyPr wrap="square" lIns="0" tIns="0" rIns="0" bIns="0" rtlCol="0" anchor="ctr"/>
          <a:lstStyle/>
          <a:p>
            <a:pPr indent="0" marL="0">
              <a:lnSpc>
                <a:spcPct val="110000"/>
              </a:lnSpc>
              <a:buNone/>
            </a:pPr>
            <a:r>
              <a:rPr lang="en-US" sz="1030" b="1" dirty="0">
                <a:solidFill>
                  <a:srgbClr val="3A3D4A"/>
                </a:solidFill>
                <a:latin typeface="Calibri" pitchFamily="34" charset="0"/>
                <a:ea typeface="Calibri" pitchFamily="34" charset="-122"/>
                <a:cs typeface="Calibri" pitchFamily="34" charset="-120"/>
              </a:rPr>
              <a:t>광고비 YoY 증감률</a:t>
            </a:r>
            <a:endParaRPr lang="en-US" sz="1030" dirty="0"/>
          </a:p>
        </p:txBody>
      </p:sp>
      <p:sp>
        <p:nvSpPr>
          <p:cNvPr id="44" name="Text 42"/>
          <p:cNvSpPr/>
          <p:nvPr/>
        </p:nvSpPr>
        <p:spPr>
          <a:xfrm>
            <a:off x="3794760" y="4434840"/>
            <a:ext cx="1371600" cy="420624"/>
          </a:xfrm>
          <a:prstGeom prst="rect">
            <a:avLst/>
          </a:prstGeom>
          <a:noFill/>
          <a:ln/>
        </p:spPr>
        <p:txBody>
          <a:bodyPr wrap="square" lIns="0" tIns="0" rIns="0" bIns="0" rtlCol="0" anchor="ctr"/>
          <a:lstStyle/>
          <a:p>
            <a:pPr indent="0" marL="0">
              <a:lnSpc>
                <a:spcPct val="110000"/>
              </a:lnSpc>
              <a:buNone/>
            </a:pPr>
            <a:r>
              <a:rPr lang="en-US" sz="1030" dirty="0">
                <a:solidFill>
                  <a:srgbClr val="3A3D4A"/>
                </a:solidFill>
                <a:latin typeface="Calibri" pitchFamily="34" charset="0"/>
                <a:ea typeface="Calibri" pitchFamily="34" charset="-122"/>
                <a:cs typeface="Calibri" pitchFamily="34" charset="-120"/>
              </a:rPr>
              <a:t>스탯카드</a:t>
            </a:r>
            <a:endParaRPr lang="en-US" sz="1030" dirty="0"/>
          </a:p>
        </p:txBody>
      </p:sp>
      <p:sp>
        <p:nvSpPr>
          <p:cNvPr id="45" name="Text 43"/>
          <p:cNvSpPr/>
          <p:nvPr/>
        </p:nvSpPr>
        <p:spPr>
          <a:xfrm>
            <a:off x="5349240" y="4434840"/>
            <a:ext cx="3200400" cy="420624"/>
          </a:xfrm>
          <a:prstGeom prst="rect">
            <a:avLst/>
          </a:prstGeom>
          <a:noFill/>
          <a:ln/>
        </p:spPr>
        <p:txBody>
          <a:bodyPr wrap="square" lIns="0" tIns="0" rIns="0" bIns="0" rtlCol="0" anchor="ctr"/>
          <a:lstStyle/>
          <a:p>
            <a:pPr indent="0" marL="0">
              <a:lnSpc>
                <a:spcPct val="110000"/>
              </a:lnSpc>
              <a:buNone/>
            </a:pPr>
            <a:r>
              <a:rPr lang="en-US" sz="1030" dirty="0">
                <a:solidFill>
                  <a:srgbClr val="3A3D4A"/>
                </a:solidFill>
                <a:latin typeface="Calibri" pitchFamily="34" charset="0"/>
                <a:ea typeface="Calibri" pitchFamily="34" charset="-122"/>
                <a:cs typeface="Calibri" pitchFamily="34" charset="-120"/>
              </a:rPr>
              <a:t>T-04 계산값</a:t>
            </a:r>
            <a:endParaRPr lang="en-US" sz="1030" dirty="0"/>
          </a:p>
        </p:txBody>
      </p:sp>
      <p:sp>
        <p:nvSpPr>
          <p:cNvPr id="46" name="Text 44"/>
          <p:cNvSpPr/>
          <p:nvPr/>
        </p:nvSpPr>
        <p:spPr>
          <a:xfrm>
            <a:off x="8732520" y="4434840"/>
            <a:ext cx="914400" cy="420624"/>
          </a:xfrm>
          <a:prstGeom prst="rect">
            <a:avLst/>
          </a:prstGeom>
          <a:noFill/>
          <a:ln/>
        </p:spPr>
        <p:txBody>
          <a:bodyPr wrap="square" lIns="0" tIns="0" rIns="0" bIns="0" rtlCol="0" anchor="ctr"/>
          <a:lstStyle/>
          <a:p>
            <a:pPr indent="0" marL="0">
              <a:lnSpc>
                <a:spcPct val="110000"/>
              </a:lnSpc>
              <a:buNone/>
            </a:pPr>
            <a:r>
              <a:rPr lang="en-US" sz="1030" dirty="0">
                <a:solidFill>
                  <a:srgbClr val="3A3D4A"/>
                </a:solidFill>
                <a:latin typeface="Calibri" pitchFamily="34" charset="0"/>
                <a:ea typeface="Calibri" pitchFamily="34" charset="-122"/>
                <a:cs typeface="Calibri" pitchFamily="34" charset="-120"/>
              </a:rPr>
              <a:t>반기·연간</a:t>
            </a:r>
            <a:endParaRPr lang="en-US" sz="1030" dirty="0"/>
          </a:p>
        </p:txBody>
      </p:sp>
      <p:sp>
        <p:nvSpPr>
          <p:cNvPr id="47" name="Text 45"/>
          <p:cNvSpPr/>
          <p:nvPr/>
        </p:nvSpPr>
        <p:spPr>
          <a:xfrm>
            <a:off x="9829800" y="4434840"/>
            <a:ext cx="1645920" cy="420624"/>
          </a:xfrm>
          <a:prstGeom prst="rect">
            <a:avLst/>
          </a:prstGeom>
          <a:noFill/>
          <a:ln/>
        </p:spPr>
        <p:txBody>
          <a:bodyPr wrap="square" lIns="0" tIns="0" rIns="0" bIns="0" rtlCol="0" anchor="ctr"/>
          <a:lstStyle/>
          <a:p>
            <a:pPr indent="0" marL="0">
              <a:lnSpc>
                <a:spcPct val="110000"/>
              </a:lnSpc>
              <a:buNone/>
            </a:pPr>
            <a:r>
              <a:rPr lang="en-US" sz="1030" dirty="0">
                <a:solidFill>
                  <a:srgbClr val="2FA89A"/>
                </a:solidFill>
                <a:latin typeface="Calibri" pitchFamily="34" charset="0"/>
                <a:ea typeface="Calibri" pitchFamily="34" charset="-122"/>
                <a:cs typeface="Calibri" pitchFamily="34" charset="-120"/>
              </a:rPr>
              <a:t>실측(계산)</a:t>
            </a:r>
            <a:endParaRPr lang="en-US" sz="1030" dirty="0"/>
          </a:p>
        </p:txBody>
      </p:sp>
      <p:sp>
        <p:nvSpPr>
          <p:cNvPr id="48" name="Shape 46"/>
          <p:cNvSpPr/>
          <p:nvPr/>
        </p:nvSpPr>
        <p:spPr>
          <a:xfrm>
            <a:off x="548640" y="4956048"/>
            <a:ext cx="11109960" cy="512064"/>
          </a:xfrm>
          <a:prstGeom prst="rect">
            <a:avLst/>
          </a:prstGeom>
          <a:solidFill>
            <a:srgbClr val="FFFFFF"/>
          </a:solidFill>
          <a:ln/>
        </p:spPr>
      </p:sp>
      <p:sp>
        <p:nvSpPr>
          <p:cNvPr id="49" name="Text 47"/>
          <p:cNvSpPr/>
          <p:nvPr/>
        </p:nvSpPr>
        <p:spPr>
          <a:xfrm>
            <a:off x="548640" y="5001768"/>
            <a:ext cx="685800" cy="420624"/>
          </a:xfrm>
          <a:prstGeom prst="rect">
            <a:avLst/>
          </a:prstGeom>
          <a:noFill/>
          <a:ln/>
        </p:spPr>
        <p:txBody>
          <a:bodyPr wrap="square" lIns="0" tIns="0" rIns="0" bIns="0" rtlCol="0" anchor="ctr"/>
          <a:lstStyle/>
          <a:p>
            <a:pPr indent="0" marL="0">
              <a:lnSpc>
                <a:spcPct val="110000"/>
              </a:lnSpc>
              <a:buNone/>
            </a:pPr>
            <a:r>
              <a:rPr lang="en-US" sz="1100" b="1" dirty="0">
                <a:solidFill>
                  <a:srgbClr val="6B6F80"/>
                </a:solidFill>
                <a:latin typeface="Calibri" pitchFamily="34" charset="0"/>
                <a:ea typeface="Calibri" pitchFamily="34" charset="-122"/>
                <a:cs typeface="Calibri" pitchFamily="34" charset="-120"/>
              </a:rPr>
              <a:t>T-06</a:t>
            </a:r>
            <a:endParaRPr lang="en-US" sz="1100" dirty="0"/>
          </a:p>
        </p:txBody>
      </p:sp>
      <p:sp>
        <p:nvSpPr>
          <p:cNvPr id="50" name="Text 48"/>
          <p:cNvSpPr/>
          <p:nvPr/>
        </p:nvSpPr>
        <p:spPr>
          <a:xfrm>
            <a:off x="1417320" y="5001768"/>
            <a:ext cx="2194560" cy="420624"/>
          </a:xfrm>
          <a:prstGeom prst="rect">
            <a:avLst/>
          </a:prstGeom>
          <a:noFill/>
          <a:ln/>
        </p:spPr>
        <p:txBody>
          <a:bodyPr wrap="square" lIns="0" tIns="0" rIns="0" bIns="0" rtlCol="0" anchor="ctr"/>
          <a:lstStyle/>
          <a:p>
            <a:pPr indent="0" marL="0">
              <a:lnSpc>
                <a:spcPct val="110000"/>
              </a:lnSpc>
              <a:buNone/>
            </a:pPr>
            <a:r>
              <a:rPr lang="en-US" sz="1030" b="1" dirty="0">
                <a:solidFill>
                  <a:srgbClr val="3A3D4A"/>
                </a:solidFill>
                <a:latin typeface="Calibri" pitchFamily="34" charset="0"/>
                <a:ea typeface="Calibri" pitchFamily="34" charset="-122"/>
                <a:cs typeface="Calibri" pitchFamily="34" charset="-120"/>
              </a:rPr>
              <a:t>UA 노출강도 지수</a:t>
            </a:r>
            <a:endParaRPr lang="en-US" sz="1030" dirty="0"/>
          </a:p>
        </p:txBody>
      </p:sp>
      <p:sp>
        <p:nvSpPr>
          <p:cNvPr id="51" name="Text 49"/>
          <p:cNvSpPr/>
          <p:nvPr/>
        </p:nvSpPr>
        <p:spPr>
          <a:xfrm>
            <a:off x="3794760" y="5001768"/>
            <a:ext cx="1371600" cy="420624"/>
          </a:xfrm>
          <a:prstGeom prst="rect">
            <a:avLst/>
          </a:prstGeom>
          <a:noFill/>
          <a:ln/>
        </p:spPr>
        <p:txBody>
          <a:bodyPr wrap="square" lIns="0" tIns="0" rIns="0" bIns="0" rtlCol="0" anchor="ctr"/>
          <a:lstStyle/>
          <a:p>
            <a:pPr indent="0" marL="0">
              <a:lnSpc>
                <a:spcPct val="110000"/>
              </a:lnSpc>
              <a:buNone/>
            </a:pPr>
            <a:r>
              <a:rPr lang="en-US" sz="1030" dirty="0">
                <a:solidFill>
                  <a:srgbClr val="3A3D4A"/>
                </a:solidFill>
                <a:latin typeface="Calibri" pitchFamily="34" charset="0"/>
                <a:ea typeface="Calibri" pitchFamily="34" charset="-122"/>
                <a:cs typeface="Calibri" pitchFamily="34" charset="-120"/>
              </a:rPr>
              <a:t>스탯카드+막대</a:t>
            </a:r>
            <a:endParaRPr lang="en-US" sz="1030" dirty="0"/>
          </a:p>
        </p:txBody>
      </p:sp>
      <p:sp>
        <p:nvSpPr>
          <p:cNvPr id="52" name="Text 50"/>
          <p:cNvSpPr/>
          <p:nvPr/>
        </p:nvSpPr>
        <p:spPr>
          <a:xfrm>
            <a:off x="5349240" y="5001768"/>
            <a:ext cx="3200400" cy="420624"/>
          </a:xfrm>
          <a:prstGeom prst="rect">
            <a:avLst/>
          </a:prstGeom>
          <a:noFill/>
          <a:ln/>
        </p:spPr>
        <p:txBody>
          <a:bodyPr wrap="square" lIns="0" tIns="0" rIns="0" bIns="0" rtlCol="0" anchor="ctr"/>
          <a:lstStyle/>
          <a:p>
            <a:pPr indent="0" marL="0">
              <a:lnSpc>
                <a:spcPct val="110000"/>
              </a:lnSpc>
              <a:buNone/>
            </a:pPr>
            <a:r>
              <a:rPr lang="en-US" sz="1030" dirty="0">
                <a:solidFill>
                  <a:srgbClr val="3A3D4A"/>
                </a:solidFill>
                <a:latin typeface="Calibri" pitchFamily="34" charset="0"/>
                <a:ea typeface="Calibri" pitchFamily="34" charset="-122"/>
                <a:cs typeface="Calibri" pitchFamily="34" charset="-120"/>
              </a:rPr>
              <a:t>Meta Ads Library 수기 캡처</a:t>
            </a:r>
            <a:endParaRPr lang="en-US" sz="1030" dirty="0"/>
          </a:p>
        </p:txBody>
      </p:sp>
      <p:sp>
        <p:nvSpPr>
          <p:cNvPr id="53" name="Text 51"/>
          <p:cNvSpPr/>
          <p:nvPr/>
        </p:nvSpPr>
        <p:spPr>
          <a:xfrm>
            <a:off x="8732520" y="5001768"/>
            <a:ext cx="914400" cy="420624"/>
          </a:xfrm>
          <a:prstGeom prst="rect">
            <a:avLst/>
          </a:prstGeom>
          <a:noFill/>
          <a:ln/>
        </p:spPr>
        <p:txBody>
          <a:bodyPr wrap="square" lIns="0" tIns="0" rIns="0" bIns="0" rtlCol="0" anchor="ctr"/>
          <a:lstStyle/>
          <a:p>
            <a:pPr indent="0" marL="0">
              <a:lnSpc>
                <a:spcPct val="110000"/>
              </a:lnSpc>
              <a:buNone/>
            </a:pPr>
            <a:r>
              <a:rPr lang="en-US" sz="1030" dirty="0">
                <a:solidFill>
                  <a:srgbClr val="3A3D4A"/>
                </a:solidFill>
                <a:latin typeface="Calibri" pitchFamily="34" charset="0"/>
                <a:ea typeface="Calibri" pitchFamily="34" charset="-122"/>
                <a:cs typeface="Calibri" pitchFamily="34" charset="-120"/>
              </a:rPr>
              <a:t>주간~월간</a:t>
            </a:r>
            <a:endParaRPr lang="en-US" sz="1030" dirty="0"/>
          </a:p>
        </p:txBody>
      </p:sp>
      <p:sp>
        <p:nvSpPr>
          <p:cNvPr id="54" name="Text 52"/>
          <p:cNvSpPr/>
          <p:nvPr/>
        </p:nvSpPr>
        <p:spPr>
          <a:xfrm>
            <a:off x="9829800" y="5001768"/>
            <a:ext cx="1645920" cy="420624"/>
          </a:xfrm>
          <a:prstGeom prst="rect">
            <a:avLst/>
          </a:prstGeom>
          <a:noFill/>
          <a:ln/>
        </p:spPr>
        <p:txBody>
          <a:bodyPr wrap="square" lIns="0" tIns="0" rIns="0" bIns="0" rtlCol="0" anchor="ctr"/>
          <a:lstStyle/>
          <a:p>
            <a:pPr indent="0" marL="0">
              <a:lnSpc>
                <a:spcPct val="110000"/>
              </a:lnSpc>
              <a:buNone/>
            </a:pPr>
            <a:r>
              <a:rPr lang="en-US" sz="1030" dirty="0">
                <a:solidFill>
                  <a:srgbClr val="E8B84B"/>
                </a:solidFill>
                <a:latin typeface="Calibri" pitchFamily="34" charset="0"/>
                <a:ea typeface="Calibri" pitchFamily="34" charset="-122"/>
                <a:cs typeface="Calibri" pitchFamily="34" charset="-120"/>
              </a:rPr>
              <a:t>추정(프록시)</a:t>
            </a:r>
            <a:endParaRPr lang="en-US" sz="1030" dirty="0"/>
          </a:p>
        </p:txBody>
      </p:sp>
      <p:sp>
        <p:nvSpPr>
          <p:cNvPr id="55" name="Shape 53"/>
          <p:cNvSpPr/>
          <p:nvPr/>
        </p:nvSpPr>
        <p:spPr>
          <a:xfrm>
            <a:off x="548640" y="5522976"/>
            <a:ext cx="11109960" cy="512064"/>
          </a:xfrm>
          <a:prstGeom prst="rect">
            <a:avLst/>
          </a:prstGeom>
          <a:solidFill>
            <a:srgbClr val="FAFAFB"/>
          </a:solidFill>
          <a:ln/>
        </p:spPr>
      </p:sp>
      <p:sp>
        <p:nvSpPr>
          <p:cNvPr id="56" name="Text 54"/>
          <p:cNvSpPr/>
          <p:nvPr/>
        </p:nvSpPr>
        <p:spPr>
          <a:xfrm>
            <a:off x="548640" y="5568696"/>
            <a:ext cx="685800" cy="420624"/>
          </a:xfrm>
          <a:prstGeom prst="rect">
            <a:avLst/>
          </a:prstGeom>
          <a:noFill/>
          <a:ln/>
        </p:spPr>
        <p:txBody>
          <a:bodyPr wrap="square" lIns="0" tIns="0" rIns="0" bIns="0" rtlCol="0" anchor="ctr"/>
          <a:lstStyle/>
          <a:p>
            <a:pPr indent="0" marL="0">
              <a:lnSpc>
                <a:spcPct val="110000"/>
              </a:lnSpc>
              <a:buNone/>
            </a:pPr>
            <a:r>
              <a:rPr lang="en-US" sz="1100" b="1" dirty="0">
                <a:solidFill>
                  <a:srgbClr val="6B6F80"/>
                </a:solidFill>
                <a:latin typeface="Calibri" pitchFamily="34" charset="0"/>
                <a:ea typeface="Calibri" pitchFamily="34" charset="-122"/>
                <a:cs typeface="Calibri" pitchFamily="34" charset="-120"/>
              </a:rPr>
              <a:t>T-07</a:t>
            </a:r>
            <a:endParaRPr lang="en-US" sz="1100" dirty="0"/>
          </a:p>
        </p:txBody>
      </p:sp>
      <p:sp>
        <p:nvSpPr>
          <p:cNvPr id="57" name="Text 55"/>
          <p:cNvSpPr/>
          <p:nvPr/>
        </p:nvSpPr>
        <p:spPr>
          <a:xfrm>
            <a:off x="1417320" y="5568696"/>
            <a:ext cx="2194560" cy="420624"/>
          </a:xfrm>
          <a:prstGeom prst="rect">
            <a:avLst/>
          </a:prstGeom>
          <a:noFill/>
          <a:ln/>
        </p:spPr>
        <p:txBody>
          <a:bodyPr wrap="square" lIns="0" tIns="0" rIns="0" bIns="0" rtlCol="0" anchor="ctr"/>
          <a:lstStyle/>
          <a:p>
            <a:pPr indent="0" marL="0">
              <a:lnSpc>
                <a:spcPct val="110000"/>
              </a:lnSpc>
              <a:buNone/>
            </a:pPr>
            <a:r>
              <a:rPr lang="en-US" sz="1030" b="1" dirty="0">
                <a:solidFill>
                  <a:srgbClr val="3A3D4A"/>
                </a:solidFill>
                <a:latin typeface="Calibri" pitchFamily="34" charset="0"/>
                <a:ea typeface="Calibri" pitchFamily="34" charset="-122"/>
                <a:cs typeface="Calibri" pitchFamily="34" charset="-120"/>
              </a:rPr>
              <a:t>마케팅 효율 지수</a:t>
            </a:r>
            <a:endParaRPr lang="en-US" sz="1030" dirty="0"/>
          </a:p>
        </p:txBody>
      </p:sp>
      <p:sp>
        <p:nvSpPr>
          <p:cNvPr id="58" name="Text 56"/>
          <p:cNvSpPr/>
          <p:nvPr/>
        </p:nvSpPr>
        <p:spPr>
          <a:xfrm>
            <a:off x="3794760" y="5568696"/>
            <a:ext cx="1371600" cy="420624"/>
          </a:xfrm>
          <a:prstGeom prst="rect">
            <a:avLst/>
          </a:prstGeom>
          <a:noFill/>
          <a:ln/>
        </p:spPr>
        <p:txBody>
          <a:bodyPr wrap="square" lIns="0" tIns="0" rIns="0" bIns="0" rtlCol="0" anchor="ctr"/>
          <a:lstStyle/>
          <a:p>
            <a:pPr indent="0" marL="0">
              <a:lnSpc>
                <a:spcPct val="110000"/>
              </a:lnSpc>
              <a:buNone/>
            </a:pPr>
            <a:r>
              <a:rPr lang="en-US" sz="1030" dirty="0">
                <a:solidFill>
                  <a:srgbClr val="3A3D4A"/>
                </a:solidFill>
                <a:latin typeface="Calibri" pitchFamily="34" charset="0"/>
                <a:ea typeface="Calibri" pitchFamily="34" charset="-122"/>
                <a:cs typeface="Calibri" pitchFamily="34" charset="-120"/>
              </a:rPr>
              <a:t>카드(사분면)</a:t>
            </a:r>
            <a:endParaRPr lang="en-US" sz="1030" dirty="0"/>
          </a:p>
        </p:txBody>
      </p:sp>
      <p:sp>
        <p:nvSpPr>
          <p:cNvPr id="59" name="Text 57"/>
          <p:cNvSpPr/>
          <p:nvPr/>
        </p:nvSpPr>
        <p:spPr>
          <a:xfrm>
            <a:off x="5349240" y="5568696"/>
            <a:ext cx="3200400" cy="420624"/>
          </a:xfrm>
          <a:prstGeom prst="rect">
            <a:avLst/>
          </a:prstGeom>
          <a:noFill/>
          <a:ln/>
        </p:spPr>
        <p:txBody>
          <a:bodyPr wrap="square" lIns="0" tIns="0" rIns="0" bIns="0" rtlCol="0" anchor="ctr"/>
          <a:lstStyle/>
          <a:p>
            <a:pPr indent="0" marL="0">
              <a:lnSpc>
                <a:spcPct val="110000"/>
              </a:lnSpc>
              <a:buNone/>
            </a:pPr>
            <a:r>
              <a:rPr lang="en-US" sz="1030" dirty="0">
                <a:solidFill>
                  <a:srgbClr val="3A3D4A"/>
                </a:solidFill>
                <a:latin typeface="Calibri" pitchFamily="34" charset="0"/>
                <a:ea typeface="Calibri" pitchFamily="34" charset="-122"/>
                <a:cs typeface="Calibri" pitchFamily="34" charset="-120"/>
              </a:rPr>
              <a:t>T-04·T-05 + T-02·T-03 교차</a:t>
            </a:r>
            <a:endParaRPr lang="en-US" sz="1030" dirty="0"/>
          </a:p>
        </p:txBody>
      </p:sp>
      <p:sp>
        <p:nvSpPr>
          <p:cNvPr id="60" name="Text 58"/>
          <p:cNvSpPr/>
          <p:nvPr/>
        </p:nvSpPr>
        <p:spPr>
          <a:xfrm>
            <a:off x="8732520" y="5568696"/>
            <a:ext cx="914400" cy="420624"/>
          </a:xfrm>
          <a:prstGeom prst="rect">
            <a:avLst/>
          </a:prstGeom>
          <a:noFill/>
          <a:ln/>
        </p:spPr>
        <p:txBody>
          <a:bodyPr wrap="square" lIns="0" tIns="0" rIns="0" bIns="0" rtlCol="0" anchor="ctr"/>
          <a:lstStyle/>
          <a:p>
            <a:pPr indent="0" marL="0">
              <a:lnSpc>
                <a:spcPct val="110000"/>
              </a:lnSpc>
              <a:buNone/>
            </a:pPr>
            <a:r>
              <a:rPr lang="en-US" sz="1030" dirty="0">
                <a:solidFill>
                  <a:srgbClr val="3A3D4A"/>
                </a:solidFill>
                <a:latin typeface="Calibri" pitchFamily="34" charset="0"/>
                <a:ea typeface="Calibri" pitchFamily="34" charset="-122"/>
                <a:cs typeface="Calibri" pitchFamily="34" charset="-120"/>
              </a:rPr>
              <a:t>반기</a:t>
            </a:r>
            <a:endParaRPr lang="en-US" sz="1030" dirty="0"/>
          </a:p>
        </p:txBody>
      </p:sp>
      <p:sp>
        <p:nvSpPr>
          <p:cNvPr id="61" name="Text 59"/>
          <p:cNvSpPr/>
          <p:nvPr/>
        </p:nvSpPr>
        <p:spPr>
          <a:xfrm>
            <a:off x="9829800" y="5568696"/>
            <a:ext cx="1645920" cy="420624"/>
          </a:xfrm>
          <a:prstGeom prst="rect">
            <a:avLst/>
          </a:prstGeom>
          <a:noFill/>
          <a:ln/>
        </p:spPr>
        <p:txBody>
          <a:bodyPr wrap="square" lIns="0" tIns="0" rIns="0" bIns="0" rtlCol="0" anchor="ctr"/>
          <a:lstStyle/>
          <a:p>
            <a:pPr indent="0" marL="0">
              <a:lnSpc>
                <a:spcPct val="110000"/>
              </a:lnSpc>
              <a:buNone/>
            </a:pPr>
            <a:r>
              <a:rPr lang="en-US" sz="1030" dirty="0">
                <a:solidFill>
                  <a:srgbClr val="E8B84B"/>
                </a:solidFill>
                <a:latin typeface="Calibri" pitchFamily="34" charset="0"/>
                <a:ea typeface="Calibri" pitchFamily="34" charset="-122"/>
                <a:cs typeface="Calibri" pitchFamily="34" charset="-120"/>
              </a:rPr>
              <a:t>추정(방향성)</a:t>
            </a:r>
            <a:endParaRPr lang="en-US" sz="103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4161F"/>
        </a:solidFill>
      </p:bgPr>
    </p:bg>
    <p:spTree>
      <p:nvGrpSpPr>
        <p:cNvPr id="1" name=""/>
        <p:cNvGrpSpPr/>
        <p:nvPr/>
      </p:nvGrpSpPr>
      <p:grpSpPr>
        <a:xfrm>
          <a:off x="0" y="0"/>
          <a:ext cx="0" cy="0"/>
          <a:chOff x="0" y="0"/>
          <a:chExt cx="0" cy="0"/>
        </a:xfrm>
      </p:grpSpPr>
      <p:sp>
        <p:nvSpPr>
          <p:cNvPr id="2" name="Shape 0"/>
          <p:cNvSpPr/>
          <p:nvPr/>
        </p:nvSpPr>
        <p:spPr>
          <a:xfrm>
            <a:off x="8046720" y="-2560320"/>
            <a:ext cx="5943600" cy="5943600"/>
          </a:xfrm>
          <a:prstGeom prst="ellipse">
            <a:avLst/>
          </a:prstGeom>
          <a:solidFill>
            <a:srgbClr val="1B1E2C"/>
          </a:solidFill>
          <a:ln/>
        </p:spPr>
      </p:sp>
      <p:sp>
        <p:nvSpPr>
          <p:cNvPr id="3" name="Text 1"/>
          <p:cNvSpPr/>
          <p:nvPr/>
        </p:nvSpPr>
        <p:spPr>
          <a:xfrm>
            <a:off x="822960" y="2651760"/>
            <a:ext cx="8229600" cy="365760"/>
          </a:xfrm>
          <a:prstGeom prst="rect">
            <a:avLst/>
          </a:prstGeom>
          <a:noFill/>
          <a:ln/>
        </p:spPr>
        <p:txBody>
          <a:bodyPr wrap="square" lIns="0" tIns="0" rIns="0" bIns="0" rtlCol="0" anchor="ctr"/>
          <a:lstStyle/>
          <a:p>
            <a:pPr indent="0" marL="0">
              <a:buNone/>
            </a:pPr>
            <a:r>
              <a:rPr lang="en-US" sz="1250" b="1" spc="300" kern="0" dirty="0">
                <a:solidFill>
                  <a:srgbClr val="E8B84B"/>
                </a:solidFill>
                <a:latin typeface="Calibri" pitchFamily="34" charset="0"/>
                <a:ea typeface="Calibri" pitchFamily="34" charset="-122"/>
                <a:cs typeface="Calibri" pitchFamily="34" charset="-120"/>
              </a:rPr>
              <a:t>MAPLESTORY M MARKETING TEAM</a:t>
            </a:r>
            <a:endParaRPr lang="en-US" sz="1250" dirty="0"/>
          </a:p>
        </p:txBody>
      </p:sp>
      <p:sp>
        <p:nvSpPr>
          <p:cNvPr id="4" name="Text 2"/>
          <p:cNvSpPr/>
          <p:nvPr/>
        </p:nvSpPr>
        <p:spPr>
          <a:xfrm>
            <a:off x="822960" y="3063240"/>
            <a:ext cx="10241280" cy="1828800"/>
          </a:xfrm>
          <a:prstGeom prst="rect">
            <a:avLst/>
          </a:prstGeom>
          <a:noFill/>
          <a:ln/>
        </p:spPr>
        <p:txBody>
          <a:bodyPr wrap="square" lIns="0" tIns="0" rIns="0" bIns="0" rtlCol="0" anchor="ctr"/>
          <a:lstStyle/>
          <a:p>
            <a:pPr indent="0" marL="0">
              <a:lnSpc>
                <a:spcPct val="130000"/>
              </a:lnSpc>
              <a:buNone/>
            </a:pPr>
            <a:r>
              <a:rPr lang="en-US" sz="2400" dirty="0">
                <a:solidFill>
                  <a:srgbClr val="C7CADA"/>
                </a:solidFill>
                <a:latin typeface="Cambria" pitchFamily="34" charset="0"/>
                <a:ea typeface="Cambria" pitchFamily="34" charset="-122"/>
                <a:cs typeface="Cambria" pitchFamily="34" charset="-120"/>
              </a:rPr>
              <a:t>숫자로 증명된 리듬, 투명하게 정의된 지표.</a:t>
            </a:r>
            <a:endParaRPr lang="en-US" sz="2400" dirty="0"/>
          </a:p>
          <a:p>
            <a:pPr indent="0" marL="0">
              <a:lnSpc>
                <a:spcPct val="130000"/>
              </a:lnSpc>
              <a:buNone/>
            </a:pPr>
            <a:r>
              <a:rPr lang="en-US" sz="3200" b="1" dirty="0">
                <a:solidFill>
                  <a:srgbClr val="FFFFFF"/>
                </a:solidFill>
                <a:latin typeface="Cambria" pitchFamily="34" charset="0"/>
                <a:ea typeface="Cambria" pitchFamily="34" charset="-122"/>
                <a:cs typeface="Cambria" pitchFamily="34" charset="-120"/>
              </a:rPr>
              <a:t>이제 대시보드로 이어갑니다.</a:t>
            </a:r>
            <a:endParaRPr lang="en-US" sz="2400" dirty="0"/>
          </a:p>
        </p:txBody>
      </p:sp>
      <p:sp>
        <p:nvSpPr>
          <p:cNvPr id="5" name="Text 3"/>
          <p:cNvSpPr/>
          <p:nvPr/>
        </p:nvSpPr>
        <p:spPr>
          <a:xfrm>
            <a:off x="548640" y="6400800"/>
            <a:ext cx="10332720" cy="274320"/>
          </a:xfrm>
          <a:prstGeom prst="rect">
            <a:avLst/>
          </a:prstGeom>
          <a:noFill/>
          <a:ln/>
        </p:spPr>
        <p:txBody>
          <a:bodyPr wrap="square" lIns="0" tIns="0" rIns="0" bIns="0" rtlCol="0" anchor="ctr"/>
          <a:lstStyle/>
          <a:p>
            <a:pPr indent="0" marL="0">
              <a:buNone/>
            </a:pPr>
            <a:r>
              <a:rPr lang="en-US" sz="900" dirty="0">
                <a:solidFill>
                  <a:srgbClr val="7C8094"/>
                </a:solidFill>
                <a:latin typeface="Calibri" pitchFamily="34" charset="0"/>
                <a:ea typeface="Calibri" pitchFamily="34" charset="-122"/>
                <a:cs typeface="Calibri" pitchFamily="34" charset="-120"/>
              </a:rPr>
              <a:t>실측 CPI 확보를 위한 타이틀 단위 UA 계측 체계 구축이 다음 단계의 최우선 과제입니다.</a:t>
            </a:r>
            <a:endParaRPr lang="en-US" sz="900" dirty="0"/>
          </a:p>
        </p:txBody>
      </p:sp>
      <p:sp>
        <p:nvSpPr>
          <p:cNvPr id="6" name="Text 4"/>
          <p:cNvSpPr/>
          <p:nvPr/>
        </p:nvSpPr>
        <p:spPr>
          <a:xfrm>
            <a:off x="11365992" y="6446520"/>
            <a:ext cx="548640" cy="274320"/>
          </a:xfrm>
          <a:prstGeom prst="rect">
            <a:avLst/>
          </a:prstGeom>
          <a:noFill/>
          <a:ln/>
        </p:spPr>
        <p:txBody>
          <a:bodyPr wrap="square" lIns="0" tIns="0" rIns="0" bIns="0" rtlCol="0" anchor="ctr"/>
          <a:lstStyle/>
          <a:p>
            <a:pPr algn="r" indent="0" marL="0">
              <a:buNone/>
            </a:pPr>
            <a:r>
              <a:rPr lang="en-US" sz="900" dirty="0">
                <a:solidFill>
                  <a:srgbClr val="6A6E80"/>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2026-08-27T00:32:58Z</dcterms:created>
  <dcterms:modified xsi:type="dcterms:W3CDTF">2026-08-27T00:32:58Z</dcterms:modified>
</cp:coreProperties>
</file>