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메이플스토리M</c:v>
                </c:pt>
              </c:strCache>
            </c:strRef>
          </c:tx>
          <c:spPr>
            <a:solidFill>
              <a:srgbClr val="F06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D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25 Q4</c:v>
                  </c:pt>
                  <c:pt idx="1">
                    <c:v>26 Q1</c:v>
                  </c:pt>
                  <c:pt idx="2">
                    <c:v>26 Q2</c:v>
                  </c:pt>
                  <c:pt idx="3">
                    <c:v>26 Q3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마비노기모바일</c:v>
                </c:pt>
              </c:strCache>
            </c:strRef>
          </c:tx>
          <c:spPr>
            <a:solidFill>
              <a:srgbClr val="2FA8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D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25 Q4</c:v>
                  </c:pt>
                  <c:pt idx="1">
                    <c:v>26 Q1</c:v>
                  </c:pt>
                  <c:pt idx="2">
                    <c:v>26 Q2</c:v>
                  </c:pt>
                  <c:pt idx="3">
                    <c:v>26 Q3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검은사막모바일</c:v>
                </c:pt>
              </c:strCache>
            </c:strRef>
          </c:tx>
          <c:spPr>
            <a:solidFill>
              <a:srgbClr val="8B26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D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25 Q4</c:v>
                  </c:pt>
                  <c:pt idx="1">
                    <c:v>26 Q1</c:v>
                  </c:pt>
                  <c:pt idx="2">
                    <c:v>26 Q2</c:v>
                  </c:pt>
                  <c:pt idx="3">
                    <c:v>26 Q3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아이온2</c:v>
                </c:pt>
              </c:strCache>
            </c:strRef>
          </c:tx>
          <c:spPr>
            <a:solidFill>
              <a:srgbClr val="6B4F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D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25 Q4</c:v>
                  </c:pt>
                  <c:pt idx="1">
                    <c:v>26 Q1</c:v>
                  </c:pt>
                  <c:pt idx="2">
                    <c:v>26 Q2</c:v>
                  </c:pt>
                  <c:pt idx="3">
                    <c:v>26 Q3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D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8E0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B6F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</c:scaling>
        <c:delete val="0"/>
        <c:axPos val="l"/>
        <c:majorGridlines>
          <c:spPr>
            <a:ln w="12700" cap="flat">
              <a:solidFill>
                <a:srgbClr val="ED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F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메이플스토리M</c:v>
                </c:pt>
              </c:strCache>
            </c:strRef>
          </c:tx>
          <c:spPr>
            <a:solidFill>
              <a:srgbClr val="F0692B"/>
            </a:solidFill>
            <a:ln w="28575" cap="flat">
              <a:solidFill>
                <a:srgbClr val="F06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F0692B"/>
              </a:solidFill>
              <a:ln w="9525" cap="flat">
                <a:solidFill>
                  <a:srgbClr val="F06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Sheet1!$A$2:$A$40</c:f>
              <c:multiLvlStrCache>
                <c:ptCount val="39"/>
                <c:lvl>
                  <c:pt idx="0">
                    <c:v>11/17</c:v>
                  </c:pt>
                  <c:pt idx="1">
                    <c:v/>
                  </c:pt>
                  <c:pt idx="2">
                    <c:v/>
                  </c:pt>
                  <c:pt idx="3">
                    <c:v>12/8</c:v>
                  </c:pt>
                  <c:pt idx="4">
                    <c:v/>
                  </c:pt>
                  <c:pt idx="5">
                    <c:v/>
                  </c:pt>
                  <c:pt idx="6">
                    <c:v>12/29</c:v>
                  </c:pt>
                  <c:pt idx="7">
                    <c:v/>
                  </c:pt>
                  <c:pt idx="8">
                    <c:v/>
                  </c:pt>
                  <c:pt idx="9">
                    <c:v>1/19</c:v>
                  </c:pt>
                  <c:pt idx="10">
                    <c:v/>
                  </c:pt>
                  <c:pt idx="11">
                    <c:v/>
                  </c:pt>
                  <c:pt idx="12">
                    <c:v>2/9</c:v>
                  </c:pt>
                  <c:pt idx="13">
                    <c:v/>
                  </c:pt>
                  <c:pt idx="14">
                    <c:v/>
                  </c:pt>
                  <c:pt idx="15">
                    <c:v>3/2</c:v>
                  </c:pt>
                  <c:pt idx="16">
                    <c:v/>
                  </c:pt>
                  <c:pt idx="17">
                    <c:v/>
                  </c:pt>
                  <c:pt idx="18">
                    <c:v>3/23</c:v>
                  </c:pt>
                  <c:pt idx="19">
                    <c:v/>
                  </c:pt>
                  <c:pt idx="20">
                    <c:v/>
                  </c:pt>
                  <c:pt idx="21">
                    <c:v>4/13</c:v>
                  </c:pt>
                  <c:pt idx="22">
                    <c:v/>
                  </c:pt>
                  <c:pt idx="23">
                    <c:v/>
                  </c:pt>
                  <c:pt idx="24">
                    <c:v>5/4</c:v>
                  </c:pt>
                  <c:pt idx="25">
                    <c:v/>
                  </c:pt>
                  <c:pt idx="26">
                    <c:v/>
                  </c:pt>
                  <c:pt idx="27">
                    <c:v>5/25</c:v>
                  </c:pt>
                  <c:pt idx="28">
                    <c:v/>
                  </c:pt>
                  <c:pt idx="29">
                    <c:v/>
                  </c:pt>
                  <c:pt idx="30">
                    <c:v>6/15</c:v>
                  </c:pt>
                  <c:pt idx="31">
                    <c:v/>
                  </c:pt>
                  <c:pt idx="32">
                    <c:v/>
                  </c:pt>
                  <c:pt idx="33">
                    <c:v>7/6</c:v>
                  </c:pt>
                  <c:pt idx="34">
                    <c:v/>
                  </c:pt>
                  <c:pt idx="35">
                    <c:v/>
                  </c:pt>
                  <c:pt idx="36">
                    <c:v>7/27</c:v>
                  </c:pt>
                  <c:pt idx="37">
                    <c:v/>
                  </c:pt>
                  <c:pt idx="38">
                    <c:v/>
                  </c:pt>
                </c:lvl>
              </c:multiLvlStrCache>
            </c:multiLvlStrRef>
          </c:cat>
          <c:val>
            <c:numRef>
              <c:f>Sheet1!$B$2:$B$40</c:f>
              <c:numCache>
                <c:formatCode>General</c:formatCode>
                <c:ptCount val="39"/>
                <c:pt idx="0">
                  <c:v>71</c:v>
                </c:pt>
                <c:pt idx="1">
                  <c:v>68</c:v>
                </c:pt>
                <c:pt idx="2">
                  <c:v>64</c:v>
                </c:pt>
                <c:pt idx="3">
                  <c:v>60</c:v>
                </c:pt>
                <c:pt idx="4">
                  <c:v>44</c:v>
                </c:pt>
                <c:pt idx="5">
                  <c:v>22</c:v>
                </c:pt>
                <c:pt idx="6">
                  <c:v>34</c:v>
                </c:pt>
                <c:pt idx="7">
                  <c:v>41</c:v>
                </c:pt>
                <c:pt idx="8">
                  <c:v>37</c:v>
                </c:pt>
                <c:pt idx="9">
                  <c:v>38</c:v>
                </c:pt>
                <c:pt idx="10">
                  <c:v>53</c:v>
                </c:pt>
                <c:pt idx="11">
                  <c:v>62</c:v>
                </c:pt>
                <c:pt idx="12">
                  <c:v>58</c:v>
                </c:pt>
                <c:pt idx="13">
                  <c:v>39</c:v>
                </c:pt>
                <c:pt idx="14">
                  <c:v>49</c:v>
                </c:pt>
                <c:pt idx="15">
                  <c:v>63</c:v>
                </c:pt>
                <c:pt idx="16">
                  <c:v>71</c:v>
                </c:pt>
                <c:pt idx="17">
                  <c:v>74</c:v>
                </c:pt>
                <c:pt idx="18">
                  <c:v>78</c:v>
                </c:pt>
                <c:pt idx="19">
                  <c:v>85</c:v>
                </c:pt>
                <c:pt idx="20">
                  <c:v>87</c:v>
                </c:pt>
                <c:pt idx="21">
                  <c:v>76</c:v>
                </c:pt>
                <c:pt idx="22">
                  <c:v>79</c:v>
                </c:pt>
                <c:pt idx="23">
                  <c:v>82</c:v>
                </c:pt>
                <c:pt idx="24">
                  <c:v>80</c:v>
                </c:pt>
                <c:pt idx="25">
                  <c:v>82</c:v>
                </c:pt>
                <c:pt idx="26">
                  <c:v>85</c:v>
                </c:pt>
                <c:pt idx="27">
                  <c:v>85</c:v>
                </c:pt>
                <c:pt idx="28">
                  <c:v>80</c:v>
                </c:pt>
                <c:pt idx="29">
                  <c:v>88</c:v>
                </c:pt>
                <c:pt idx="30">
                  <c:v>86</c:v>
                </c:pt>
                <c:pt idx="31">
                  <c:v>91</c:v>
                </c:pt>
                <c:pt idx="32">
                  <c:v>98</c:v>
                </c:pt>
                <c:pt idx="33">
                  <c:v>83</c:v>
                </c:pt>
                <c:pt idx="34">
                  <c:v>89</c:v>
                </c:pt>
                <c:pt idx="35">
                  <c:v>87</c:v>
                </c:pt>
                <c:pt idx="36">
                  <c:v>34</c:v>
                </c:pt>
                <c:pt idx="37">
                  <c:v>21</c:v>
                </c:pt>
                <c:pt idx="38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마비노기모바일</c:v>
                </c:pt>
              </c:strCache>
            </c:strRef>
          </c:tx>
          <c:spPr>
            <a:solidFill>
              <a:srgbClr val="2FA89A"/>
            </a:solidFill>
            <a:ln w="28575" cap="flat">
              <a:solidFill>
                <a:srgbClr val="2FA8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2FA89A"/>
              </a:solidFill>
              <a:ln w="9525" cap="flat">
                <a:solidFill>
                  <a:srgbClr val="2FA8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Sheet1!$A$2:$A$40</c:f>
              <c:multiLvlStrCache>
                <c:ptCount val="39"/>
                <c:lvl>
                  <c:pt idx="0">
                    <c:v>11/17</c:v>
                  </c:pt>
                  <c:pt idx="1">
                    <c:v/>
                  </c:pt>
                  <c:pt idx="2">
                    <c:v/>
                  </c:pt>
                  <c:pt idx="3">
                    <c:v>12/8</c:v>
                  </c:pt>
                  <c:pt idx="4">
                    <c:v/>
                  </c:pt>
                  <c:pt idx="5">
                    <c:v/>
                  </c:pt>
                  <c:pt idx="6">
                    <c:v>12/29</c:v>
                  </c:pt>
                  <c:pt idx="7">
                    <c:v/>
                  </c:pt>
                  <c:pt idx="8">
                    <c:v/>
                  </c:pt>
                  <c:pt idx="9">
                    <c:v>1/19</c:v>
                  </c:pt>
                  <c:pt idx="10">
                    <c:v/>
                  </c:pt>
                  <c:pt idx="11">
                    <c:v/>
                  </c:pt>
                  <c:pt idx="12">
                    <c:v>2/9</c:v>
                  </c:pt>
                  <c:pt idx="13">
                    <c:v/>
                  </c:pt>
                  <c:pt idx="14">
                    <c:v/>
                  </c:pt>
                  <c:pt idx="15">
                    <c:v>3/2</c:v>
                  </c:pt>
                  <c:pt idx="16">
                    <c:v/>
                  </c:pt>
                  <c:pt idx="17">
                    <c:v/>
                  </c:pt>
                  <c:pt idx="18">
                    <c:v>3/23</c:v>
                  </c:pt>
                  <c:pt idx="19">
                    <c:v/>
                  </c:pt>
                  <c:pt idx="20">
                    <c:v/>
                  </c:pt>
                  <c:pt idx="21">
                    <c:v>4/13</c:v>
                  </c:pt>
                  <c:pt idx="22">
                    <c:v/>
                  </c:pt>
                  <c:pt idx="23">
                    <c:v/>
                  </c:pt>
                  <c:pt idx="24">
                    <c:v>5/4</c:v>
                  </c:pt>
                  <c:pt idx="25">
                    <c:v/>
                  </c:pt>
                  <c:pt idx="26">
                    <c:v/>
                  </c:pt>
                  <c:pt idx="27">
                    <c:v>5/25</c:v>
                  </c:pt>
                  <c:pt idx="28">
                    <c:v/>
                  </c:pt>
                  <c:pt idx="29">
                    <c:v/>
                  </c:pt>
                  <c:pt idx="30">
                    <c:v>6/15</c:v>
                  </c:pt>
                  <c:pt idx="31">
                    <c:v/>
                  </c:pt>
                  <c:pt idx="32">
                    <c:v/>
                  </c:pt>
                  <c:pt idx="33">
                    <c:v>7/6</c:v>
                  </c:pt>
                  <c:pt idx="34">
                    <c:v/>
                  </c:pt>
                  <c:pt idx="35">
                    <c:v/>
                  </c:pt>
                  <c:pt idx="36">
                    <c:v>7/27</c:v>
                  </c:pt>
                  <c:pt idx="37">
                    <c:v/>
                  </c:pt>
                  <c:pt idx="38">
                    <c:v/>
                  </c:pt>
                </c:lvl>
              </c:multiLvlStrCache>
            </c:multiLvlStrRef>
          </c:cat>
          <c:val>
            <c:numRef>
              <c:f>Sheet1!$C$2:$C$40</c:f>
              <c:numCache>
                <c:formatCode>General</c:formatCode>
                <c:ptCount val="39"/>
                <c:pt idx="0">
                  <c:v>14</c:v>
                </c:pt>
                <c:pt idx="1">
                  <c:v>11</c:v>
                </c:pt>
                <c:pt idx="2">
                  <c:v>11</c:v>
                </c:pt>
                <c:pt idx="3">
                  <c:v>14</c:v>
                </c:pt>
                <c:pt idx="4">
                  <c:v>10</c:v>
                </c:pt>
                <c:pt idx="5">
                  <c:v>4</c:v>
                </c:pt>
                <c:pt idx="6">
                  <c:v>10</c:v>
                </c:pt>
                <c:pt idx="7">
                  <c:v>12</c:v>
                </c:pt>
                <c:pt idx="8">
                  <c:v>14</c:v>
                </c:pt>
                <c:pt idx="9">
                  <c:v>17</c:v>
                </c:pt>
                <c:pt idx="10">
                  <c:v>18</c:v>
                </c:pt>
                <c:pt idx="11">
                  <c:v>16</c:v>
                </c:pt>
                <c:pt idx="12">
                  <c:v>21</c:v>
                </c:pt>
                <c:pt idx="13">
                  <c:v>15</c:v>
                </c:pt>
                <c:pt idx="14">
                  <c:v>19</c:v>
                </c:pt>
                <c:pt idx="15">
                  <c:v>18</c:v>
                </c:pt>
                <c:pt idx="16">
                  <c:v>27</c:v>
                </c:pt>
                <c:pt idx="17">
                  <c:v>26</c:v>
                </c:pt>
                <c:pt idx="18">
                  <c:v>11</c:v>
                </c:pt>
                <c:pt idx="19">
                  <c:v>6</c:v>
                </c:pt>
                <c:pt idx="20">
                  <c:v>14</c:v>
                </c:pt>
                <c:pt idx="21">
                  <c:v>21</c:v>
                </c:pt>
                <c:pt idx="22">
                  <c:v>16</c:v>
                </c:pt>
                <c:pt idx="23">
                  <c:v>16</c:v>
                </c:pt>
                <c:pt idx="24">
                  <c:v>26</c:v>
                </c:pt>
                <c:pt idx="25">
                  <c:v>32</c:v>
                </c:pt>
                <c:pt idx="26">
                  <c:v>22</c:v>
                </c:pt>
                <c:pt idx="27">
                  <c:v>18</c:v>
                </c:pt>
                <c:pt idx="28">
                  <c:v>21</c:v>
                </c:pt>
                <c:pt idx="29">
                  <c:v>34</c:v>
                </c:pt>
                <c:pt idx="30">
                  <c:v>49</c:v>
                </c:pt>
                <c:pt idx="31">
                  <c:v>13</c:v>
                </c:pt>
                <c:pt idx="32">
                  <c:v>6</c:v>
                </c:pt>
                <c:pt idx="33">
                  <c:v>14</c:v>
                </c:pt>
                <c:pt idx="34">
                  <c:v>17</c:v>
                </c:pt>
                <c:pt idx="35">
                  <c:v>17</c:v>
                </c:pt>
                <c:pt idx="36">
                  <c:v>28</c:v>
                </c:pt>
                <c:pt idx="37">
                  <c:v>23</c:v>
                </c:pt>
                <c:pt idx="38">
                  <c:v>21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아이온2</c:v>
                </c:pt>
              </c:strCache>
            </c:strRef>
          </c:tx>
          <c:spPr>
            <a:solidFill>
              <a:srgbClr val="6B4FA0"/>
            </a:solidFill>
            <a:ln w="28575" cap="flat">
              <a:solidFill>
                <a:srgbClr val="6B4F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6B4FA0"/>
              </a:solidFill>
              <a:ln w="9525" cap="flat">
                <a:solidFill>
                  <a:srgbClr val="6B4F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Sheet1!$A$2:$A$40</c:f>
              <c:multiLvlStrCache>
                <c:ptCount val="39"/>
                <c:lvl>
                  <c:pt idx="0">
                    <c:v>11/17</c:v>
                  </c:pt>
                  <c:pt idx="1">
                    <c:v/>
                  </c:pt>
                  <c:pt idx="2">
                    <c:v/>
                  </c:pt>
                  <c:pt idx="3">
                    <c:v>12/8</c:v>
                  </c:pt>
                  <c:pt idx="4">
                    <c:v/>
                  </c:pt>
                  <c:pt idx="5">
                    <c:v/>
                  </c:pt>
                  <c:pt idx="6">
                    <c:v>12/29</c:v>
                  </c:pt>
                  <c:pt idx="7">
                    <c:v/>
                  </c:pt>
                  <c:pt idx="8">
                    <c:v/>
                  </c:pt>
                  <c:pt idx="9">
                    <c:v>1/19</c:v>
                  </c:pt>
                  <c:pt idx="10">
                    <c:v/>
                  </c:pt>
                  <c:pt idx="11">
                    <c:v/>
                  </c:pt>
                  <c:pt idx="12">
                    <c:v>2/9</c:v>
                  </c:pt>
                  <c:pt idx="13">
                    <c:v/>
                  </c:pt>
                  <c:pt idx="14">
                    <c:v/>
                  </c:pt>
                  <c:pt idx="15">
                    <c:v>3/2</c:v>
                  </c:pt>
                  <c:pt idx="16">
                    <c:v/>
                  </c:pt>
                  <c:pt idx="17">
                    <c:v/>
                  </c:pt>
                  <c:pt idx="18">
                    <c:v>3/23</c:v>
                  </c:pt>
                  <c:pt idx="19">
                    <c:v/>
                  </c:pt>
                  <c:pt idx="20">
                    <c:v/>
                  </c:pt>
                  <c:pt idx="21">
                    <c:v>4/13</c:v>
                  </c:pt>
                  <c:pt idx="22">
                    <c:v/>
                  </c:pt>
                  <c:pt idx="23">
                    <c:v/>
                  </c:pt>
                  <c:pt idx="24">
                    <c:v>5/4</c:v>
                  </c:pt>
                  <c:pt idx="25">
                    <c:v/>
                  </c:pt>
                  <c:pt idx="26">
                    <c:v/>
                  </c:pt>
                  <c:pt idx="27">
                    <c:v>5/25</c:v>
                  </c:pt>
                  <c:pt idx="28">
                    <c:v/>
                  </c:pt>
                  <c:pt idx="29">
                    <c:v/>
                  </c:pt>
                  <c:pt idx="30">
                    <c:v>6/15</c:v>
                  </c:pt>
                  <c:pt idx="31">
                    <c:v/>
                  </c:pt>
                  <c:pt idx="32">
                    <c:v/>
                  </c:pt>
                  <c:pt idx="33">
                    <c:v>7/6</c:v>
                  </c:pt>
                  <c:pt idx="34">
                    <c:v/>
                  </c:pt>
                  <c:pt idx="35">
                    <c:v/>
                  </c:pt>
                  <c:pt idx="36">
                    <c:v>7/27</c:v>
                  </c:pt>
                  <c:pt idx="37">
                    <c:v/>
                  </c:pt>
                  <c:pt idx="38">
                    <c:v/>
                  </c:pt>
                </c:lvl>
              </c:multiLvlStrCache>
            </c:multiLvlStrRef>
          </c:cat>
          <c:val>
            <c:numRef>
              <c:f>Sheet1!$D$2:$D$40</c:f>
              <c:numCache>
                <c:formatCode>General</c:formatCode>
                <c:ptCount val="39"/>
                <c:pt idx="0">
                  <c:v>38</c:v>
                </c:pt>
                <c:pt idx="1">
                  <c:v>8</c:v>
                </c:pt>
                <c:pt idx="2">
                  <c:v>8</c:v>
                </c:pt>
                <c:pt idx="3">
                  <c:v>11</c:v>
                </c:pt>
                <c:pt idx="4">
                  <c:v>9</c:v>
                </c:pt>
                <c:pt idx="5">
                  <c:v>17</c:v>
                </c:pt>
                <c:pt idx="6">
                  <c:v>12</c:v>
                </c:pt>
                <c:pt idx="7">
                  <c:v>15</c:v>
                </c:pt>
                <c:pt idx="8">
                  <c:v>22</c:v>
                </c:pt>
                <c:pt idx="9">
                  <c:v>15</c:v>
                </c:pt>
                <c:pt idx="10">
                  <c:v>10</c:v>
                </c:pt>
                <c:pt idx="11">
                  <c:v>17</c:v>
                </c:pt>
                <c:pt idx="12">
                  <c:v>23</c:v>
                </c:pt>
                <c:pt idx="13">
                  <c:v>23</c:v>
                </c:pt>
                <c:pt idx="14">
                  <c:v>21</c:v>
                </c:pt>
                <c:pt idx="15">
                  <c:v>26</c:v>
                </c:pt>
                <c:pt idx="16">
                  <c:v>19</c:v>
                </c:pt>
                <c:pt idx="17">
                  <c:v>18</c:v>
                </c:pt>
                <c:pt idx="18">
                  <c:v>17</c:v>
                </c:pt>
                <c:pt idx="19">
                  <c:v>17</c:v>
                </c:pt>
                <c:pt idx="20">
                  <c:v>18</c:v>
                </c:pt>
                <c:pt idx="21">
                  <c:v>12</c:v>
                </c:pt>
                <c:pt idx="22">
                  <c:v>31</c:v>
                </c:pt>
                <c:pt idx="23">
                  <c:v>27</c:v>
                </c:pt>
                <c:pt idx="24">
                  <c:v>27</c:v>
                </c:pt>
                <c:pt idx="25">
                  <c:v>31</c:v>
                </c:pt>
                <c:pt idx="26">
                  <c:v>35</c:v>
                </c:pt>
                <c:pt idx="27">
                  <c:v>34</c:v>
                </c:pt>
                <c:pt idx="28">
                  <c:v>49</c:v>
                </c:pt>
                <c:pt idx="29">
                  <c:v>60</c:v>
                </c:pt>
                <c:pt idx="30">
                  <c:v>42</c:v>
                </c:pt>
                <c:pt idx="31">
                  <c:v>58</c:v>
                </c:pt>
                <c:pt idx="32">
                  <c:v>41</c:v>
                </c:pt>
                <c:pt idx="33">
                  <c:v>34</c:v>
                </c:pt>
                <c:pt idx="34">
                  <c:v>44</c:v>
                </c:pt>
                <c:pt idx="35">
                  <c:v>39</c:v>
                </c:pt>
                <c:pt idx="36">
                  <c:v>40</c:v>
                </c:pt>
                <c:pt idx="37">
                  <c:v>36</c:v>
                </c:pt>
                <c:pt idx="38">
                  <c:v>62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검은사막모바일</c:v>
                </c:pt>
              </c:strCache>
            </c:strRef>
          </c:tx>
          <c:spPr>
            <a:solidFill>
              <a:srgbClr val="8B2635"/>
            </a:solidFill>
            <a:ln w="28575" cap="flat">
              <a:solidFill>
                <a:srgbClr val="8B26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8B2635"/>
              </a:solidFill>
              <a:ln w="9525" cap="flat">
                <a:solidFill>
                  <a:srgbClr val="8B26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Sheet1!$A$2:$A$40</c:f>
              <c:multiLvlStrCache>
                <c:ptCount val="39"/>
                <c:lvl>
                  <c:pt idx="0">
                    <c:v>11/17</c:v>
                  </c:pt>
                  <c:pt idx="1">
                    <c:v/>
                  </c:pt>
                  <c:pt idx="2">
                    <c:v/>
                  </c:pt>
                  <c:pt idx="3">
                    <c:v>12/8</c:v>
                  </c:pt>
                  <c:pt idx="4">
                    <c:v/>
                  </c:pt>
                  <c:pt idx="5">
                    <c:v/>
                  </c:pt>
                  <c:pt idx="6">
                    <c:v>12/29</c:v>
                  </c:pt>
                  <c:pt idx="7">
                    <c:v/>
                  </c:pt>
                  <c:pt idx="8">
                    <c:v/>
                  </c:pt>
                  <c:pt idx="9">
                    <c:v>1/19</c:v>
                  </c:pt>
                  <c:pt idx="10">
                    <c:v/>
                  </c:pt>
                  <c:pt idx="11">
                    <c:v/>
                  </c:pt>
                  <c:pt idx="12">
                    <c:v>2/9</c:v>
                  </c:pt>
                  <c:pt idx="13">
                    <c:v/>
                  </c:pt>
                  <c:pt idx="14">
                    <c:v/>
                  </c:pt>
                  <c:pt idx="15">
                    <c:v>3/2</c:v>
                  </c:pt>
                  <c:pt idx="16">
                    <c:v/>
                  </c:pt>
                  <c:pt idx="17">
                    <c:v/>
                  </c:pt>
                  <c:pt idx="18">
                    <c:v>3/23</c:v>
                  </c:pt>
                  <c:pt idx="19">
                    <c:v/>
                  </c:pt>
                  <c:pt idx="20">
                    <c:v/>
                  </c:pt>
                  <c:pt idx="21">
                    <c:v>4/13</c:v>
                  </c:pt>
                  <c:pt idx="22">
                    <c:v/>
                  </c:pt>
                  <c:pt idx="23">
                    <c:v/>
                  </c:pt>
                  <c:pt idx="24">
                    <c:v>5/4</c:v>
                  </c:pt>
                  <c:pt idx="25">
                    <c:v/>
                  </c:pt>
                  <c:pt idx="26">
                    <c:v/>
                  </c:pt>
                  <c:pt idx="27">
                    <c:v>5/25</c:v>
                  </c:pt>
                  <c:pt idx="28">
                    <c:v/>
                  </c:pt>
                  <c:pt idx="29">
                    <c:v/>
                  </c:pt>
                  <c:pt idx="30">
                    <c:v>6/15</c:v>
                  </c:pt>
                  <c:pt idx="31">
                    <c:v/>
                  </c:pt>
                  <c:pt idx="32">
                    <c:v/>
                  </c:pt>
                  <c:pt idx="33">
                    <c:v>7/6</c:v>
                  </c:pt>
                  <c:pt idx="34">
                    <c:v/>
                  </c:pt>
                  <c:pt idx="35">
                    <c:v/>
                  </c:pt>
                  <c:pt idx="36">
                    <c:v>7/27</c:v>
                  </c:pt>
                  <c:pt idx="37">
                    <c:v/>
                  </c:pt>
                  <c:pt idx="38">
                    <c:v/>
                  </c:pt>
                </c:lvl>
              </c:multiLvlStrCache>
            </c:multiLvlStrRef>
          </c:cat>
          <c:val>
            <c:numRef>
              <c:f>Sheet1!$E$2:$E$40</c:f>
              <c:numCache>
                <c:formatCode>General</c:formatCode>
                <c:ptCount val="39"/>
                <c:pt idx="0">
                  <c:v>144</c:v>
                </c:pt>
                <c:pt idx="1">
                  <c:v>131</c:v>
                </c:pt>
                <c:pt idx="2">
                  <c:v>144</c:v>
                </c:pt>
                <c:pt idx="3">
                  <c:v>198</c:v>
                </c:pt>
                <c:pt idx="4">
                  <c:v>131</c:v>
                </c:pt>
                <c:pt idx="5">
                  <c:v>131</c:v>
                </c:pt>
                <c:pt idx="6">
                  <c:v>136</c:v>
                </c:pt>
                <c:pt idx="7">
                  <c:v>129</c:v>
                </c:pt>
                <c:pt idx="8">
                  <c:v>130</c:v>
                </c:pt>
                <c:pt idx="9">
                  <c:v>133</c:v>
                </c:pt>
                <c:pt idx="10">
                  <c:v>160</c:v>
                </c:pt>
                <c:pt idx="11">
                  <c:v>144</c:v>
                </c:pt>
                <c:pt idx="12">
                  <c:v>133</c:v>
                </c:pt>
                <c:pt idx="13">
                  <c:v>132</c:v>
                </c:pt>
                <c:pt idx="14">
                  <c:v>143</c:v>
                </c:pt>
                <c:pt idx="15">
                  <c:v>112</c:v>
                </c:pt>
                <c:pt idx="16">
                  <c:v>85</c:v>
                </c:pt>
                <c:pt idx="17">
                  <c:v>114</c:v>
                </c:pt>
                <c:pt idx="18">
                  <c:v>135</c:v>
                </c:pt>
                <c:pt idx="19">
                  <c:v>133</c:v>
                </c:pt>
                <c:pt idx="20">
                  <c:v>139</c:v>
                </c:pt>
                <c:pt idx="21">
                  <c:v>140</c:v>
                </c:pt>
                <c:pt idx="22">
                  <c:v>159</c:v>
                </c:pt>
                <c:pt idx="23">
                  <c:v>157</c:v>
                </c:pt>
                <c:pt idx="24">
                  <c:v>155</c:v>
                </c:pt>
                <c:pt idx="25">
                  <c:v>219</c:v>
                </c:pt>
                <c:pt idx="26">
                  <c:v>198</c:v>
                </c:pt>
                <c:pt idx="27">
                  <c:v>138</c:v>
                </c:pt>
                <c:pt idx="28">
                  <c:v>168</c:v>
                </c:pt>
                <c:pt idx="29">
                  <c:v>201</c:v>
                </c:pt>
                <c:pt idx="30">
                  <c:v>198</c:v>
                </c:pt>
                <c:pt idx="31">
                  <c:v>226</c:v>
                </c:pt>
                <c:pt idx="32">
                  <c:v>182</c:v>
                </c:pt>
                <c:pt idx="33">
                  <c:v>204</c:v>
                </c:pt>
                <c:pt idx="34">
                  <c:v>159</c:v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8E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0"/>
        <c:axPos val="l"/>
        <c:majorGridlines>
          <c:spPr>
            <a:ln w="12700" cap="flat">
              <a:solidFill>
                <a:srgbClr val="EDED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B8FA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B8FA3"/>
                    </a:solidFill>
                    <a:latin typeface="Arial"/>
                  </a:rPr>
                  <a:t>순위(낮을수록 상위)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F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메이플스토리M</c:v>
                </c:pt>
              </c:strCache>
            </c:strRef>
          </c:tx>
          <c:spPr>
            <a:solidFill>
              <a:srgbClr val="F0692B"/>
            </a:solidFill>
            <a:ln w="28575" cap="flat">
              <a:solidFill>
                <a:srgbClr val="F06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F0692B"/>
              </a:solidFill>
              <a:ln w="9525" cap="flat">
                <a:solidFill>
                  <a:srgbClr val="F06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Sheet1!$A$2:$A$40</c:f>
              <c:multiLvlStrCache>
                <c:ptCount val="39"/>
                <c:lvl>
                  <c:pt idx="0">
                    <c:v>11/17</c:v>
                  </c:pt>
                  <c:pt idx="1">
                    <c:v/>
                  </c:pt>
                  <c:pt idx="2">
                    <c:v/>
                  </c:pt>
                  <c:pt idx="3">
                    <c:v>12/8</c:v>
                  </c:pt>
                  <c:pt idx="4">
                    <c:v/>
                  </c:pt>
                  <c:pt idx="5">
                    <c:v/>
                  </c:pt>
                  <c:pt idx="6">
                    <c:v>12/29</c:v>
                  </c:pt>
                  <c:pt idx="7">
                    <c:v/>
                  </c:pt>
                  <c:pt idx="8">
                    <c:v/>
                  </c:pt>
                  <c:pt idx="9">
                    <c:v>1/19</c:v>
                  </c:pt>
                  <c:pt idx="10">
                    <c:v/>
                  </c:pt>
                  <c:pt idx="11">
                    <c:v/>
                  </c:pt>
                  <c:pt idx="12">
                    <c:v>2/9</c:v>
                  </c:pt>
                  <c:pt idx="13">
                    <c:v/>
                  </c:pt>
                  <c:pt idx="14">
                    <c:v/>
                  </c:pt>
                  <c:pt idx="15">
                    <c:v>3/2</c:v>
                  </c:pt>
                  <c:pt idx="16">
                    <c:v/>
                  </c:pt>
                  <c:pt idx="17">
                    <c:v/>
                  </c:pt>
                  <c:pt idx="18">
                    <c:v>3/23</c:v>
                  </c:pt>
                  <c:pt idx="19">
                    <c:v/>
                  </c:pt>
                  <c:pt idx="20">
                    <c:v/>
                  </c:pt>
                  <c:pt idx="21">
                    <c:v>4/13</c:v>
                  </c:pt>
                  <c:pt idx="22">
                    <c:v/>
                  </c:pt>
                  <c:pt idx="23">
                    <c:v/>
                  </c:pt>
                  <c:pt idx="24">
                    <c:v>5/4</c:v>
                  </c:pt>
                  <c:pt idx="25">
                    <c:v/>
                  </c:pt>
                  <c:pt idx="26">
                    <c:v/>
                  </c:pt>
                  <c:pt idx="27">
                    <c:v>5/25</c:v>
                  </c:pt>
                  <c:pt idx="28">
                    <c:v/>
                  </c:pt>
                  <c:pt idx="29">
                    <c:v/>
                  </c:pt>
                  <c:pt idx="30">
                    <c:v>6/15</c:v>
                  </c:pt>
                  <c:pt idx="31">
                    <c:v/>
                  </c:pt>
                  <c:pt idx="32">
                    <c:v/>
                  </c:pt>
                  <c:pt idx="33">
                    <c:v>7/6</c:v>
                  </c:pt>
                  <c:pt idx="34">
                    <c:v/>
                  </c:pt>
                  <c:pt idx="35">
                    <c:v/>
                  </c:pt>
                  <c:pt idx="36">
                    <c:v>7/27</c:v>
                  </c:pt>
                  <c:pt idx="37">
                    <c:v/>
                  </c:pt>
                  <c:pt idx="38">
                    <c:v/>
                  </c:pt>
                </c:lvl>
              </c:multiLvlStrCache>
            </c:multiLvlStrRef>
          </c:cat>
          <c:val>
            <c:numRef>
              <c:f>Sheet1!$B$2:$B$40</c:f>
              <c:numCache>
                <c:formatCode>General</c:formatCode>
                <c:ptCount val="39"/>
                <c:pt idx="0">
                  <c:v>86</c:v>
                </c:pt>
                <c:pt idx="1">
                  <c:v>88</c:v>
                </c:pt>
                <c:pt idx="2">
                  <c:v>84</c:v>
                </c:pt>
                <c:pt idx="3">
                  <c:v>72</c:v>
                </c:pt>
                <c:pt idx="4">
                  <c:v>45</c:v>
                </c:pt>
                <c:pt idx="5">
                  <c:v>46</c:v>
                </c:pt>
                <c:pt idx="6">
                  <c:v>58</c:v>
                </c:pt>
                <c:pt idx="7">
                  <c:v>69</c:v>
                </c:pt>
                <c:pt idx="8">
                  <c:v>74</c:v>
                </c:pt>
                <c:pt idx="9">
                  <c:v>83</c:v>
                </c:pt>
                <c:pt idx="10">
                  <c:v>84</c:v>
                </c:pt>
                <c:pt idx="11">
                  <c:v>86</c:v>
                </c:pt>
                <c:pt idx="12">
                  <c:v>85</c:v>
                </c:pt>
                <c:pt idx="13">
                  <c:v>83</c:v>
                </c:pt>
                <c:pt idx="14">
                  <c:v>85</c:v>
                </c:pt>
                <c:pt idx="15">
                  <c:v>86</c:v>
                </c:pt>
                <c:pt idx="16">
                  <c:v>90</c:v>
                </c:pt>
                <c:pt idx="17">
                  <c:v>89</c:v>
                </c:pt>
                <c:pt idx="18">
                  <c:v>90</c:v>
                </c:pt>
                <c:pt idx="19">
                  <c:v>92</c:v>
                </c:pt>
                <c:pt idx="20">
                  <c:v>96</c:v>
                </c:pt>
                <c:pt idx="21">
                  <c:v>93</c:v>
                </c:pt>
                <c:pt idx="22">
                  <c:v>91</c:v>
                </c:pt>
                <c:pt idx="23">
                  <c:v>95</c:v>
                </c:pt>
                <c:pt idx="24">
                  <c:v>95</c:v>
                </c:pt>
                <c:pt idx="25">
                  <c:v>86</c:v>
                </c:pt>
                <c:pt idx="26">
                  <c:v>92</c:v>
                </c:pt>
                <c:pt idx="27">
                  <c:v>97</c:v>
                </c:pt>
                <c:pt idx="28">
                  <c:v>94</c:v>
                </c:pt>
                <c:pt idx="29">
                  <c:v>96</c:v>
                </c:pt>
                <c:pt idx="30">
                  <c:v>87</c:v>
                </c:pt>
                <c:pt idx="31">
                  <c:v>88</c:v>
                </c:pt>
                <c:pt idx="32">
                  <c:v>87</c:v>
                </c:pt>
                <c:pt idx="33">
                  <c:v>84</c:v>
                </c:pt>
                <c:pt idx="34">
                  <c:v>77</c:v>
                </c:pt>
                <c:pt idx="35">
                  <c:v>69</c:v>
                </c:pt>
                <c:pt idx="36">
                  <c:v>33</c:v>
                </c:pt>
                <c:pt idx="37">
                  <c:v>33</c:v>
                </c:pt>
                <c:pt idx="38">
                  <c:v>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마비노기모바일</c:v>
                </c:pt>
              </c:strCache>
            </c:strRef>
          </c:tx>
          <c:spPr>
            <a:solidFill>
              <a:srgbClr val="2FA89A"/>
            </a:solidFill>
            <a:ln w="28575" cap="flat">
              <a:solidFill>
                <a:srgbClr val="2FA8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2FA89A"/>
              </a:solidFill>
              <a:ln w="9525" cap="flat">
                <a:solidFill>
                  <a:srgbClr val="2FA8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Sheet1!$A$2:$A$40</c:f>
              <c:multiLvlStrCache>
                <c:ptCount val="39"/>
                <c:lvl>
                  <c:pt idx="0">
                    <c:v>11/17</c:v>
                  </c:pt>
                  <c:pt idx="1">
                    <c:v/>
                  </c:pt>
                  <c:pt idx="2">
                    <c:v/>
                  </c:pt>
                  <c:pt idx="3">
                    <c:v>12/8</c:v>
                  </c:pt>
                  <c:pt idx="4">
                    <c:v/>
                  </c:pt>
                  <c:pt idx="5">
                    <c:v/>
                  </c:pt>
                  <c:pt idx="6">
                    <c:v>12/29</c:v>
                  </c:pt>
                  <c:pt idx="7">
                    <c:v/>
                  </c:pt>
                  <c:pt idx="8">
                    <c:v/>
                  </c:pt>
                  <c:pt idx="9">
                    <c:v>1/19</c:v>
                  </c:pt>
                  <c:pt idx="10">
                    <c:v/>
                  </c:pt>
                  <c:pt idx="11">
                    <c:v/>
                  </c:pt>
                  <c:pt idx="12">
                    <c:v>2/9</c:v>
                  </c:pt>
                  <c:pt idx="13">
                    <c:v/>
                  </c:pt>
                  <c:pt idx="14">
                    <c:v/>
                  </c:pt>
                  <c:pt idx="15">
                    <c:v>3/2</c:v>
                  </c:pt>
                  <c:pt idx="16">
                    <c:v/>
                  </c:pt>
                  <c:pt idx="17">
                    <c:v/>
                  </c:pt>
                  <c:pt idx="18">
                    <c:v>3/23</c:v>
                  </c:pt>
                  <c:pt idx="19">
                    <c:v/>
                  </c:pt>
                  <c:pt idx="20">
                    <c:v/>
                  </c:pt>
                  <c:pt idx="21">
                    <c:v>4/13</c:v>
                  </c:pt>
                  <c:pt idx="22">
                    <c:v/>
                  </c:pt>
                  <c:pt idx="23">
                    <c:v/>
                  </c:pt>
                  <c:pt idx="24">
                    <c:v>5/4</c:v>
                  </c:pt>
                  <c:pt idx="25">
                    <c:v/>
                  </c:pt>
                  <c:pt idx="26">
                    <c:v/>
                  </c:pt>
                  <c:pt idx="27">
                    <c:v>5/25</c:v>
                  </c:pt>
                  <c:pt idx="28">
                    <c:v/>
                  </c:pt>
                  <c:pt idx="29">
                    <c:v/>
                  </c:pt>
                  <c:pt idx="30">
                    <c:v>6/15</c:v>
                  </c:pt>
                  <c:pt idx="31">
                    <c:v/>
                  </c:pt>
                  <c:pt idx="32">
                    <c:v/>
                  </c:pt>
                  <c:pt idx="33">
                    <c:v>7/6</c:v>
                  </c:pt>
                  <c:pt idx="34">
                    <c:v/>
                  </c:pt>
                  <c:pt idx="35">
                    <c:v/>
                  </c:pt>
                  <c:pt idx="36">
                    <c:v>7/27</c:v>
                  </c:pt>
                  <c:pt idx="37">
                    <c:v/>
                  </c:pt>
                  <c:pt idx="38">
                    <c:v/>
                  </c:pt>
                </c:lvl>
              </c:multiLvlStrCache>
            </c:multiLvlStrRef>
          </c:cat>
          <c:val>
            <c:numRef>
              <c:f>Sheet1!$C$2:$C$40</c:f>
              <c:numCache>
                <c:formatCode>General</c:formatCode>
                <c:ptCount val="39"/>
                <c:pt idx="0">
                  <c:v>15</c:v>
                </c:pt>
                <c:pt idx="1">
                  <c:v>13</c:v>
                </c:pt>
                <c:pt idx="2">
                  <c:v>14</c:v>
                </c:pt>
                <c:pt idx="3">
                  <c:v>15</c:v>
                </c:pt>
                <c:pt idx="4">
                  <c:v>15</c:v>
                </c:pt>
                <c:pt idx="5">
                  <c:v>18</c:v>
                </c:pt>
                <c:pt idx="6">
                  <c:v>17</c:v>
                </c:pt>
                <c:pt idx="7">
                  <c:v>17</c:v>
                </c:pt>
                <c:pt idx="8">
                  <c:v>18</c:v>
                </c:pt>
                <c:pt idx="9">
                  <c:v>24</c:v>
                </c:pt>
                <c:pt idx="10">
                  <c:v>23</c:v>
                </c:pt>
                <c:pt idx="11">
                  <c:v>23</c:v>
                </c:pt>
                <c:pt idx="12">
                  <c:v>18</c:v>
                </c:pt>
                <c:pt idx="13">
                  <c:v>21</c:v>
                </c:pt>
                <c:pt idx="14">
                  <c:v>20</c:v>
                </c:pt>
                <c:pt idx="15">
                  <c:v>22</c:v>
                </c:pt>
                <c:pt idx="16">
                  <c:v>23</c:v>
                </c:pt>
                <c:pt idx="17">
                  <c:v>23</c:v>
                </c:pt>
                <c:pt idx="18">
                  <c:v>20</c:v>
                </c:pt>
                <c:pt idx="19">
                  <c:v>20</c:v>
                </c:pt>
                <c:pt idx="20">
                  <c:v>22</c:v>
                </c:pt>
                <c:pt idx="21">
                  <c:v>24</c:v>
                </c:pt>
                <c:pt idx="22">
                  <c:v>27</c:v>
                </c:pt>
                <c:pt idx="23">
                  <c:v>26</c:v>
                </c:pt>
                <c:pt idx="24">
                  <c:v>33</c:v>
                </c:pt>
                <c:pt idx="25">
                  <c:v>39</c:v>
                </c:pt>
                <c:pt idx="26">
                  <c:v>34</c:v>
                </c:pt>
                <c:pt idx="27">
                  <c:v>42</c:v>
                </c:pt>
                <c:pt idx="28">
                  <c:v>51</c:v>
                </c:pt>
                <c:pt idx="29">
                  <c:v>36</c:v>
                </c:pt>
                <c:pt idx="30">
                  <c:v>36</c:v>
                </c:pt>
                <c:pt idx="31">
                  <c:v>22</c:v>
                </c:pt>
                <c:pt idx="32">
                  <c:v>23</c:v>
                </c:pt>
                <c:pt idx="33">
                  <c:v>31</c:v>
                </c:pt>
                <c:pt idx="34">
                  <c:v>35</c:v>
                </c:pt>
                <c:pt idx="35">
                  <c:v>39</c:v>
                </c:pt>
                <c:pt idx="36">
                  <c:v>55</c:v>
                </c:pt>
                <c:pt idx="37">
                  <c:v>56</c:v>
                </c:pt>
                <c:pt idx="38">
                  <c:v>51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아이온2</c:v>
                </c:pt>
              </c:strCache>
            </c:strRef>
          </c:tx>
          <c:spPr>
            <a:solidFill>
              <a:srgbClr val="6B4FA0"/>
            </a:solidFill>
            <a:ln w="28575" cap="flat">
              <a:solidFill>
                <a:srgbClr val="6B4F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6B4FA0"/>
              </a:solidFill>
              <a:ln w="9525" cap="flat">
                <a:solidFill>
                  <a:srgbClr val="6B4F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Sheet1!$A$2:$A$40</c:f>
              <c:multiLvlStrCache>
                <c:ptCount val="39"/>
                <c:lvl>
                  <c:pt idx="0">
                    <c:v>11/17</c:v>
                  </c:pt>
                  <c:pt idx="1">
                    <c:v/>
                  </c:pt>
                  <c:pt idx="2">
                    <c:v/>
                  </c:pt>
                  <c:pt idx="3">
                    <c:v>12/8</c:v>
                  </c:pt>
                  <c:pt idx="4">
                    <c:v/>
                  </c:pt>
                  <c:pt idx="5">
                    <c:v/>
                  </c:pt>
                  <c:pt idx="6">
                    <c:v>12/29</c:v>
                  </c:pt>
                  <c:pt idx="7">
                    <c:v/>
                  </c:pt>
                  <c:pt idx="8">
                    <c:v/>
                  </c:pt>
                  <c:pt idx="9">
                    <c:v>1/19</c:v>
                  </c:pt>
                  <c:pt idx="10">
                    <c:v/>
                  </c:pt>
                  <c:pt idx="11">
                    <c:v/>
                  </c:pt>
                  <c:pt idx="12">
                    <c:v>2/9</c:v>
                  </c:pt>
                  <c:pt idx="13">
                    <c:v/>
                  </c:pt>
                  <c:pt idx="14">
                    <c:v/>
                  </c:pt>
                  <c:pt idx="15">
                    <c:v>3/2</c:v>
                  </c:pt>
                  <c:pt idx="16">
                    <c:v/>
                  </c:pt>
                  <c:pt idx="17">
                    <c:v/>
                  </c:pt>
                  <c:pt idx="18">
                    <c:v>3/23</c:v>
                  </c:pt>
                  <c:pt idx="19">
                    <c:v/>
                  </c:pt>
                  <c:pt idx="20">
                    <c:v/>
                  </c:pt>
                  <c:pt idx="21">
                    <c:v>4/13</c:v>
                  </c:pt>
                  <c:pt idx="22">
                    <c:v/>
                  </c:pt>
                  <c:pt idx="23">
                    <c:v/>
                  </c:pt>
                  <c:pt idx="24">
                    <c:v>5/4</c:v>
                  </c:pt>
                  <c:pt idx="25">
                    <c:v/>
                  </c:pt>
                  <c:pt idx="26">
                    <c:v/>
                  </c:pt>
                  <c:pt idx="27">
                    <c:v>5/25</c:v>
                  </c:pt>
                  <c:pt idx="28">
                    <c:v/>
                  </c:pt>
                  <c:pt idx="29">
                    <c:v/>
                  </c:pt>
                  <c:pt idx="30">
                    <c:v>6/15</c:v>
                  </c:pt>
                  <c:pt idx="31">
                    <c:v/>
                  </c:pt>
                  <c:pt idx="32">
                    <c:v/>
                  </c:pt>
                  <c:pt idx="33">
                    <c:v>7/6</c:v>
                  </c:pt>
                  <c:pt idx="34">
                    <c:v/>
                  </c:pt>
                  <c:pt idx="35">
                    <c:v/>
                  </c:pt>
                  <c:pt idx="36">
                    <c:v>7/27</c:v>
                  </c:pt>
                  <c:pt idx="37">
                    <c:v/>
                  </c:pt>
                  <c:pt idx="38">
                    <c:v/>
                  </c:pt>
                </c:lvl>
              </c:multiLvlStrCache>
            </c:multiLvlStrRef>
          </c:cat>
          <c:val>
            <c:numRef>
              <c:f>Sheet1!$D$2:$D$40</c:f>
              <c:numCache>
                <c:formatCode>General</c:formatCode>
                <c:ptCount val="39"/>
                <c:pt idx="0">
                  <c:v>6</c:v>
                </c:pt>
                <c:pt idx="1">
                  <c:v>12</c:v>
                </c:pt>
                <c:pt idx="2">
                  <c:v>20</c:v>
                </c:pt>
                <c:pt idx="3">
                  <c:v>21</c:v>
                </c:pt>
                <c:pt idx="4">
                  <c:v>27</c:v>
                </c:pt>
                <c:pt idx="5">
                  <c:v>26</c:v>
                </c:pt>
                <c:pt idx="6">
                  <c:v>30</c:v>
                </c:pt>
                <c:pt idx="7">
                  <c:v>31</c:v>
                </c:pt>
                <c:pt idx="8">
                  <c:v>36</c:v>
                </c:pt>
                <c:pt idx="9">
                  <c:v>36</c:v>
                </c:pt>
                <c:pt idx="10">
                  <c:v>41</c:v>
                </c:pt>
                <c:pt idx="11">
                  <c:v>44</c:v>
                </c:pt>
                <c:pt idx="12">
                  <c:v>45</c:v>
                </c:pt>
                <c:pt idx="13">
                  <c:v>45</c:v>
                </c:pt>
                <c:pt idx="14">
                  <c:v>41</c:v>
                </c:pt>
                <c:pt idx="15">
                  <c:v>43</c:v>
                </c:pt>
                <c:pt idx="16">
                  <c:v>47</c:v>
                </c:pt>
                <c:pt idx="17">
                  <c:v>49</c:v>
                </c:pt>
                <c:pt idx="18">
                  <c:v>51</c:v>
                </c:pt>
                <c:pt idx="19">
                  <c:v>57</c:v>
                </c:pt>
                <c:pt idx="20">
                  <c:v>59</c:v>
                </c:pt>
                <c:pt idx="21">
                  <c:v>62</c:v>
                </c:pt>
                <c:pt idx="22">
                  <c:v>66</c:v>
                </c:pt>
                <c:pt idx="23">
                  <c:v>70</c:v>
                </c:pt>
                <c:pt idx="24">
                  <c:v>75</c:v>
                </c:pt>
                <c:pt idx="25">
                  <c:v>78</c:v>
                </c:pt>
                <c:pt idx="26">
                  <c:v>84</c:v>
                </c:pt>
                <c:pt idx="27">
                  <c:v>87</c:v>
                </c:pt>
                <c:pt idx="28">
                  <c:v>92</c:v>
                </c:pt>
                <c:pt idx="29">
                  <c:v>92</c:v>
                </c:pt>
                <c:pt idx="30">
                  <c:v>98</c:v>
                </c:pt>
                <c:pt idx="31">
                  <c:v>106</c:v>
                </c:pt>
                <c:pt idx="32">
                  <c:v>79</c:v>
                </c:pt>
                <c:pt idx="33">
                  <c:v>76</c:v>
                </c:pt>
                <c:pt idx="34">
                  <c:v>80</c:v>
                </c:pt>
                <c:pt idx="35">
                  <c:v>77</c:v>
                </c:pt>
                <c:pt idx="36">
                  <c:v>86</c:v>
                </c:pt>
                <c:pt idx="37">
                  <c:v>105</c:v>
                </c:pt>
                <c:pt idx="38">
                  <c:v>101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검은사막모바일</c:v>
                </c:pt>
              </c:strCache>
            </c:strRef>
          </c:tx>
          <c:spPr>
            <a:solidFill>
              <a:srgbClr val="8B2635"/>
            </a:solidFill>
            <a:ln w="28575" cap="flat">
              <a:solidFill>
                <a:srgbClr val="8B26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8B2635"/>
              </a:solidFill>
              <a:ln w="9525" cap="flat">
                <a:solidFill>
                  <a:srgbClr val="8B26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Sheet1!$A$2:$A$40</c:f>
              <c:multiLvlStrCache>
                <c:ptCount val="39"/>
                <c:lvl>
                  <c:pt idx="0">
                    <c:v>11/17</c:v>
                  </c:pt>
                  <c:pt idx="1">
                    <c:v/>
                  </c:pt>
                  <c:pt idx="2">
                    <c:v/>
                  </c:pt>
                  <c:pt idx="3">
                    <c:v>12/8</c:v>
                  </c:pt>
                  <c:pt idx="4">
                    <c:v/>
                  </c:pt>
                  <c:pt idx="5">
                    <c:v/>
                  </c:pt>
                  <c:pt idx="6">
                    <c:v>12/29</c:v>
                  </c:pt>
                  <c:pt idx="7">
                    <c:v/>
                  </c:pt>
                  <c:pt idx="8">
                    <c:v/>
                  </c:pt>
                  <c:pt idx="9">
                    <c:v>1/19</c:v>
                  </c:pt>
                  <c:pt idx="10">
                    <c:v/>
                  </c:pt>
                  <c:pt idx="11">
                    <c:v/>
                  </c:pt>
                  <c:pt idx="12">
                    <c:v>2/9</c:v>
                  </c:pt>
                  <c:pt idx="13">
                    <c:v/>
                  </c:pt>
                  <c:pt idx="14">
                    <c:v/>
                  </c:pt>
                  <c:pt idx="15">
                    <c:v>3/2</c:v>
                  </c:pt>
                  <c:pt idx="16">
                    <c:v/>
                  </c:pt>
                  <c:pt idx="17">
                    <c:v/>
                  </c:pt>
                  <c:pt idx="18">
                    <c:v>3/23</c:v>
                  </c:pt>
                  <c:pt idx="19">
                    <c:v/>
                  </c:pt>
                  <c:pt idx="20">
                    <c:v/>
                  </c:pt>
                  <c:pt idx="21">
                    <c:v>4/13</c:v>
                  </c:pt>
                  <c:pt idx="22">
                    <c:v/>
                  </c:pt>
                  <c:pt idx="23">
                    <c:v/>
                  </c:pt>
                  <c:pt idx="24">
                    <c:v>5/4</c:v>
                  </c:pt>
                  <c:pt idx="25">
                    <c:v/>
                  </c:pt>
                  <c:pt idx="26">
                    <c:v/>
                  </c:pt>
                  <c:pt idx="27">
                    <c:v>5/25</c:v>
                  </c:pt>
                  <c:pt idx="28">
                    <c:v/>
                  </c:pt>
                  <c:pt idx="29">
                    <c:v/>
                  </c:pt>
                  <c:pt idx="30">
                    <c:v>6/15</c:v>
                  </c:pt>
                  <c:pt idx="31">
                    <c:v/>
                  </c:pt>
                  <c:pt idx="32">
                    <c:v/>
                  </c:pt>
                  <c:pt idx="33">
                    <c:v>7/6</c:v>
                  </c:pt>
                  <c:pt idx="34">
                    <c:v/>
                  </c:pt>
                  <c:pt idx="35">
                    <c:v/>
                  </c:pt>
                  <c:pt idx="36">
                    <c:v>7/27</c:v>
                  </c:pt>
                  <c:pt idx="37">
                    <c:v/>
                  </c:pt>
                  <c:pt idx="38">
                    <c:v/>
                  </c:pt>
                </c:lvl>
              </c:multiLvlStrCache>
            </c:multiLvlStrRef>
          </c:cat>
          <c:val>
            <c:numRef>
              <c:f>Sheet1!$E$2:$E$40</c:f>
              <c:numCache>
                <c:formatCode>General</c:formatCode>
                <c:ptCount val="39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269</c:v>
                </c:pt>
                <c:pt idx="4">
                  <c:v>200</c:v>
                </c:pt>
                <c:pt idx="5">
                  <c:v>199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159</c:v>
                </c:pt>
                <c:pt idx="16">
                  <c:v>165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8E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12700" cap="flat">
              <a:solidFill>
                <a:srgbClr val="EDED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B8FA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B8FA3"/>
                    </a:solidFill>
                    <a:latin typeface="Arial"/>
                  </a:rPr>
                  <a:t>순위(낮을수록 상위)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F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매출액(억원)</c:v>
                </c:pt>
              </c:strCache>
            </c:strRef>
          </c:tx>
          <c:spPr>
            <a:solidFill>
              <a:srgbClr val="8B26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D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FY24</c:v>
                  </c:pt>
                  <c:pt idx="1">
                    <c:v>FY25</c:v>
                  </c:pt>
                  <c:pt idx="2">
                    <c:v>26 H1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3319</c:v>
                </c:pt>
                <c:pt idx="1">
                  <c:v>3532</c:v>
                </c:pt>
                <c:pt idx="2">
                  <c:v>5509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D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8E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연결 영업이익(억원)</c:v>
                </c:pt>
              </c:strCache>
            </c:strRef>
          </c:tx>
          <c:spPr>
            <a:solidFill>
              <a:srgbClr val="6B4F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D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FY23</c:v>
                  </c:pt>
                  <c:pt idx="1">
                    <c:v>FY24</c:v>
                  </c:pt>
                  <c:pt idx="2">
                    <c:v>FY25</c:v>
                  </c:pt>
                  <c:pt idx="3">
                    <c:v>26 H1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1373</c:v>
                </c:pt>
                <c:pt idx="1">
                  <c:v>-1092</c:v>
                </c:pt>
                <c:pt idx="2">
                  <c:v>161</c:v>
                </c:pt>
                <c:pt idx="3">
                  <c:v>2871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D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8E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61F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solidFill>
            <a:srgbClr val="1B1E2C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463040"/>
            <a:ext cx="3291840" cy="3291840"/>
          </a:xfrm>
          <a:prstGeom prst="ellipse">
            <a:avLst/>
          </a:prstGeom>
          <a:solidFill>
            <a:srgbClr val="241A1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NEXON KOREA · MARKETING STRATEGY REPORT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06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메이플스토리M </a:t>
            </a:r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리브랜딩 전략 보고서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7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자사(마비노기모바일) · 타사(검은사막모바일, 아이온2) 벤치마킹 기반 경쟁력 진단 및 개선 방향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1828800" cy="0"/>
          </a:xfrm>
          <a:prstGeom prst="line">
            <a:avLst/>
          </a:prstGeom>
          <a:noFill/>
          <a:ln w="31750">
            <a:solidFill>
              <a:srgbClr val="F06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기간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2025.11 ~ 2026.08 (최근 4개 분기)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8056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8056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메이플스토리M 마케팅팀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3816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기준일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3816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2026.08.26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메이플스토리M · 마비노기모바일 · 검은사막모바일 · 아이온2  —  4사 비교분석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요약: 데이터가 말해주는 3가지 신호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mobileindex.com 주간 순위지표, 4사 이벤트 타임라인 비교 보고서, 각사 사업보고서/반기보고서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38728" cy="4160520"/>
          </a:xfrm>
          <a:prstGeom prst="roundRect">
            <a:avLst>
              <a:gd name="adj" fmla="val 2067"/>
            </a:avLst>
          </a:prstGeom>
          <a:solidFill>
            <a:srgbClr val="F7F7F9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1168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0692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업데이트가 곧 순위다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840480"/>
            <a:ext cx="2898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7/31 RE:BOOST 업데이트 직후 매출순위 87→21위, 이용자순위 69→33위로 급등. 그러나 후속 대형 업데이트 부재로 8월 들어 다시 완만히 하락 — 콘텐츠 파이프라인이 끊기면 반등 효과도 오래가지 않음.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38728" cy="4160520"/>
          </a:xfrm>
          <a:prstGeom prst="roundRect">
            <a:avLst>
              <a:gd name="adj" fmla="val 2067"/>
            </a:avLst>
          </a:prstGeom>
          <a:solidFill>
            <a:srgbClr val="F7F7F9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01168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2FA89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공백의 대가는 재무제표에 찍힌다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3840480"/>
            <a:ext cx="2898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자사 마비노기모바일은 4월 대형 업데이트 공백으로 매출TOP10 이탈, 개발사(넥슨게임즈) 매출은 전년 대비 -31%, 흑자에서 순손실 전환. 6월 시즌2 업데이트로 순위 7위까지 반등하며 '업데이트=매출'의 인과관계를 재확인.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538728" cy="4160520"/>
          </a:xfrm>
          <a:prstGeom prst="roundRect">
            <a:avLst>
              <a:gd name="adj" fmla="val 2067"/>
            </a:avLst>
          </a:prstGeom>
          <a:solidFill>
            <a:srgbClr val="F7F7F9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201168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6B4FA0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458200" y="3017520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경쟁사는 다른 승부를 걸고 있다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58200" y="3840480"/>
            <a:ext cx="2898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검은사막모바일은 이용자순위 데이터에서 사실상 이탈(3월 이후 미집계), 모회사는 신작 '붉은사막'에 화력 집중. 아이온2는 메타 UA 광고 없이 쇼케이스·라이브방송 중심으로 NC 연결 영업이익을 흑자전환시킴 — 두 갈래의 '리브랜딩' 벤치마크.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37360" y="1737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대상 개요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26480" y="17373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타이틀 포지셔닝과 업데이트 리듬 비교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10881360" cy="0"/>
          </a:xfrm>
          <a:prstGeom prst="line">
            <a:avLst/>
          </a:prstGeom>
          <a:noFill/>
          <a:ln w="12700">
            <a:solidFill>
              <a:srgbClr val="E4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06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37360" y="26060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지표 벤치마킹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26480" y="26060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매출순위·이용자순위 주간 추이 (2025.11~2026.08)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01568"/>
            <a:ext cx="10881360" cy="0"/>
          </a:xfrm>
          <a:prstGeom prst="line">
            <a:avLst/>
          </a:prstGeom>
          <a:noFill/>
          <a:ln w="12700">
            <a:solidFill>
              <a:srgbClr val="E4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747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37360" y="34747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케이스 딥다이브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26480" y="34747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메이플M 반등 · 마비노기M 공백 · 검은사막/아이온2 재무 임팩트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70248"/>
            <a:ext cx="10881360" cy="0"/>
          </a:xfrm>
          <a:prstGeom prst="line">
            <a:avLst/>
          </a:prstGeom>
          <a:noFill/>
          <a:ln w="12700">
            <a:solidFill>
              <a:srgbClr val="E4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43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37360" y="4343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UA·마케팅 채널 비교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26480" y="43434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 광고 라이브러리 소재 및 채널 전략 분석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38928"/>
            <a:ext cx="10881360" cy="0"/>
          </a:xfrm>
          <a:prstGeom prst="line">
            <a:avLst/>
          </a:prstGeom>
          <a:noFill/>
          <a:ln w="12700">
            <a:solidFill>
              <a:srgbClr val="E4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212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737360" y="52120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및 리브랜딩 제언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126480" y="52120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방향 4대 축과 실행 로드맵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206240"/>
            <a:ext cx="5943600" cy="5943600"/>
          </a:xfrm>
          <a:prstGeom prst="ellipse">
            <a:avLst/>
          </a:prstGeom>
          <a:solidFill>
            <a:srgbClr val="1B1E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A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 대상 개요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LANDSCAPE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4개 타이틀, 서로 다른 서비스 단계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4사 이벤트 타임라인 비교 보고서 (2026.08.21 작성 기준)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865376"/>
            <a:ext cx="128016" cy="457200"/>
          </a:xfrm>
          <a:prstGeom prst="roundRect">
            <a:avLst>
              <a:gd name="adj" fmla="val 21429"/>
            </a:avLst>
          </a:prstGeom>
          <a:solidFill>
            <a:srgbClr val="F0692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8105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메이플스토리M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51560" y="212140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자사 · 성숙기 (9.8년차)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48716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9.8년차, 분기당 1~2건의 낮은 빈도·클러스터링형 업데이트</a:t>
            </a:r>
            <a:endParaRPr lang="en-US" sz="108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12월 쇼케이스로 향후 2개 분기 로드맵 사전공개형 커뮤니케이션</a:t>
            </a:r>
            <a:endParaRPr lang="en-US" sz="108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7/31 RE:BOOST(챌린저스 월드)로 하반기 최대 반등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172200" y="164592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8232" y="1865376"/>
            <a:ext cx="128016" cy="457200"/>
          </a:xfrm>
          <a:prstGeom prst="roundRect">
            <a:avLst>
              <a:gd name="adj" fmla="val 21429"/>
            </a:avLst>
          </a:prstGeom>
          <a:solidFill>
            <a:srgbClr val="2FA89A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8105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마비노기모바일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675120" y="212140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자사 · 1년차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46520" y="248716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2025.3.27 출시, 1주년(3월)까지 순항 후 4월 업데이트 공백</a:t>
            </a:r>
            <a:endParaRPr lang="en-US" sz="108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공백기 유저 이탈로 매출TOP10 밖 이탈 → 6월 시즌2로 7위 반등</a:t>
            </a:r>
            <a:endParaRPr lang="en-US" sz="108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변동성이 4사 중 가장 큰 궤적 — 콘텐츠 의존도가 가장 높음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270248"/>
            <a:ext cx="128016" cy="457200"/>
          </a:xfrm>
          <a:prstGeom prst="roundRect">
            <a:avLst>
              <a:gd name="adj" fmla="val 21429"/>
            </a:avLst>
          </a:prstGeom>
          <a:solidFill>
            <a:srgbClr val="8B2635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21538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검은사막모바일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51560" y="452628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타사(펄어비스) · 8주년 전환기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48920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'리마스터' 프로젝트를 4개 분기에 걸쳐 순차 공개하는 단일 로드맵형</a:t>
            </a:r>
            <a:endParaRPr lang="en-US" sz="108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이용자순위 3월 이후, 매출순위 7월 이후 사실상 트래킹 이탈</a:t>
            </a:r>
            <a:endParaRPr lang="en-US" sz="108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모회사 화력은 신작 '붉은사막'으로 이동 중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172200" y="4050792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8232" y="4270248"/>
            <a:ext cx="128016" cy="457200"/>
          </a:xfrm>
          <a:prstGeom prst="roundRect">
            <a:avLst>
              <a:gd name="adj" fmla="val 21429"/>
            </a:avLst>
          </a:prstGeom>
          <a:solidFill>
            <a:srgbClr val="6B4FA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21538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아이온2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675120" y="452628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타사(엔씨소프트) · 초기 성장기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48920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2025.11.19 출시, 출시 당일 매출 9위 — 4사 중 최다 업데이트 리듬</a:t>
            </a:r>
            <a:endParaRPr lang="en-US" sz="108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시즌1→2→3 무중단 투입 + 글로벌 쇼케이스(SGF·게임스컴)</a:t>
            </a:r>
            <a:endParaRPr lang="en-US" sz="108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 UA 광고 미집행 — 라이브방송·커뮤니티 중심 성장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LANDSCAPE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분기별 대형 업데이트 건수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758952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1600200"/>
            <a:ext cx="3291840" cy="4617720"/>
          </a:xfrm>
          <a:prstGeom prst="roundRect">
            <a:avLst>
              <a:gd name="adj" fmla="val 1944"/>
            </a:avLst>
          </a:prstGeom>
          <a:solidFill>
            <a:srgbClr val="1D2030"/>
          </a:solidFill>
          <a:ln/>
        </p:spPr>
      </p:sp>
      <p:sp>
        <p:nvSpPr>
          <p:cNvPr id="7" name="Text 4"/>
          <p:cNvSpPr/>
          <p:nvPr/>
        </p:nvSpPr>
        <p:spPr>
          <a:xfrm>
            <a:off x="86410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인사이트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41080" y="2194560"/>
            <a:ext cx="2743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D3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아이온2 — 신작 특유의 밀도 높은 리듬으로 시즌1→2→3 무중단 투입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D3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검은사막M — 8주년 '리마스터'를 4개 분기 하나의 로드맵으로 연결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D3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메이플M — 4사 중 가장 낮은 빈도지만 7/31처럼 콘텐츠를 몰아 배치하는 클러스터링형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D3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마비노기M — 빈도는 고르지만 2분기 공백(4~5월)이 통계에 잡히지 않는 '휴지기'로 나타남 → 건수만으론 리스크가 드러나지 않음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206240"/>
            <a:ext cx="5943600" cy="5943600"/>
          </a:xfrm>
          <a:prstGeom prst="ellipse">
            <a:avLst/>
          </a:prstGeom>
          <a:solidFill>
            <a:srgbClr val="1B1E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A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성과 지표 벤치마킹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PERFORMANCE BENCHMARKING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매출순위 주간 추이 (2025.11~2026.08)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mobileindex.com  ·  숫자가 낮을수록 상위 순위. 검은사막M은 7/20 이후 순위 트래킹 이탈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554480"/>
          <a:ext cx="1106424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PERFORMANCE BENCHMARKING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이용자순위 주간 추이 (2025.11~2026.08)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mobileindex.com  ·  숫자가 낮을수록 상위 순위. 검은사막M은 2026.3월 이후 대부분 데이터 미집계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554480"/>
          <a:ext cx="1106424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CASE DEEP-DIVE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메이플스토리M — RE:BOOST 업데이트 효과와 그 한계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74720" cy="1417320"/>
          </a:xfrm>
          <a:prstGeom prst="roundRect">
            <a:avLst>
              <a:gd name="adj" fmla="val 4516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6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 → 21위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매출순위 (7/20 → 8/3)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600200"/>
            <a:ext cx="3474720" cy="1417320"/>
          </a:xfrm>
          <a:prstGeom prst="roundRect">
            <a:avLst>
              <a:gd name="adj" fmla="val 4516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737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6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 → 33위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251960" y="2423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이용자순위 (7/20 → 7/27)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55280" y="1600200"/>
            <a:ext cx="3474720" cy="1417320"/>
          </a:xfrm>
          <a:prstGeom prst="roundRect">
            <a:avLst>
              <a:gd name="adj" fmla="val 4516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737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13건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955280" y="2423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8월 메타 광고 신규 소재 (4사 중 최다)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394960" cy="2971800"/>
          </a:xfrm>
          <a:prstGeom prst="roundRect">
            <a:avLst>
              <a:gd name="adj" fmla="val 2154"/>
            </a:avLst>
          </a:prstGeom>
          <a:solidFill>
            <a:srgbClr val="FFF3EC"/>
          </a:solidFill>
          <a:ln w="12700">
            <a:solidFill>
              <a:srgbClr val="F6D9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29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통했나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5A3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캐릭터·시즌서버(챌린저스 월드)·신규지역(도원경)을 한 시점(7/31)에 몰아 배치 — 성숙기 IP다운 '클러스터링형' 실행</a:t>
            </a:r>
            <a:endParaRPr lang="en-US" sz="11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5A3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업데이트 직후 곧바로 6개 플랫폼 풀채널 UA 세팅(FB·IG·오디언스네트워크·메신저·왓츠앱·스레드)으로 도달 극대화</a:t>
            </a:r>
            <a:endParaRPr lang="en-US" sz="11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5A3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결과적으로 4사 중 가장 가파른 순위 반등폭을 기록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246120"/>
            <a:ext cx="5468112" cy="2971800"/>
          </a:xfrm>
          <a:prstGeom prst="roundRect">
            <a:avLst>
              <a:gd name="adj" fmla="val 2154"/>
            </a:avLst>
          </a:prstGeom>
          <a:solidFill>
            <a:srgbClr val="F5F0FA"/>
          </a:solidFill>
          <a:ln w="12700">
            <a:solidFill>
              <a:srgbClr val="E3D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429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리스크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7947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8월 현재 '신규 대형업데이트 없음' — 반등 이후 8/3→8/10 순위가 21→29위로 재하락 시작</a:t>
            </a:r>
            <a:endParaRPr lang="en-US" sz="11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마비노기M의 4월 사례가 보여주듯, 콘텐츠 공백이 길어지면 UA만으로는 순위 방어에 한계</a:t>
            </a:r>
            <a:endParaRPr lang="en-US" sz="11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3D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 단일 채널 UA 집중 — 아이온2식 쇼케이스·커뮤니티 채널 다각화 여지가 낮음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CASE DEEP-DIVE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마비노기모바일 — 콘텐츠 공백이 재무제표에 남긴 흔적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넥슨게임즈(마비노기모바일 개발사) FY2025 별도 재무자료, 4사 이벤트 타임라인 비교 보고서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29000" cy="1325880"/>
          </a:xfrm>
          <a:prstGeom prst="roundRect">
            <a:avLst>
              <a:gd name="adj" fmla="val 4828"/>
            </a:avLst>
          </a:prstGeom>
          <a:solidFill>
            <a:srgbClr val="EAF7F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013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11226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1주년 업데이트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매출TOP10 재진입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1691640"/>
            <a:ext cx="3429000" cy="1325880"/>
          </a:xfrm>
          <a:prstGeom prst="roundRect">
            <a:avLst>
              <a:gd name="adj" fmla="val 4828"/>
            </a:avLst>
          </a:prstGeom>
          <a:solidFill>
            <a:srgbClr val="FBEAEC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8013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4월~5월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43400" y="211226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대형 업데이트 공백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 급감·TOP10 이탈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1691640"/>
            <a:ext cx="3429000" cy="1325880"/>
          </a:xfrm>
          <a:prstGeom prst="roundRect">
            <a:avLst>
              <a:gd name="adj" fmla="val 4828"/>
            </a:avLst>
          </a:prstGeom>
          <a:solidFill>
            <a:srgbClr val="EAF7F4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18013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6월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09560" y="211226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시즌2 '빛과 어둠'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매출순위 7위 재기록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넥슨게임즈(마비노기모바일 개발사) FY2025 재무 임팩트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474720" cy="1783080"/>
          </a:xfrm>
          <a:prstGeom prst="roundRect">
            <a:avLst>
              <a:gd name="adj" fmla="val 3590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40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-30.8%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매출액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2,520억원 → 1,744억원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3657600"/>
            <a:ext cx="3474720" cy="1783080"/>
          </a:xfrm>
          <a:prstGeom prst="roundRect">
            <a:avLst>
              <a:gd name="adj" fmla="val 3590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3840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흑자→적자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251960" y="4434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당기순이익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+298억원 → -642억원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55280" y="3657600"/>
            <a:ext cx="3474720" cy="1783080"/>
          </a:xfrm>
          <a:prstGeom prst="roundRect">
            <a:avLst>
              <a:gd name="adj" fmla="val 3590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3840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4위 → 이탈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955280" y="4434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 매출 TOP10 순위권 이탈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D2030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 — 라이브서비스 모바일 MMORPG는 업데이트 공백 1~2개월이 곧바로 매출 순위·손익으로 전이된다. 메이플M의 RE:BOOST 이후 파이프라인 공백은 동일한 패턴을 반복할 위험이 있다.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CASE DEEP-DIVE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검은사막M · 아이온2 — 모회사가 던진 다른 승부수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펄어비스 반기보고서(2026H1)·사업보고서(FY2025), 엔씨소프트/엔씨 사업보고서·반기보고서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4617720"/>
          </a:xfrm>
          <a:prstGeom prst="roundRect">
            <a:avLst>
              <a:gd name="adj" fmla="val 1386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10512"/>
            <a:ext cx="128016" cy="384048"/>
          </a:xfrm>
          <a:prstGeom prst="roundRect">
            <a:avLst>
              <a:gd name="adj" fmla="val 21429"/>
            </a:avLst>
          </a:prstGeom>
          <a:solidFill>
            <a:srgbClr val="8B2635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펄어비스 (검은사막모바일)</a:t>
            </a:r>
            <a:endParaRPr lang="en-US" sz="1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68680" y="2331720"/>
          <a:ext cx="48463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868680" y="443484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매출 +6.4%였지만 신작 개발비 확대로 영업적자·순손실(-84억원) 전환</a:t>
            </a:r>
            <a:endParaRPr lang="en-US" sz="108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상반기, 신작 '붉은사막' 흥행으로 매출 5,509억원(반기 기준 최대), 순이익 +2,575억원으로 급반전</a:t>
            </a:r>
            <a:endParaRPr lang="en-US" sz="108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검은사막모바일은 '안정적 수준 유지'로만 언급 — 화력은 신규 IP로 이동 중</a:t>
            </a:r>
            <a:endParaRPr lang="en-US" sz="108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이용자순위 3월·매출순위 7월 이후 자사 트래킹 데이터에서도 이탈 확인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217920" y="1600200"/>
            <a:ext cx="5394960" cy="4617720"/>
          </a:xfrm>
          <a:prstGeom prst="roundRect">
            <a:avLst>
              <a:gd name="adj" fmla="val 1386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1810512"/>
            <a:ext cx="128016" cy="384048"/>
          </a:xfrm>
          <a:prstGeom prst="roundRect">
            <a:avLst>
              <a:gd name="adj" fmla="val 21429"/>
            </a:avLst>
          </a:prstGeom>
          <a:solidFill>
            <a:srgbClr val="6B4FA0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엔씨소프트/엔씨 (아이온2)</a:t>
            </a:r>
            <a:endParaRPr lang="en-US" sz="16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537960" y="2331720"/>
          <a:ext cx="48463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6537960" y="443484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연결 영업적자(-1,092억원) → FY2025 흑자전환(+161억원) → 2026 상반기 +2,871억원으로 급성장</a:t>
            </a:r>
            <a:endParaRPr lang="en-US" sz="108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2025.11 아이온2 출시, 시즌1→2→3 무중단 업데이트로 신규 IP 안착에 성공</a:t>
            </a:r>
            <a:endParaRPr lang="en-US" sz="108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 전 약 1년간 라이브방송 29회 — 메타 UA 광고 없이 커뮤니티·쇼케이스 중심 성장 전략</a:t>
            </a:r>
            <a:endParaRPr lang="en-US" sz="108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8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게임 매출 전년比 +23% — 레거시 IP와 신작이 함께 견인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206240"/>
            <a:ext cx="5943600" cy="5943600"/>
          </a:xfrm>
          <a:prstGeom prst="ellipse">
            <a:avLst/>
          </a:prstGeom>
          <a:solidFill>
            <a:srgbClr val="1B1E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A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CHANNEL BENCHMARKING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UA·마케팅 채널 비교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UA CHANNEL BENCHMARKING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메타 광고 라이브러리 기반 UA 활동 비교 (2026.08 스냅샷)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Meta Ads Library 캡처 정리 (2026.08.26 기준, 활성 소재만 반영) · 아이온2는 메타 UA 미확인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AFAFB"/>
          </a:solidFill>
          <a:ln w="12700">
            <a:solidFill>
              <a:srgbClr val="EFEF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128016" cy="932688"/>
          </a:xfrm>
          <a:prstGeom prst="roundRect">
            <a:avLst>
              <a:gd name="adj" fmla="val 21429"/>
            </a:avLst>
          </a:prstGeom>
          <a:solidFill>
            <a:srgbClr val="F0692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91640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메이플스토리M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46120" y="1691640"/>
            <a:ext cx="1371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6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pPr algn="ctr" indent="0" marL="0">
              <a:buNone/>
            </a:pPr>
            <a:r>
              <a:rPr lang="en-US" sz="1050" dirty="0">
                <a:solidFill>
                  <a:srgbClr val="6B6F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건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9160" y="1691640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5.0개 채널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1691640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8/20~24 4개 파(wave)로 밀도 높게 투입, 6채널 풀세팅 포함 — 4사 중 가장 넓은 도달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AFAFB"/>
          </a:solidFill>
          <a:ln w="12700">
            <a:solidFill>
              <a:srgbClr val="EFEF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70632"/>
            <a:ext cx="128016" cy="932688"/>
          </a:xfrm>
          <a:prstGeom prst="roundRect">
            <a:avLst>
              <a:gd name="adj" fmla="val 21429"/>
            </a:avLst>
          </a:prstGeom>
          <a:solidFill>
            <a:srgbClr val="2FA89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770632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마비노기모바일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2770632"/>
            <a:ext cx="1371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A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algn="ctr" indent="0" marL="0">
              <a:buNone/>
            </a:pPr>
            <a:r>
              <a:rPr lang="en-US" sz="1050" dirty="0">
                <a:solidFill>
                  <a:srgbClr val="6B6F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건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2770632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5.0개 채널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2770632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8/5~6 동일 문구 반복 배포 — 신규 캠페인보다 기존 소재 복제 운영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548640" y="3849624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AFAFB"/>
          </a:solidFill>
          <a:ln w="12700">
            <a:solidFill>
              <a:srgbClr val="EFEF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849624"/>
            <a:ext cx="128016" cy="932688"/>
          </a:xfrm>
          <a:prstGeom prst="roundRect">
            <a:avLst>
              <a:gd name="adj" fmla="val 21429"/>
            </a:avLst>
          </a:prstGeom>
          <a:solidFill>
            <a:srgbClr val="8B2635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849624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검은사막모바일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46120" y="3849624"/>
            <a:ext cx="1371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pPr algn="ctr" indent="0" marL="0">
              <a:buNone/>
            </a:pPr>
            <a:r>
              <a:rPr lang="en-US" sz="1050" dirty="0">
                <a:solidFill>
                  <a:srgbClr val="6B6F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건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09160" y="3849624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3.0개 채널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3849624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7/11~8/4 약 2~3주 간격, FB·IG·오디언스네트워크 3채널 한정 — 가장 보수적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548640" y="4928616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AFAFB"/>
          </a:solidFill>
          <a:ln w="12700">
            <a:solidFill>
              <a:srgbClr val="EFEF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928616"/>
            <a:ext cx="128016" cy="932688"/>
          </a:xfrm>
          <a:prstGeom prst="roundRect">
            <a:avLst>
              <a:gd name="adj" fmla="val 21429"/>
            </a:avLst>
          </a:prstGeom>
          <a:solidFill>
            <a:srgbClr val="6B4FA0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928616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아이온2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46120" y="4928616"/>
            <a:ext cx="1371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ctr" indent="0" marL="0">
              <a:buNone/>
            </a:pPr>
            <a:r>
              <a:rPr lang="en-US" sz="1050" dirty="0">
                <a:solidFill>
                  <a:srgbClr val="6B6F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건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709160" y="4928616"/>
            <a:ext cx="1828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4928616"/>
            <a:ext cx="4754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 UA 미확인 — 스팀·커뮤니티·크리에이터 협업 등 타 채널 추정</a:t>
            </a:r>
            <a:endParaRPr lang="en-US" sz="10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STRATEGIC DIRECTION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메이플스토리M SWOT 분석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FF3E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6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92040" y="18105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06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9.8년 성숙기 IP — 넥슨코리아 별도 매출 3조원 돌파(+28.5%) 국면에서 핵심 프랜차이즈 지위 유지</a:t>
            </a:r>
            <a:endParaRPr lang="en-US" sz="106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06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대형 업데이트 클러스터링 실행력 — RE:BOOST로 4사 중 최대 반등폭 입증</a:t>
            </a:r>
            <a:endParaRPr lang="en-US" sz="106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06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4사 중 가장 넓은 UA 채널 도달력(평균 5개+ 채널, 유일한 6채널 풀세팅 사례 보유)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BEAE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10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61320" y="18105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176272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06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업데이트 빈도 4사 중 최저(분기 1~2건) — 후속 공백에 취약한 구조</a:t>
            </a:r>
            <a:endParaRPr lang="en-US" sz="106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06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채널이 메타 단일 플랫폼에 편중 — 커뮤니티·쇼케이스형 자산 상대적으로 약함</a:t>
            </a:r>
            <a:endParaRPr lang="en-US" sz="106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06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8월 재하락 조짐 — 반등을 지속시킬 콘텐츠 파이프라인 부재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EAF7F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25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A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43251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690872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06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마비노기M 사례로 '공백 리스크'가 정량 검증됨 — 선제적 파이프라인 관리로 차별화 가능</a:t>
            </a:r>
            <a:endParaRPr lang="en-US" sz="106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06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검은사막M의 트래킹 이탈로 생긴 성숙기 MMORPG 상위권 공백</a:t>
            </a:r>
            <a:endParaRPr lang="en-US" sz="106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06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9.8년 IP 리브랜딩 서사(리마스터형) 스토리텔링 여지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217920" y="416052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5F0FA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325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61320" y="43251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690872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06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아이온2식 '무중단 시즌 업데이트 + 글로벌 쇼케이스' 신작 압박</a:t>
            </a:r>
            <a:endParaRPr lang="en-US" sz="106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06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경쟁사 대비 낮은 업데이트 빈도가 장기적으로 IP 피로도 가속화 리스크</a:t>
            </a:r>
            <a:endParaRPr lang="en-US" sz="106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060" dirty="0">
                <a:solidFill>
                  <a:srgbClr val="3A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성숙기 IP 특성상 대규모 반등 이후 자연 감쇠 속도가 빠름</a:t>
            </a:r>
            <a:endParaRPr lang="en-US" sz="10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206240"/>
            <a:ext cx="5943600" cy="5943600"/>
          </a:xfrm>
          <a:prstGeom prst="ellipse">
            <a:avLst/>
          </a:prstGeom>
          <a:solidFill>
            <a:srgbClr val="1B1E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A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6868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REBRANDING STRATEGY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리브랜딩 전략 제언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STRATEGIC DIRECTION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리브랜딩 전략 4대 방향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2240280"/>
          </a:xfrm>
          <a:prstGeom prst="roundRect">
            <a:avLst>
              <a:gd name="adj" fmla="val 2857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01952"/>
            <a:ext cx="640080" cy="640080"/>
          </a:xfrm>
          <a:prstGeom prst="ellipse">
            <a:avLst/>
          </a:prstGeom>
          <a:solidFill>
            <a:srgbClr val="F0692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01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19202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콘텐츠 공백 제로화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RE:BOOST 이후 분기당 최소 1건 이상 대형 업데이트 파이프라인 상시 확보. 마비노기M의 4월 공백 학습을 표준 캘린더에 반영.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394960" cy="2240280"/>
          </a:xfrm>
          <a:prstGeom prst="roundRect">
            <a:avLst>
              <a:gd name="adj" fmla="val 2857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901952"/>
            <a:ext cx="640080" cy="64008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901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19202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로드맵 사전공개형 커뮤니케이션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92240" y="2651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검은사막M의 '리마스터 로드맵' 방식처럼, 쇼케이스로 향후 분기 콘텐츠를 미리 예고해 이탈 방지 및 기대관리.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94960" cy="2240280"/>
          </a:xfrm>
          <a:prstGeom prst="roundRect">
            <a:avLst>
              <a:gd name="adj" fmla="val 2857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370832"/>
            <a:ext cx="640080" cy="640080"/>
          </a:xfrm>
          <a:prstGeom prst="ellipse">
            <a:avLst/>
          </a:prstGeom>
          <a:solidFill>
            <a:srgbClr val="6B4FA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70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43891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 채널 다각화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" y="51206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 의존도를 낮추고 아이온2식 라이브방송·크리에이터·커뮤니티 채널을 확대해 브랜드 신뢰 자산 구축.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394960" cy="2240280"/>
          </a:xfrm>
          <a:prstGeom prst="roundRect">
            <a:avLst>
              <a:gd name="adj" fmla="val 2857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370832"/>
            <a:ext cx="640080" cy="640080"/>
          </a:xfrm>
          <a:prstGeom prst="ellipse">
            <a:avLst/>
          </a:prstGeom>
          <a:solidFill>
            <a:srgbClr val="2FA89A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370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15200" y="43891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성숙기 IP 재탄생 서사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492240" y="51206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444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9.8년차 IP의 '리브랜딩'을 리마스터·신규 여정 등 스토리텔링으로 포장, 신규 유저 유입과 복귀 유저를 동시에 겨냥.</a:t>
            </a:r>
            <a:endParaRPr lang="en-US" sz="11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STRATEGIC DIRECTION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E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로드맵 (2026 Q4 ~ 2027 Q2)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8183880" cy="0"/>
          </a:xfrm>
          <a:prstGeom prst="line">
            <a:avLst/>
          </a:prstGeom>
          <a:noFill/>
          <a:ln w="25400">
            <a:solidFill>
              <a:srgbClr val="D8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2276856"/>
            <a:ext cx="201168" cy="201168"/>
          </a:xfrm>
          <a:prstGeom prst="ellipse">
            <a:avLst/>
          </a:prstGeom>
          <a:solidFill>
            <a:srgbClr val="F06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-9144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6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Q4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-320040" y="2651760"/>
            <a:ext cx="2468880" cy="1874520"/>
          </a:xfrm>
          <a:prstGeom prst="roundRect">
            <a:avLst>
              <a:gd name="adj" fmla="val 3415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-137160" y="2816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공백 방지 체계 구축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-137160" y="3429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분기별 콘텐츠 캘린더 확정 및 쇼케이스로 Q1 로드맵 선공개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28416" y="2276856"/>
            <a:ext cx="201168" cy="201168"/>
          </a:xfrm>
          <a:prstGeom prst="ellipse">
            <a:avLst/>
          </a:prstGeom>
          <a:solidFill>
            <a:srgbClr val="6B4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Q1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86000" y="2651760"/>
            <a:ext cx="2468880" cy="1874520"/>
          </a:xfrm>
          <a:prstGeom prst="roundRect">
            <a:avLst>
              <a:gd name="adj" fmla="val 3415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816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채널 다각화 파일럿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3429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라이브방송·크리에이터 협업 신설, 메타 의존 비중 단계적 축소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34456" y="2276856"/>
            <a:ext cx="201168" cy="201168"/>
          </a:xfrm>
          <a:prstGeom prst="ellipse">
            <a:avLst/>
          </a:prstGeom>
          <a:solidFill>
            <a:srgbClr val="2FA8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A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Q1~Q2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2651760"/>
            <a:ext cx="2468880" cy="1874520"/>
          </a:xfrm>
          <a:prstGeom prst="roundRect">
            <a:avLst>
              <a:gd name="adj" fmla="val 3415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816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리브랜딩 캠페인 런칭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74920" y="3429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성숙기 IP 재탄생 서사 기반 브랜드 캠페인 및 신규지역 대형 업데이트 연계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40496" y="2276856"/>
            <a:ext cx="201168" cy="201168"/>
          </a:xfrm>
          <a:prstGeom prst="ellipse">
            <a:avLst/>
          </a:prstGeom>
          <a:solidFill>
            <a:srgbClr val="8B263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Q2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98080" y="2651760"/>
            <a:ext cx="2468880" cy="1874520"/>
          </a:xfrm>
          <a:prstGeom prst="roundRect">
            <a:avLst>
              <a:gd name="adj" fmla="val 3415"/>
            </a:avLst>
          </a:prstGeom>
          <a:solidFill>
            <a:srgbClr val="FAFAFB"/>
          </a:solidFill>
          <a:ln w="12700">
            <a:solidFill>
              <a:srgbClr val="EBEB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2816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1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검증 및 표준화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680960" y="3429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업데이트+UA 세팅의 반등 공식(RE:BOOST 사례)을 표준 플레이북으로 정착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1D2030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3492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목표 — 매출순위 Top30 이내 90% 이상 유지, 이용자순위 변동폭 ±15 이내 안정화, 메타 외 UA 채널 비중 30%까지 확대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560320"/>
            <a:ext cx="5943600" cy="5943600"/>
          </a:xfrm>
          <a:prstGeom prst="ellipse">
            <a:avLst/>
          </a:prstGeom>
          <a:solidFill>
            <a:srgbClr val="1B1E2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MAPLESTORY M MARKETING TEAM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C7C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지금까지의 데이터가 가리키는 방향은 하나입니다.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공백 없는 리듬으로, 메이플스토리M을 다시 씁니다.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0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 자료 추가 확보 시 세부 KPI·투자 규모는 후속 보고서에서 업데이트 예정입니다.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2026-08-26T14:36:46Z</dcterms:created>
  <dcterms:modified xsi:type="dcterms:W3CDTF">2026-08-26T14:36:46Z</dcterms:modified>
</cp:coreProperties>
</file>